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a8fa3b5d54f5b" /><Relationship Type="http://schemas.openxmlformats.org/officeDocument/2006/relationships/extended-properties" Target="/docProps/app.xml" Id="Rd72de888290343a2" /><Relationship Type="http://schemas.openxmlformats.org/officeDocument/2006/relationships/officeDocument" Target="/ppt/presentation.xml" Id="R8e44578d83ac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175600cd82459a"/>
  </p:sldMasterIdLst>
  <p:notesMasterIdLst>
    <p:notesMasterId xmlns:r="http://schemas.openxmlformats.org/officeDocument/2006/relationships" r:id="R504e29803a78447a"/>
  </p:notesMasterIdLst>
  <p:sldIdLst>
    <p:sldId xmlns:r="http://schemas.openxmlformats.org/officeDocument/2006/relationships" id="256" r:id="R8426c3105bd54c73"/>
    <p:sldId xmlns:r="http://schemas.openxmlformats.org/officeDocument/2006/relationships" id="257" r:id="R0905630d53464a44"/>
    <p:sldId xmlns:r="http://schemas.openxmlformats.org/officeDocument/2006/relationships" id="258" r:id="Rac7910b55d2944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c83da220974319" /><Relationship Type="http://schemas.openxmlformats.org/officeDocument/2006/relationships/slideMaster" Target="/ppt/slideMasters/slideMaster1.xml" Id="Rec175600cd82459a" /><Relationship Type="http://schemas.openxmlformats.org/officeDocument/2006/relationships/notesMaster" Target="/ppt/notesMasters/notesMaster1.xml" Id="R504e29803a78447a" /><Relationship Type="http://schemas.openxmlformats.org/officeDocument/2006/relationships/presProps" Target="/ppt/presProps.xml" Id="R2c1fcc3c874a4296" /><Relationship Type="http://schemas.openxmlformats.org/officeDocument/2006/relationships/tableStyles" Target="/ppt/tableStyles.xml" Id="R922d541fbbe24529" /><Relationship Type="http://schemas.openxmlformats.org/officeDocument/2006/relationships/slide" Target="/ppt/slides/slide1.xml" Id="R8426c3105bd54c73" /><Relationship Type="http://schemas.openxmlformats.org/officeDocument/2006/relationships/slide" Target="/ppt/slides/slide2.xml" Id="R0905630d53464a44" /><Relationship Type="http://schemas.openxmlformats.org/officeDocument/2006/relationships/slide" Target="/ppt/slides/slide3.xml" Id="Rac7910b55d2944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4d450343a5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e4b3b92f74d9e" /><Relationship Type="http://schemas.openxmlformats.org/officeDocument/2006/relationships/notesMaster" Target="/ppt/notesMasters/notesMaster1.xml" Id="R13048ac97cc4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5a821d05754810" /><Relationship Type="http://schemas.openxmlformats.org/officeDocument/2006/relationships/notesMaster" Target="/ppt/notesMasters/notesMaster1.xml" Id="Rf91e536d2c5c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7c088113e6468e" /><Relationship Type="http://schemas.openxmlformats.org/officeDocument/2006/relationships/notesMaster" Target="/ppt/notesMasters/notesMaster1.xml" Id="Rebcd3a9cc8c74e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d4f3c9d87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c8683105a4029" /><Relationship Type="http://schemas.openxmlformats.org/officeDocument/2006/relationships/slideLayout" Target="/ppt/slideLayouts/slideLayout1.xml" Id="Ra23f1b958851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f1b958851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4bbdce7744433" /><Relationship Type="http://schemas.openxmlformats.org/officeDocument/2006/relationships/image" Target="/ppt/media/image.png" Id="R4b92ee56c73648af" /><Relationship Type="http://schemas.openxmlformats.org/officeDocument/2006/relationships/image" Target="/ppt/media/image2.png" Id="Re0f58f2b39344add" /><Relationship Type="http://schemas.openxmlformats.org/officeDocument/2006/relationships/notesSlide" Target="/ppt/notesSlides/notesSlide1.xml" Id="R6e929eb0777741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661fa32b14171" /><Relationship Type="http://schemas.openxmlformats.org/officeDocument/2006/relationships/image" Target="/ppt/media/image3.png" Id="Rd4714465457648da" /><Relationship Type="http://schemas.openxmlformats.org/officeDocument/2006/relationships/notesSlide" Target="/ppt/notesSlides/notesSlide2.xml" Id="R72890adc56c548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abc11976344df" /><Relationship Type="http://schemas.openxmlformats.org/officeDocument/2006/relationships/image" Target="/ppt/media/image4.png" Id="R2fd19f170c664fa7" /><Relationship Type="http://schemas.openxmlformats.org/officeDocument/2006/relationships/notesSlide" Target="/ppt/notesSlides/notesSlide3.xml" Id="R816c7b85e7ec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F50F91-E0DB-40E3-B6E3-AF358A35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272A"/>
                </a:solidFill>
              </a:defRPr>
            </a:pPr>
            <a:r>
              <a:rPr sz="2100" b="1">
                <a:solidFill>
                  <a:srgbClr val="29272A"/>
                </a:solidFill>
              </a:rPr>
              <a:t>Arquitetura high level — EDA + CQRS na OCI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02369-BC0F-4769-A880-0737BE1D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F5A"/>
                </a:solidFill>
              </a:defRPr>
            </a:pPr>
            <a:r>
              <a:rPr sz="1125" b="0">
                <a:solidFill>
                  <a:srgbClr val="655F5A"/>
                </a:solidFill>
              </a:rPr>
              <a:t>Pedidos omnicanal com Command/Write e Query/Read explicitamente segregados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22C86-2A76-4469-878F-FC181B9F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3BE70-A8EA-40BE-AE3E-A4C626F0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1571625" cy="4333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8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2FE66-9C98-4B46-99C8-C4B90909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1304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Canais clientes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2E5B6-3E14-4D01-A4EC-86CE5827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304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Consumidores e parceiros</a:t>
            </a:r>
          </a:p>
        </p:txBody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2ee56c73648af"/>
          <a:stretch xmlns:a="http://schemas.openxmlformats.org/drawingml/2006/main"/>
        </p:blipFill>
        <p:spPr>
          <a:xfrm xmlns:a="http://schemas.openxmlformats.org/drawingml/2006/main">
            <a:off x="923925" y="2136065"/>
            <a:ext cx="419100" cy="4141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9D870-4584-43C5-8FBF-E8366887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272A"/>
                </a:solidFill>
              </a:defRPr>
            </a:pPr>
            <a:r>
              <a:rPr sz="975" b="1">
                <a:solidFill>
                  <a:srgbClr val="29272A"/>
                </a:solidFill>
              </a:rPr>
              <a:t>Web • Mobile</a:t>
            </a:r>
          </a:p>
          <a:p xmlns:a="http://schemas.openxmlformats.org/drawingml/2006/main">
            <a:pPr algn="ctr">
              <a:defRPr sz="975" b="1">
                <a:solidFill>
                  <a:srgbClr val="29272A"/>
                </a:solidFill>
              </a:defRPr>
            </a:pPr>
            <a:r>
              <a:rPr sz="975" b="1">
                <a:solidFill>
                  <a:srgbClr val="29272A"/>
                </a:solidFill>
              </a:rPr>
              <a:t>Marketplace • ERP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88DFB-4AC5-43DD-88BE-EEE977B6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90650"/>
            <a:ext cx="9734550" cy="4333875"/>
          </a:xfrm>
          <a:prstGeom xmlns:a="http://schemas.openxmlformats.org/drawingml/2006/main" prst="roundRect">
            <a:avLst>
              <a:gd name="adj" fmla="val 8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8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95723-D95D-404C-AC9D-6BC96796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85900"/>
            <a:ext cx="946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OCI — região 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A060A-A49A-4A91-8727-A23D69D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946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Produção privada • separação de responsabilidades por padrão CQRS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E5379-C80F-4D35-A03F-50E0BE53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6667500" cy="3095625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82A78-54CA-418D-890A-543C6F92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050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5B0"/>
                </a:solidFill>
              </a:defRPr>
            </a:pPr>
            <a:r>
              <a:rPr sz="1200" b="1">
                <a:solidFill>
                  <a:srgbClr val="2F65B0"/>
                </a:solidFill>
              </a:rPr>
              <a:t>CQRS — Command / Write  |  Query / 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036E8-E794-4196-9B7C-222F5658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33600"/>
            <a:ext cx="640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Modelos independentes; o evento é a fronteira de desacoplamento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4B74A-211C-4EC0-8C19-8595B316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2000250" cy="22669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523D7-C0B6-496D-A9CD-A313F0AB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193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</a:rPr>
              <a:t>Command side — write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69DF8-8AE3-4F05-81E0-A6E3D96B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Consistência do domínio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896E3-6522-45CA-85A4-BA32AD73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16954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8CBA0-1B38-4FC1-85CB-CB9EE1D2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D3D57-584E-4B32-84E3-0AEAF15A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0512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API Gateway privado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5ABD7-6AB8-4FA2-8D1D-31E48286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1466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JWT • rate limit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58f2b39344add"/>
          <a:stretch xmlns:a="http://schemas.openxmlformats.org/drawingml/2006/main"/>
        </p:blipFill>
        <p:spPr>
          <a:xfrm xmlns:a="http://schemas.openxmlformats.org/drawingml/2006/main">
            <a:off x="2819400" y="3533537"/>
            <a:ext cx="323850" cy="267176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81679-96D8-4F26-8CC5-36EB7B3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16954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DB238-A65F-4CFC-9FCE-D2F9319F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DD251-DFA2-4372-ACD1-188A2F27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909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Command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75FE0-9903-4844-8BC2-4BD4F9E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43400"/>
            <a:ext cx="146685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Functions / OKE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ADB + outbox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6553C-5467-4034-9301-A1608A3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23825" cy="371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338EC-203A-4C60-9570-5130BCB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8063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commit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CF6F9-0F0B-4829-B523-C29AF042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86100"/>
            <a:ext cx="4286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1176E-8E9C-44D3-B547-1514F1DC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561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comando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8975E7-64C8-4E20-BFF8-C4D21DB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1714500" cy="22669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3A8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5B746-4C85-47CA-AF72-B8F111C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3A8F"/>
                </a:solidFill>
              </a:defRPr>
            </a:pPr>
            <a:r>
              <a:rPr sz="1200" b="1">
                <a:solidFill>
                  <a:srgbClr val="6E3A8F"/>
                </a:solidFill>
              </a:rPr>
              <a:t>EDA backbone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96505-937E-48BF-956F-032437F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4795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Eventos versionados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3C1B8-A4D5-40B6-A68B-8210753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14478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3A8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246487-1BD8-4E20-A85F-E8FEFAD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CB86BB-80F0-4706-8EC7-1B99F71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718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OCI Streaming</a:t>
            </a:r>
          </a:p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with Apache Kafka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24468E-9FAF-4F69-9ED1-66B09E12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21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SASL/SCRAM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ACL + retenção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89E5D-A7C2-4AA2-825E-33B4E29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3333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41A6D-EFEE-4914-B4D1-16EAE19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90875"/>
            <a:ext cx="4667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eventos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F98D5A-08CA-4630-8C8A-E958E6E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1790700" cy="22669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1E86FD-1BB0-488E-928A-818B45AE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8155"/>
                </a:solidFill>
              </a:defRPr>
            </a:pPr>
            <a:r>
              <a:rPr sz="1200" b="1">
                <a:solidFill>
                  <a:srgbClr val="4D8155"/>
                </a:solidFill>
              </a:rPr>
              <a:t>Query side — read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06B7B0-A0AE-421F-8A2C-118DD647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479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Projeções de consulta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A24F92-33AE-4A46-B0F5-4D4D4FD7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1524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8EF234-18CE-4646-AEE2-694FBA1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8D3211-94F0-46C0-84C6-DFA7F1CD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051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Projection workers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3A7A0A-20CC-4D0F-9A03-CF1DCD8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2954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OKE consumer groups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retry + idempotência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4B3AA5-4A2D-4D94-8324-4B3F8317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123825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328C4B-80D7-4190-AFC2-93C028C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upsert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3E230A-116E-454C-98E4-0EAB61F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48100"/>
            <a:ext cx="1524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52659D-5B43-4FF0-828C-1728989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48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0AA4C9-1F52-45B2-8486-F041834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9097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Read model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BED838-00CD-4BA9-8C1E-DE3290A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12954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Oracle NoSQL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GET /orders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B9A6F1-E828-4817-ABF6-2678DA70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38500"/>
            <a:ext cx="6191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DBAED3-6959-463F-BFD5-D8F0EEA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48000"/>
            <a:ext cx="752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HTTPS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6F804C-1101-4A16-8E8F-62C09AE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33850"/>
            <a:ext cx="4476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669162-4B60-4997-931A-6009BB8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43350"/>
            <a:ext cx="581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consulta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8D7A99-AB96-409A-9CD0-9E19F83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2324100" cy="3095625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D59977-6D8B-45F1-B547-F3443FBE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05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5A25"/>
                </a:solidFill>
              </a:defRPr>
            </a:pPr>
            <a:r>
              <a:rPr sz="1200" b="1">
                <a:solidFill>
                  <a:srgbClr val="BC5A25"/>
                </a:solidFill>
              </a:rPr>
              <a:t>Integrações por evento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A7FEDE-0D21-47BE-BC44-DD414B3B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33600"/>
            <a:ext cx="205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Fan-out não bloqueante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4D8564-E8AD-4CA5-B583-E020EC57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47925"/>
            <a:ext cx="2000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422548-42D9-41F0-9AF7-451C506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479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FDA078-3316-495C-BC61-C1847DFB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908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OCI Events + Functions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29C4A6-0559-4B46-A248-53AE124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943225"/>
            <a:ext cx="1771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automação e regras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76D075-21BA-470B-85C2-4AE17C1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09950"/>
            <a:ext cx="2000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C917AE-91BA-493A-8FE8-CD7D7417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099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22053A-5BF7-49C2-A4B0-27B247ED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5282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Sistemas externos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6D301B-B98E-4C58-8DB8-3501A2FB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05250"/>
            <a:ext cx="1771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CRM • ERP • notificações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93C08D-4FD4-4DC8-BFE8-53D032A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38165D-52F3-4789-AD90-A997DECF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444" y="3806472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E8BC70-5414-4981-9DA7-714E5CFE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639" y="3726744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8F51C4-4B38-4F21-B02A-31FECB02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833" y="3647017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B13FB3-DB19-48FF-AA0F-EEA1533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028" y="3567289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E2535EB-406D-4ACB-B503-69678BA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222" y="3487561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D2DC0C-5E64-4C13-AC08-A750BB6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417" y="3407833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8D3A46-8CD5-473F-9D80-B4D0290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611" y="3328106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1B2C1F-1AF4-420F-A137-6E2CBA7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806" y="3248378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271DF2-D086-4F7B-9A39-5FED55D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168650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23147D-FBD0-4BA9-B272-8DA5EB93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194" y="3088922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ECB6156-5702-47EC-B28B-D7CAAE06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389" y="3009194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DE17AE-3C3C-4712-8FFC-56E4B0C2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583" y="2929467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4D14B7-79FB-4DDC-A5B8-761D32E7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778" y="2849739"/>
            <a:ext cx="126647" cy="58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A4E3B2-170B-4666-A267-ABB0548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92662A-470A-4980-93EE-44FA51F0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660" y="3876294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92F6978-1199-4C44-A32D-873E2BC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3866388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07D4DA-D38B-4AA4-A461-9E174E6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856482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DDCBD6-04FC-4693-BE89-6D4D0C2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90" y="3846576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9394C0-EC84-4C2D-A908-521E1B9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36670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B700DE-EED9-41E7-8E2A-342AE858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710" y="3826764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C24AD4-4075-474E-9B34-0BD0973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20" y="3816858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B9008F-1000-40B4-A339-597539B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530" y="3806952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49D7BC-33C2-46DF-B205-DB170122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940" y="3797046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CAE7331-A95C-4C18-9E84-AE1E1E99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87140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482B764-10E0-4D0E-8F12-3DB79B57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777234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8CC92B-F71F-4793-80F6-038BB8C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3767328"/>
            <a:ext cx="135255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D4C4C6-B57F-4398-AB91-D542B868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9734550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A87576-F59F-43E4-87E7-AA8C8303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19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5B0"/>
                </a:solidFill>
              </a:defRPr>
            </a:pPr>
            <a:r>
              <a:rPr sz="1050" b="1">
                <a:solidFill>
                  <a:srgbClr val="2F65B0"/>
                </a:solidFill>
              </a:rPr>
              <a:t>Serviços transversais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E41F661-626E-4ED7-BC07-427548F7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1497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72A"/>
                </a:solidFill>
              </a:defRPr>
            </a:pPr>
            <a:r>
              <a:rPr sz="1050" b="0">
                <a:solidFill>
                  <a:srgbClr val="29272A"/>
                </a:solidFill>
              </a:rPr>
              <a:t>OCI IAM Identity Domains  •  Vault  •  VCN/NSGs  •  Logging &amp; Monitoring  •  Audit  •  Object Storage  •  Notifications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722AEA4-D0B0-4A45-9335-97B0236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4000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0DA9ED-063B-414F-AC90-DCA38D3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055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Fluxo síncrono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4E5CDCB-B15C-4734-9B51-4E06BAB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2225"/>
            <a:ext cx="14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B534DF-1A85-400E-8678-9119DCB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372225"/>
            <a:ext cx="14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512B6A-8C25-4F34-BCB1-1304959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960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Evento / controle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FAE5EE-D11E-4634-83F2-E1C613E8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531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272A"/>
                </a:solidFill>
              </a:defRPr>
            </a:pPr>
            <a:r>
              <a:rPr sz="975" b="1">
                <a:solidFill>
                  <a:srgbClr val="29272A"/>
                </a:solidFill>
              </a:rPr>
              <a:t>EDA: eventos isolam domínios | CQRS: escrita e leitura escalam independentemente</a:t>
            </a:r>
          </a:p>
        </p:txBody>
      </p:sp>
    </p:spTree>
    <p:extLst>
      <p:ext uri="{BB962C8B-B14F-4D97-AF65-F5344CB8AC3E}">
        <p14:creationId xmlns:p14="http://schemas.microsoft.com/office/powerpoint/2010/main" val="1927484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70C2C2-B286-4EF0-A72E-6300EE13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272A"/>
                </a:solidFill>
              </a:defRPr>
            </a:pPr>
            <a:r>
              <a:rPr sz="2100" b="1">
                <a:solidFill>
                  <a:srgbClr val="29272A"/>
                </a:solidFill>
              </a:rPr>
              <a:t>Arquitetura técnica — fluxo confiável de EDA + CQRS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74C26-2D66-4CD2-873C-EC251AAC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F5A"/>
                </a:solidFill>
              </a:defRPr>
            </a:pPr>
            <a:r>
              <a:rPr sz="1125" b="0">
                <a:solidFill>
                  <a:srgbClr val="655F5A"/>
                </a:solidFill>
              </a:rPr>
              <a:t>Comandos síncronos, publicação transacional e projeções assíncronas com segurança de rede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E305E-F08A-4065-8B77-1588894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0A8C5-D675-4F8F-87AE-245E0DD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09700"/>
            <a:ext cx="1447800" cy="44767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8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28DE4-3A53-4AAE-92CB-0FFDE698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Sistemas</a:t>
            </a:r>
          </a:p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clientes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AE2CB-CFC7-4175-AB39-CA43120A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Web • mobile • integrações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14465457648da"/>
          <a:stretch xmlns:a="http://schemas.openxmlformats.org/drawingml/2006/main"/>
        </p:blipFill>
        <p:spPr>
          <a:xfrm xmlns:a="http://schemas.openxmlformats.org/drawingml/2006/main">
            <a:off x="866775" y="2459971"/>
            <a:ext cx="428625" cy="42358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61627-7445-4790-BC81-CC5AF825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API • batch</a:t>
            </a:r>
          </a:p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parceiros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96B8C-7ABA-4C04-A2D0-27A4D1F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409700"/>
            <a:ext cx="7905750" cy="4476750"/>
          </a:xfrm>
          <a:prstGeom xmlns:a="http://schemas.openxmlformats.org/drawingml/2006/main" prst="roundRect">
            <a:avLst>
              <a:gd name="adj" fmla="val 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8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F5744-1308-446D-B70C-A8471F3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04950"/>
            <a:ext cx="763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OCI — região 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1E9DA-46A9-4027-A41F-106B1D3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7639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Compartment edacqrs-prod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6F5C3-14FF-404C-A980-D2926088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52600"/>
            <a:ext cx="7429500" cy="26289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53AFC-3619-48E2-A5CD-562B1EF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716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5A25"/>
                </a:solidFill>
              </a:defRPr>
            </a:pPr>
            <a:r>
              <a:rPr sz="1200" b="1">
                <a:solidFill>
                  <a:srgbClr val="BC5A25"/>
                </a:solidFill>
              </a:rPr>
              <a:t>VCN da aplicação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2F0CF-091F-43D0-89D5-C67B052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76450"/>
            <a:ext cx="716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Sub-redes privadas • NSGs restritivos • egress controlado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B2E9A-0330-47FE-9108-A70FAD7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76450"/>
            <a:ext cx="6972300" cy="1952625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A474F-96EE-4D9F-BF54-4F88484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71700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5A25"/>
                </a:solidFill>
              </a:defRPr>
            </a:pPr>
            <a:r>
              <a:rPr sz="1200" b="1">
                <a:solidFill>
                  <a:srgbClr val="BC5A25"/>
                </a:solidFill>
              </a:rPr>
              <a:t>Sub-rede de aplicação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4BCEA-05DE-4366-96C5-DEF75D38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0300"/>
            <a:ext cx="670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Serviços internos; nenhuma exposição pública direta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64A58-A454-4AD9-ABED-C12BF0CB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13906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C14B3-9E7E-4881-B152-90D0A050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80C22-F56B-4CF2-A7EA-B3F3EA3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1462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API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84E38-6431-4B6A-A7C6-56D7B9D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7050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Private endpoint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JWT / throttling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1AAB9-F2FB-4B4B-A1B6-BAB038BD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90850"/>
            <a:ext cx="3524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DB578-3DE0-46DB-96A2-4887FD50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485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7DA20-2A18-4F37-86D8-CA0E333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4287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57EDD-227D-43D7-BD7A-1EB3F9B0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8C0FD-D45F-4768-B253-96B58AB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Command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80AFA-D507-4D86-B33E-66329501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1200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Functions / OKE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validação + outbox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D30EA-5068-4A6F-A03A-2C69931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90850"/>
            <a:ext cx="3619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D0129-A4A4-48F4-8FC7-727E375D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publish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D7FAD-B0C4-4A13-9241-8BD27164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3525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3A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9003EF-15BF-45FE-B9C3-9B2AA76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C6B240-FF8C-471F-9BDA-F5865EA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OCI Streaming</a:t>
            </a:r>
          </a:p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with Apache Kafka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CB6C88-A390-4154-B393-24F9E68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1123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Kafka privado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3+ partitions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723636-7414-4BAC-80DB-7047802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90850"/>
            <a:ext cx="3619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D7C480-DEEF-4367-804E-666CB020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consume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B27D9-42CB-4E3B-B12A-B18807F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952500" cy="9715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9B13A2-CCE6-4BC1-A0D1-F29CEB3E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8530E1-9515-43D0-98E7-287CC816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Workers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E4C11A-BF96-4927-93C9-64866141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67050"/>
            <a:ext cx="72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projeção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read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61D0F9-337A-4451-8865-54886A0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123825" cy="504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34D9B0-19FA-4F95-8A10-58F9BEFC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729038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TX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D44F88-948A-4B0B-B1C6-505078F4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05300"/>
            <a:ext cx="1428750" cy="69532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E65AC6-DE7E-4449-A3C7-6E7C0675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053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D38563-3236-4EB5-A64E-79FD4A9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ADB write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AC1A9-215C-497B-B23D-564B0ECF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006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ACID + outbox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CA8C81-84F4-475F-8E1D-A3DBA98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123825" cy="504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5A570A-7A83-44CC-BC05-E59FA18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9038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upsert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269879-89EE-49D1-BAF9-F3CE2015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1381125" cy="69532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AC73CA-504F-4006-8AAA-61E1CA4A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957D84-5230-4677-8E53-B949041C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48175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NoSQL read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279D24-AC96-49C0-804F-0342685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1152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consulta rápida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8343AD-986D-4867-BE44-B68FF2A8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7143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5FC"/>
          </a:solidFill>
          <a:ln xmlns:a="http://schemas.openxmlformats.org/drawingml/2006/main" w="9525">
            <a:solidFill>
              <a:srgbClr val="6E3A8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2B36EE-8AB0-4590-A5E7-DBD01C14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681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9272A"/>
                </a:solidFill>
              </a:defRPr>
            </a:pPr>
            <a:r>
              <a:rPr sz="975" b="1">
                <a:solidFill>
                  <a:srgbClr val="29272A"/>
                </a:solidFill>
              </a:rPr>
              <a:t>Garantias: at-least-once • idempotency key • consumer offset após sucesso • retry exponencial • DLQ • schema versionado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0B6949-DA66-42EF-9B3F-9122830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09700"/>
            <a:ext cx="1714500" cy="20764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3B0324-B045-4BCE-BE21-3B235BB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049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5B0"/>
                </a:solidFill>
              </a:defRPr>
            </a:pPr>
            <a:r>
              <a:rPr sz="1200" b="1">
                <a:solidFill>
                  <a:srgbClr val="2F65B0"/>
                </a:solidFill>
              </a:rPr>
              <a:t>OCI Control Plane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45DC6D-B84B-4FD8-9983-BACD9785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3355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Provisionamento e identidade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E7E7E9-FFF2-4E36-AD3F-E18A8264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47875"/>
            <a:ext cx="139065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599F39-12FC-4FEF-A307-5F66C233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4787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692397-7382-49C7-949D-3298644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190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IAM + Vault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F7ED00-05EE-4113-BAC3-00A31A1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4317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principals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secrets + chaves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E1E6DD-55C3-40A7-B2AE-0B321DB4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67050"/>
            <a:ext cx="13906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9C18CD-EE0B-41DD-B3A4-821C9DB5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6705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092E63-CDE0-4406-B867-981E14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0992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Terraform / CI-CD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E4C44E-49C9-45C3-9AB6-630EC8F8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56235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plan • apply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rollback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02C63B-6A40-4076-B951-579C5828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14800"/>
            <a:ext cx="1714500" cy="17716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2C6E18-447A-4484-AA9B-3BA9C7BA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100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8155"/>
                </a:solidFill>
              </a:defRPr>
            </a:pPr>
            <a:r>
              <a:rPr sz="1200" b="1">
                <a:solidFill>
                  <a:srgbClr val="4D8155"/>
                </a:solidFill>
              </a:rPr>
              <a:t>Observabilidade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88EFA0-CBB1-4739-A135-1595BAAF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3865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Operação SRE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6898B9-FCA1-4E28-812C-9661EA88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648200"/>
            <a:ext cx="13906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527AC9-95BD-4A68-B040-DBE7B5A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64820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156992-1D13-4B55-8B99-6EFE9CC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791075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Logging &amp; Monitoring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D149DF-20F2-437B-998C-1AC78C02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143500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lag • P95 • DLQ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alarmes + tracing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5E4709-C045-4D7E-B146-1695EBB6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381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36F671-8039-4FC8-B75E-2CC1D7A5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14600"/>
            <a:ext cx="1381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14BB685-6D46-40DB-8FA5-0318E381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14600"/>
            <a:ext cx="1381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3E7E28-A3CC-4E9E-91E8-E3FCA137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0125"/>
            <a:ext cx="13811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0277D2-32FC-4CE8-AD5C-CD03AD1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05375"/>
            <a:ext cx="13811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55C95A-D8B5-44C7-AC9B-747F3101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00625"/>
            <a:ext cx="13811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1D48CE-3AB1-4A62-8F7E-560C4B11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34050"/>
            <a:ext cx="19050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6CA95BA-5CE3-485A-856A-C0D5B09B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9125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5F5A"/>
                </a:solidFill>
              </a:defRPr>
            </a:pPr>
            <a:r>
              <a:rPr sz="900" b="1">
                <a:solidFill>
                  <a:srgbClr val="655F5A"/>
                </a:solidFill>
              </a:rPr>
              <a:t>Fluxo sólido: dados | Pontilhado: operação, segurança e automação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AA44684-F9FF-49D0-BB60-B096289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10300"/>
            <a:ext cx="4000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F9CE46-53C8-4EAE-9624-9EC39DA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817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Fluxo síncrono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089478-FBE5-410C-8451-D1272941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48425"/>
            <a:ext cx="14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6F000C-BDA0-407C-9569-F3ED62C8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250" y="6448425"/>
            <a:ext cx="14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8945F0-7747-4759-9079-23D6511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72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Evento / controle</a:t>
            </a:r>
          </a:p>
        </p:txBody>
      </p:sp>
    </p:spTree>
    <p:extLst>
      <p:ext uri="{BB962C8B-B14F-4D97-AF65-F5344CB8AC3E}">
        <p14:creationId xmlns:p14="http://schemas.microsoft.com/office/powerpoint/2010/main" val="420990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723D0A-1D14-410C-980E-A4506ECB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272A"/>
                </a:solidFill>
              </a:defRPr>
            </a:pPr>
            <a:r>
              <a:rPr sz="2100" b="1">
                <a:solidFill>
                  <a:srgbClr val="29272A"/>
                </a:solidFill>
              </a:rPr>
              <a:t>Fluxo de negócio — pedido omnicanal orientado a eventos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D117B-4272-4400-A210-C9B289C6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F5A"/>
                </a:solidFill>
              </a:defRPr>
            </a:pPr>
            <a:r>
              <a:rPr sz="1125" b="0">
                <a:solidFill>
                  <a:srgbClr val="655F5A"/>
                </a:solidFill>
              </a:rPr>
              <a:t>Cenário fictício: varejista Aurora integra loja, aplicativo, estoque, pagamento e logística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3BB00-21EE-4AD1-8050-792FAC4E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DA1DA-7730-4D08-992C-FB1FA25E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09700"/>
            <a:ext cx="1428750" cy="42386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8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42D25-A2DA-44FC-82B0-1693312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Canais de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3D23F-D94F-455F-9455-7FE47245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Origem do comando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19f170c664fa7"/>
          <a:stretch xmlns:a="http://schemas.openxmlformats.org/drawingml/2006/main"/>
        </p:blipFill>
        <p:spPr>
          <a:xfrm xmlns:a="http://schemas.openxmlformats.org/drawingml/2006/main">
            <a:off x="866775" y="1974140"/>
            <a:ext cx="419100" cy="4141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A809A-369D-4E8F-AD21-38AFE902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Loja • App</a:t>
            </a:r>
          </a:p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52515-460B-4F72-B023-E6BA4B7B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09700"/>
            <a:ext cx="8001000" cy="423862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8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92704-129D-4DCD-8D3B-4D3C73F8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04950"/>
            <a:ext cx="773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875"/>
                </a:solidFill>
              </a:defRPr>
            </a:pPr>
            <a:r>
              <a:rPr sz="1200" b="1">
                <a:solidFill>
                  <a:srgbClr val="176875"/>
                </a:solidFill>
              </a:rPr>
              <a:t>Plataforma de pedidos EDA + CQRS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036AC-CBBA-4120-92C1-BEFFFC35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33550"/>
            <a:ext cx="773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Um comando aceita a intenção; eventos coordenam as áreas de negócio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3C27E-CC7F-4F81-8229-28C1E2DC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66900"/>
            <a:ext cx="4381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0B378-9411-4C93-8D5B-D99CF50B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43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E8E89-87D7-4D14-B7D1-CC094749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1447800" cy="98107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99D00-AB5C-4D74-A17F-75AA1741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FC639-15F2-4DEA-9B35-5ED620CF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Criar pedido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A637E-2E34-485E-8D4E-D9B34D09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API Gateway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+ Command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675DE-5F19-473B-AC18-01C26EC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1333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0C344-10B4-4926-A75E-872EFC41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66900"/>
            <a:ext cx="4381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AAEF8-E9C7-4EC1-A850-8A2CF2A4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43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BB340-4D0E-4AEC-8F6B-D6724D68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447800" cy="98107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5BADE-7385-4FA5-BAB6-72326D6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52896-EDFD-49A4-8DBB-5A64672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146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Confirmar pedido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DF0D6-E18A-444D-8C28-64A4AAE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ADB write model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+ outbox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F8F33-3EAA-4CE4-A5FC-E297F707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1333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90116-4E5E-4EB5-B067-984D20D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66900"/>
            <a:ext cx="4381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E3A8F"/>
          </a:solidFill>
          <a:ln xmlns:a="http://schemas.openxmlformats.org/drawingml/2006/main" w="9525">
            <a:solidFill>
              <a:srgbClr val="6E3A8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5E849-744A-4A97-9312-981C3C21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43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AB9CA-20C4-4F86-8911-093313AC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447800" cy="98107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3A8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01883-62FC-4133-AA5A-0E19D2CF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D717B-3C66-45D0-A620-D3E7190B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146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Publicar evento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9CD9F-E7DB-46AB-9E51-84EDC93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Kafka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OrderCreated.v1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B6E7CF-ABFB-45D9-8D16-F8804CF9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1333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FBE71-6CD6-4F36-BA91-C5F7B5A3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66900"/>
            <a:ext cx="4381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D8155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B690A7-5E57-4F5B-8E68-DE0D9DD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43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AA650C-75F9-40A6-9F89-7595E51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447800" cy="98107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897398-3B5D-452A-94E1-F2B39BA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155"/>
          </a:solidFill>
          <a:ln xmlns:a="http://schemas.openxmlformats.org/drawingml/2006/main" w="0">
            <a:solidFill>
              <a:srgbClr val="4D8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073695-4AA9-48F3-93F8-33B616B8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146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Processar domínios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AD9D96-D91E-484E-B7DF-FA1BFE7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Estoque • pagamento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logística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5C7FBA-47D1-4936-AE37-C67A89CA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1333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C99027-E0BA-47E7-AE6D-9B318B8F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66900"/>
            <a:ext cx="43815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65B0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759FE0-0CD7-472B-92CA-928F4FF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43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D29C2F-4C1F-4939-BD5C-624A478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1447800" cy="98107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5B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A4D4DC-EDEC-4313-8A71-2BDE92FC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5B0"/>
          </a:solidFill>
          <a:ln xmlns:a="http://schemas.openxmlformats.org/drawingml/2006/main" w="0">
            <a:solidFill>
              <a:srgbClr val="2F65B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99C69-1BC0-4985-B06D-646D90B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Consultar 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122B6E-6A1C-4263-9F9F-56AF90C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NoSQL read model</a:t>
            </a:r>
          </a:p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GET /orders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DC0B06-7A2D-4E0C-9EBB-7F5780BC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90850"/>
            <a:ext cx="4953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DBC38C-6BBF-4DFB-BE1F-E79121DB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003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POST /orders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2BECE9-44D0-40CE-A49F-B2E3780B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F06DA1-501E-4F04-9DE2-D591CE4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0544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36157B-1620-40F5-A34F-AA11C3DD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6988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07FB92-DFBD-4046-9476-45220F5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3432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EECE7D-93AD-4993-93C7-33087C6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9876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0B603A-7C84-4A55-950E-8B86D75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6321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A5B9C3-5649-4E30-9BCB-A765790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2765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169C95-3F53-453A-8E89-50ED2D9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9209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F77924-16F9-4B8F-9571-C0F40238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5653"/>
            <a:ext cx="19050" cy="137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A8F"/>
          </a:solidFill>
          <a:ln xmlns:a="http://schemas.openxmlformats.org/drawingml/2006/main" w="0">
            <a:solidFill>
              <a:srgbClr val="6E3A8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C61B8B-E763-4281-A752-50EF1195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3A8F"/>
                </a:solidFill>
              </a:defRPr>
            </a:pPr>
            <a:r>
              <a:rPr sz="750" b="1">
                <a:solidFill>
                  <a:srgbClr val="6E3A8F"/>
                </a:solidFill>
              </a:rPr>
              <a:t>fan-out assíncrono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F07FB9-999D-4687-BED8-ADD1A275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09700"/>
            <a:ext cx="1619250" cy="2190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0B69D7-CC8A-4723-8CF1-5A40CD0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049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5A25"/>
                </a:solidFill>
              </a:defRPr>
            </a:pPr>
            <a:r>
              <a:rPr sz="1200" b="1">
                <a:solidFill>
                  <a:srgbClr val="BC5A25"/>
                </a:solidFill>
              </a:rPr>
              <a:t>Ecossistema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ABC207-56CD-462A-82CA-20109AA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3355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Reage aos eventos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EF9734-70C2-4116-A2EC-177A9A2A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047875"/>
            <a:ext cx="12954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3E428B-361B-42A5-A54E-419B493C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047875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AD55C3-C4E6-4EB2-9B04-885D947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1907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Notificações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4561D5-972C-4A47-84CA-36D0F109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543175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e-mail / push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57CFAD-3ACE-4FE6-8EF8-E6840F9B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048000"/>
            <a:ext cx="12954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5A2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22EAD4-3034-4176-9A99-EC22F24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048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20B250-922F-4907-96E3-99BB0555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272A"/>
                </a:solidFill>
              </a:defRPr>
            </a:pPr>
            <a:r>
              <a:rPr sz="1050" b="1">
                <a:solidFill>
                  <a:srgbClr val="29272A"/>
                </a:solidFill>
              </a:rPr>
              <a:t>SaaS / parceiros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F8BF07-665C-496F-9478-383C59C5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543300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5F5A"/>
                </a:solidFill>
              </a:defRPr>
            </a:pPr>
            <a:r>
              <a:rPr sz="825" b="0">
                <a:solidFill>
                  <a:srgbClr val="655F5A"/>
                </a:solidFill>
              </a:rPr>
              <a:t>ERP • TMS • CRM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917D33-B63E-4308-9437-9514CAD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675A97-1258-4302-861B-2C6110FF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141" y="2984897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90C415-82BA-4944-BCED-68CE9E89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931" y="2912269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D6A52C-29AA-4AFC-8CC6-DF81FB10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722" y="2839641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5ADACA-2880-4FF2-BF4E-27828F2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767013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3615C5-BCA0-4A9F-A2C9-20D6DD38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303" y="2694384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94B141-5635-4748-8F0F-FB7C723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094" y="2621756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7FBE7F-22B5-4427-9ED4-CAFF6573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884" y="2549128"/>
            <a:ext cx="133945" cy="5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F6A2F0-53FD-4A58-9CBF-10D1CAFC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67075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BCBE8D-896E-4342-BE57-FF322F94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141" y="3293269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78378D-F35C-4E3D-A948-16F0DF17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931" y="3319463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AF1E33-3FFF-4F7E-8F20-E778655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722" y="3345656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AC342D3-EC67-4842-A2FB-182D0F2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3371850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0AD20A-F9D7-42B3-8BDF-2D0E7569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303" y="3398044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AB86F5-1972-4CC3-8F72-95B2CE3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094" y="3424238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45FA3DC-0817-4D0C-ADA8-599A549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884" y="3450431"/>
            <a:ext cx="133945" cy="32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5A25"/>
          </a:solidFill>
          <a:ln xmlns:a="http://schemas.openxmlformats.org/drawingml/2006/main" w="0">
            <a:solidFill>
              <a:srgbClr val="BC5A2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9D8BED-E039-430E-8512-6F5D8C01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67250"/>
            <a:ext cx="72294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AF4"/>
          </a:solidFill>
          <a:ln xmlns:a="http://schemas.openxmlformats.org/drawingml/2006/main" w="9525">
            <a:solidFill>
              <a:srgbClr val="4D815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802E40-82CB-484A-9193-AAB18ADB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86325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272A"/>
                </a:solidFill>
              </a:defRPr>
            </a:pPr>
            <a:r>
              <a:rPr sz="1125" b="1">
                <a:solidFill>
                  <a:srgbClr val="29272A"/>
                </a:solidFill>
              </a:rPr>
              <a:t>Resultado para o cliente: pedido aceito imediatamente; o status evolui de forma eventual e auditável até “entregue”.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F5371B-2994-4955-A9C0-CC17B54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72125"/>
            <a:ext cx="722947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613AB6-87D5-48B9-A308-961221C4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657850"/>
            <a:ext cx="678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5F5A"/>
                </a:solidFill>
              </a:defRPr>
            </a:pPr>
            <a:r>
              <a:rPr sz="900" b="0">
                <a:solidFill>
                  <a:srgbClr val="655F5A"/>
                </a:solidFill>
              </a:rPr>
              <a:t>Resiliência: cada consumidor pode falhar, reprocessar e escalar sem bloquear o pedido.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7ED83B-1362-4D78-8F0A-88C46876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4000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272A"/>
          </a:solidFill>
          <a:ln xmlns:a="http://schemas.openxmlformats.org/drawingml/2006/main" w="0">
            <a:solidFill>
              <a:srgbClr val="2927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49E5345-4D76-4A8F-BE33-239932A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6267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Fluxo síncrono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000BF96-79D2-416D-B550-48310BA4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4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B3FF46-BF89-41DD-AFA4-358D69B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" y="6429375"/>
            <a:ext cx="14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F5A"/>
          </a:solidFill>
          <a:ln xmlns:a="http://schemas.openxmlformats.org/drawingml/2006/main" w="0">
            <a:solidFill>
              <a:srgbClr val="655F5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7D26CE1-3D6E-4A29-9256-E1ED3BE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53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5F5A"/>
                </a:solidFill>
              </a:defRPr>
            </a:pPr>
            <a:r>
              <a:rPr sz="750" b="0">
                <a:solidFill>
                  <a:srgbClr val="655F5A"/>
                </a:solidFill>
              </a:rPr>
              <a:t>Evento / controle</a:t>
            </a:r>
          </a:p>
        </p:txBody>
      </p:sp>
    </p:spTree>
    <p:extLst>
      <p:ext uri="{BB962C8B-B14F-4D97-AF65-F5344CB8AC3E}">
        <p14:creationId xmlns:p14="http://schemas.microsoft.com/office/powerpoint/2010/main" val="1960360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2026-07-28T02:10:29.0480000Z</dcterms:created>
  <dcterms:modified xsi:type="dcterms:W3CDTF">2026-07-28T02:10:29.0480000Z</dcterms:modified>
</coreProperties>
</file>