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94637"/>
  </p:normalViewPr>
  <p:slideViewPr>
    <p:cSldViewPr snapToGrid="0">
      <p:cViewPr varScale="1">
        <p:scale>
          <a:sx n="147" d="100"/>
          <a:sy n="147" d="100"/>
        </p:scale>
        <p:origin x="22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tângulo 101">
            <a:extLst>
              <a:ext uri="{FF2B5EF4-FFF2-40B4-BE49-F238E27FC236}">
                <a16:creationId xmlns:a16="http://schemas.microsoft.com/office/drawing/2014/main" id="{FCE74B38-6687-4C11-9CED-C2E0E52D24EC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>
                <a:solidFill>
                  <a:srgbClr val="29272A"/>
                </a:solidFill>
              </a:rPr>
              <a:t>Arquitetura high level — EDA + CQRS na OCI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E64E6F2-F72E-4380-A421-8EE9CF768622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Pedidos omnicanal com Command/Write e Query/Read explicitamente segregados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90DDA57-EDAC-4B31-94EA-84C57EC4AF6E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2656C0A7-25EB-46EF-AB92-251DB4AC5223}"/>
              </a:ext>
            </a:extLst>
          </p:cNvPr>
          <p:cNvSpPr>
            <a:spLocks noGrp="1"/>
          </p:cNvSpPr>
          <p:nvPr/>
        </p:nvSpPr>
        <p:spPr>
          <a:xfrm>
            <a:off x="361950" y="1390650"/>
            <a:ext cx="1571625" cy="4333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508DF0F-C603-45AF-8131-C37C7CCB64B0}"/>
              </a:ext>
            </a:extLst>
          </p:cNvPr>
          <p:cNvSpPr>
            <a:spLocks noGrp="1"/>
          </p:cNvSpPr>
          <p:nvPr/>
        </p:nvSpPr>
        <p:spPr>
          <a:xfrm>
            <a:off x="495300" y="1485900"/>
            <a:ext cx="13049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Canais clientes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39C2EF3-8CB0-4BE8-9748-89EB3F9CB691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13049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Consumidores e parceiros</a:t>
            </a:r>
          </a:p>
        </p:txBody>
      </p:sp>
      <p:pic>
        <p:nvPicPr>
          <p:cNvPr id="108" name="Imagem 10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23925" y="2136065"/>
            <a:ext cx="419100" cy="414169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302A5F68-74AF-4F17-8410-3C0B456AA22F}"/>
              </a:ext>
            </a:extLst>
          </p:cNvPr>
          <p:cNvSpPr>
            <a:spLocks noGrp="1"/>
          </p:cNvSpPr>
          <p:nvPr/>
        </p:nvSpPr>
        <p:spPr>
          <a:xfrm>
            <a:off x="590550" y="2714625"/>
            <a:ext cx="10953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Web • Mobile</a:t>
            </a:r>
          </a:p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Marketplace • ERP</a:t>
            </a:r>
          </a:p>
        </p:txBody>
      </p:sp>
      <p:sp>
        <p:nvSpPr>
          <p:cNvPr id="9" name="Retângulo Arredondado 8">
            <a:extLst>
              <a:ext uri="{FF2B5EF4-FFF2-40B4-BE49-F238E27FC236}">
                <a16:creationId xmlns:a16="http://schemas.microsoft.com/office/drawing/2014/main" id="{8255A2F2-A17A-489F-8720-730A274A502B}"/>
              </a:ext>
            </a:extLst>
          </p:cNvPr>
          <p:cNvSpPr>
            <a:spLocks noGrp="1"/>
          </p:cNvSpPr>
          <p:nvPr/>
        </p:nvSpPr>
        <p:spPr>
          <a:xfrm>
            <a:off x="2095500" y="1390650"/>
            <a:ext cx="9734550" cy="4333875"/>
          </a:xfrm>
          <a:prstGeom prst="roundRect">
            <a:avLst>
              <a:gd name="adj" fmla="val 879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D94C06F-DAF1-4BCB-95E1-BF8E11FAA705}"/>
              </a:ext>
            </a:extLst>
          </p:cNvPr>
          <p:cNvSpPr>
            <a:spLocks noGrp="1"/>
          </p:cNvSpPr>
          <p:nvPr/>
        </p:nvSpPr>
        <p:spPr>
          <a:xfrm>
            <a:off x="2228850" y="1485900"/>
            <a:ext cx="9467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OCI — região ativa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FA2FD84-DFE6-4F7B-AFF9-24C320C59044}"/>
              </a:ext>
            </a:extLst>
          </p:cNvPr>
          <p:cNvSpPr>
            <a:spLocks noGrp="1"/>
          </p:cNvSpPr>
          <p:nvPr/>
        </p:nvSpPr>
        <p:spPr>
          <a:xfrm>
            <a:off x="2228850" y="1714500"/>
            <a:ext cx="94678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Produção privada • separação de responsabilidades por padrão CQRS</a:t>
            </a:r>
          </a:p>
        </p:txBody>
      </p:sp>
      <p:sp>
        <p:nvSpPr>
          <p:cNvPr id="12" name="Retângulo Arredondado 11">
            <a:extLst>
              <a:ext uri="{FF2B5EF4-FFF2-40B4-BE49-F238E27FC236}">
                <a16:creationId xmlns:a16="http://schemas.microsoft.com/office/drawing/2014/main" id="{2B77399B-46D1-47BF-8F0C-704F22F6588A}"/>
              </a:ext>
            </a:extLst>
          </p:cNvPr>
          <p:cNvSpPr>
            <a:spLocks noGrp="1"/>
          </p:cNvSpPr>
          <p:nvPr/>
        </p:nvSpPr>
        <p:spPr>
          <a:xfrm>
            <a:off x="2400300" y="1809750"/>
            <a:ext cx="6667500" cy="3095625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18E49B3-76B4-432E-97B2-7B3AE0B40C76}"/>
              </a:ext>
            </a:extLst>
          </p:cNvPr>
          <p:cNvSpPr>
            <a:spLocks noGrp="1"/>
          </p:cNvSpPr>
          <p:nvPr/>
        </p:nvSpPr>
        <p:spPr>
          <a:xfrm>
            <a:off x="2533650" y="1905000"/>
            <a:ext cx="640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5B0"/>
                </a:solidFill>
              </a:defRPr>
            </a:pPr>
            <a:r>
              <a:rPr sz="1200" b="1">
                <a:solidFill>
                  <a:srgbClr val="2F65B0"/>
                </a:solidFill>
              </a:rPr>
              <a:t>CQRS — Command / Write  |  Query / Read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52DCC17-A40D-4458-ACC4-6AF8FD3C5B45}"/>
              </a:ext>
            </a:extLst>
          </p:cNvPr>
          <p:cNvSpPr>
            <a:spLocks noGrp="1"/>
          </p:cNvSpPr>
          <p:nvPr/>
        </p:nvSpPr>
        <p:spPr>
          <a:xfrm>
            <a:off x="2533650" y="2133600"/>
            <a:ext cx="6400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Modelos independentes; o evento é a fronteira de desacoplamento</a:t>
            </a:r>
          </a:p>
        </p:txBody>
      </p:sp>
      <p:sp>
        <p:nvSpPr>
          <p:cNvPr id="15" name="Retângulo Arredondado 14">
            <a:extLst>
              <a:ext uri="{FF2B5EF4-FFF2-40B4-BE49-F238E27FC236}">
                <a16:creationId xmlns:a16="http://schemas.microsoft.com/office/drawing/2014/main" id="{210E23D9-A6F0-43FB-90F1-99E556304DB8}"/>
              </a:ext>
            </a:extLst>
          </p:cNvPr>
          <p:cNvSpPr>
            <a:spLocks noGrp="1"/>
          </p:cNvSpPr>
          <p:nvPr/>
        </p:nvSpPr>
        <p:spPr>
          <a:xfrm>
            <a:off x="2571750" y="2324100"/>
            <a:ext cx="2000250" cy="226695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6901122-F04D-4319-998B-6326F49ECBC6}"/>
              </a:ext>
            </a:extLst>
          </p:cNvPr>
          <p:cNvSpPr>
            <a:spLocks noGrp="1"/>
          </p:cNvSpPr>
          <p:nvPr/>
        </p:nvSpPr>
        <p:spPr>
          <a:xfrm>
            <a:off x="2705100" y="24193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C74634"/>
                </a:solidFill>
              </a:defRPr>
            </a:pPr>
            <a:r>
              <a:rPr sz="1200" b="1">
                <a:solidFill>
                  <a:srgbClr val="C74634"/>
                </a:solidFill>
              </a:rPr>
              <a:t>Command / Write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69FF5B0F-94B5-41DB-A3DF-11CB042B5D47}"/>
              </a:ext>
            </a:extLst>
          </p:cNvPr>
          <p:cNvSpPr>
            <a:spLocks noGrp="1"/>
          </p:cNvSpPr>
          <p:nvPr/>
        </p:nvSpPr>
        <p:spPr>
          <a:xfrm>
            <a:off x="2705100" y="2647950"/>
            <a:ext cx="1733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Consistência do domínio</a:t>
            </a:r>
          </a:p>
        </p:txBody>
      </p:sp>
      <p:sp>
        <p:nvSpPr>
          <p:cNvPr id="18" name="Retângulo Arredondado 17">
            <a:extLst>
              <a:ext uri="{FF2B5EF4-FFF2-40B4-BE49-F238E27FC236}">
                <a16:creationId xmlns:a16="http://schemas.microsoft.com/office/drawing/2014/main" id="{FF6757F1-EBF7-4583-99D5-F61EADDB7AE2}"/>
              </a:ext>
            </a:extLst>
          </p:cNvPr>
          <p:cNvSpPr>
            <a:spLocks noGrp="1"/>
          </p:cNvSpPr>
          <p:nvPr/>
        </p:nvSpPr>
        <p:spPr>
          <a:xfrm>
            <a:off x="2724150" y="2876550"/>
            <a:ext cx="1695450" cy="6858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CEFAB79-DB26-47D0-B754-A8D111B8DD05}"/>
              </a:ext>
            </a:extLst>
          </p:cNvPr>
          <p:cNvSpPr>
            <a:spLocks noGrp="1"/>
          </p:cNvSpPr>
          <p:nvPr/>
        </p:nvSpPr>
        <p:spPr>
          <a:xfrm>
            <a:off x="2724150" y="2876550"/>
            <a:ext cx="16954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7353EAF-5195-4FC8-B8E6-2C4282C807AC}"/>
              </a:ext>
            </a:extLst>
          </p:cNvPr>
          <p:cNvSpPr>
            <a:spLocks noGrp="1"/>
          </p:cNvSpPr>
          <p:nvPr/>
        </p:nvSpPr>
        <p:spPr>
          <a:xfrm>
            <a:off x="2838450" y="3019425"/>
            <a:ext cx="1466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 Gateway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EE87A54C-ACB2-4B83-A4FD-E64CB1BEC280}"/>
              </a:ext>
            </a:extLst>
          </p:cNvPr>
          <p:cNvSpPr>
            <a:spLocks noGrp="1"/>
          </p:cNvSpPr>
          <p:nvPr/>
        </p:nvSpPr>
        <p:spPr>
          <a:xfrm>
            <a:off x="2838450" y="3371850"/>
            <a:ext cx="1466850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Privado • JWT • rate limit</a:t>
            </a:r>
          </a:p>
        </p:txBody>
      </p:sp>
      <p:pic>
        <p:nvPicPr>
          <p:cNvPr id="123" name="Imagem 1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819400" y="3614261"/>
            <a:ext cx="266700" cy="220027"/>
          </a:xfrm>
          <a:prstGeom prst="rect">
            <a:avLst/>
          </a:prstGeom>
        </p:spPr>
      </p:pic>
      <p:sp>
        <p:nvSpPr>
          <p:cNvPr id="23" name="Retângulo Arredondado 22">
            <a:extLst>
              <a:ext uri="{FF2B5EF4-FFF2-40B4-BE49-F238E27FC236}">
                <a16:creationId xmlns:a16="http://schemas.microsoft.com/office/drawing/2014/main" id="{77756004-73FE-4332-9D91-8BFF91BE4DC1}"/>
              </a:ext>
            </a:extLst>
          </p:cNvPr>
          <p:cNvSpPr>
            <a:spLocks noGrp="1"/>
          </p:cNvSpPr>
          <p:nvPr/>
        </p:nvSpPr>
        <p:spPr>
          <a:xfrm>
            <a:off x="2724150" y="3943350"/>
            <a:ext cx="16954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9677CB24-918E-4C56-A0BA-3AF7A0445BD4}"/>
              </a:ext>
            </a:extLst>
          </p:cNvPr>
          <p:cNvSpPr>
            <a:spLocks noGrp="1"/>
          </p:cNvSpPr>
          <p:nvPr/>
        </p:nvSpPr>
        <p:spPr>
          <a:xfrm>
            <a:off x="2724150" y="3943350"/>
            <a:ext cx="16954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3C1D5E27-E3DA-4EA2-ACD9-D66C11C71996}"/>
              </a:ext>
            </a:extLst>
          </p:cNvPr>
          <p:cNvSpPr>
            <a:spLocks noGrp="1"/>
          </p:cNvSpPr>
          <p:nvPr/>
        </p:nvSpPr>
        <p:spPr>
          <a:xfrm>
            <a:off x="2838450" y="4086225"/>
            <a:ext cx="1466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Command service</a:t>
            </a:r>
          </a:p>
        </p:txBody>
      </p:sp>
      <p:sp>
        <p:nvSpPr>
          <p:cNvPr id="26" name="Seta para Baixo 25">
            <a:extLst>
              <a:ext uri="{FF2B5EF4-FFF2-40B4-BE49-F238E27FC236}">
                <a16:creationId xmlns:a16="http://schemas.microsoft.com/office/drawing/2014/main" id="{14D42D95-0313-41ED-8232-9381DF115702}"/>
              </a:ext>
            </a:extLst>
          </p:cNvPr>
          <p:cNvSpPr>
            <a:spLocks noGrp="1"/>
          </p:cNvSpPr>
          <p:nvPr/>
        </p:nvSpPr>
        <p:spPr>
          <a:xfrm>
            <a:off x="3524250" y="3562350"/>
            <a:ext cx="123825" cy="333375"/>
          </a:xfrm>
          <a:prstGeom prst="downArrow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60E0C3AE-BFA2-4D9C-B250-69A650C6E1EF}"/>
              </a:ext>
            </a:extLst>
          </p:cNvPr>
          <p:cNvSpPr>
            <a:spLocks noGrp="1"/>
          </p:cNvSpPr>
          <p:nvPr/>
        </p:nvSpPr>
        <p:spPr>
          <a:xfrm>
            <a:off x="3657600" y="3662363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commit</a:t>
            </a:r>
          </a:p>
        </p:txBody>
      </p:sp>
      <p:sp>
        <p:nvSpPr>
          <p:cNvPr id="28" name="Seta para a Direita 27">
            <a:extLst>
              <a:ext uri="{FF2B5EF4-FFF2-40B4-BE49-F238E27FC236}">
                <a16:creationId xmlns:a16="http://schemas.microsoft.com/office/drawing/2014/main" id="{2B404833-C567-4A51-B348-B45AA96FDD00}"/>
              </a:ext>
            </a:extLst>
          </p:cNvPr>
          <p:cNvSpPr>
            <a:spLocks noGrp="1"/>
          </p:cNvSpPr>
          <p:nvPr/>
        </p:nvSpPr>
        <p:spPr>
          <a:xfrm>
            <a:off x="4429125" y="3209925"/>
            <a:ext cx="42862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479EE928-CAFF-4A71-B03A-27B3057CF026}"/>
              </a:ext>
            </a:extLst>
          </p:cNvPr>
          <p:cNvSpPr>
            <a:spLocks noGrp="1"/>
          </p:cNvSpPr>
          <p:nvPr/>
        </p:nvSpPr>
        <p:spPr>
          <a:xfrm>
            <a:off x="4362450" y="3019425"/>
            <a:ext cx="5619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comando</a:t>
            </a:r>
          </a:p>
        </p:txBody>
      </p:sp>
      <p:sp>
        <p:nvSpPr>
          <p:cNvPr id="30" name="Retângulo Arredondado 29">
            <a:extLst>
              <a:ext uri="{FF2B5EF4-FFF2-40B4-BE49-F238E27FC236}">
                <a16:creationId xmlns:a16="http://schemas.microsoft.com/office/drawing/2014/main" id="{5DF758F2-5F22-4FEC-831E-E416C2807FE8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1714500" cy="226695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AB648082-F495-4936-A67E-B83A3B30763C}"/>
              </a:ext>
            </a:extLst>
          </p:cNvPr>
          <p:cNvSpPr>
            <a:spLocks noGrp="1"/>
          </p:cNvSpPr>
          <p:nvPr/>
        </p:nvSpPr>
        <p:spPr>
          <a:xfrm>
            <a:off x="5086350" y="2419350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6E3A8F"/>
                </a:solidFill>
              </a:defRPr>
            </a:pPr>
            <a:r>
              <a:rPr sz="1200" b="1">
                <a:solidFill>
                  <a:srgbClr val="6E3A8F"/>
                </a:solidFill>
              </a:rPr>
              <a:t>EDA backbone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66188FDF-1DAF-4552-B300-5401713991B0}"/>
              </a:ext>
            </a:extLst>
          </p:cNvPr>
          <p:cNvSpPr>
            <a:spLocks noGrp="1"/>
          </p:cNvSpPr>
          <p:nvPr/>
        </p:nvSpPr>
        <p:spPr>
          <a:xfrm>
            <a:off x="5086350" y="2647950"/>
            <a:ext cx="1447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Eventos versionados</a:t>
            </a:r>
          </a:p>
        </p:txBody>
      </p:sp>
      <p:sp>
        <p:nvSpPr>
          <p:cNvPr id="33" name="Retângulo Arredondado 32">
            <a:extLst>
              <a:ext uri="{FF2B5EF4-FFF2-40B4-BE49-F238E27FC236}">
                <a16:creationId xmlns:a16="http://schemas.microsoft.com/office/drawing/2014/main" id="{FADDEFA3-3495-4F67-B590-0042D024C3B6}"/>
              </a:ext>
            </a:extLst>
          </p:cNvPr>
          <p:cNvSpPr>
            <a:spLocks noGrp="1"/>
          </p:cNvSpPr>
          <p:nvPr/>
        </p:nvSpPr>
        <p:spPr>
          <a:xfrm>
            <a:off x="5086350" y="3028950"/>
            <a:ext cx="1447800" cy="8572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78D20026-D3CF-4B9C-94B2-0EF384556821}"/>
              </a:ext>
            </a:extLst>
          </p:cNvPr>
          <p:cNvSpPr>
            <a:spLocks noGrp="1"/>
          </p:cNvSpPr>
          <p:nvPr/>
        </p:nvSpPr>
        <p:spPr>
          <a:xfrm>
            <a:off x="5086350" y="3028950"/>
            <a:ext cx="144780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179A1473-D1FA-4692-8FA9-B3E4B44CE4A9}"/>
              </a:ext>
            </a:extLst>
          </p:cNvPr>
          <p:cNvSpPr>
            <a:spLocks noGrp="1"/>
          </p:cNvSpPr>
          <p:nvPr/>
        </p:nvSpPr>
        <p:spPr>
          <a:xfrm>
            <a:off x="5200650" y="31718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Streaming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with Apache Kafka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B925F8C9-898B-4853-9670-2F8C77983407}"/>
              </a:ext>
            </a:extLst>
          </p:cNvPr>
          <p:cNvSpPr>
            <a:spLocks noGrp="1"/>
          </p:cNvSpPr>
          <p:nvPr/>
        </p:nvSpPr>
        <p:spPr>
          <a:xfrm>
            <a:off x="5200650" y="3524250"/>
            <a:ext cx="12192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SASL/SCRAM • ACL</a:t>
            </a:r>
          </a:p>
        </p:txBody>
      </p:sp>
      <p:sp>
        <p:nvSpPr>
          <p:cNvPr id="37" name="Seta para a Direita 36">
            <a:extLst>
              <a:ext uri="{FF2B5EF4-FFF2-40B4-BE49-F238E27FC236}">
                <a16:creationId xmlns:a16="http://schemas.microsoft.com/office/drawing/2014/main" id="{C8581E76-7177-4AFB-B23E-DC245DA3978B}"/>
              </a:ext>
            </a:extLst>
          </p:cNvPr>
          <p:cNvSpPr>
            <a:spLocks noGrp="1"/>
          </p:cNvSpPr>
          <p:nvPr/>
        </p:nvSpPr>
        <p:spPr>
          <a:xfrm>
            <a:off x="6667500" y="3381375"/>
            <a:ext cx="333375" cy="123825"/>
          </a:xfrm>
          <a:prstGeom prst="rightArrow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7A732A21-462C-4F79-B9C7-7C88BEAAF0B2}"/>
              </a:ext>
            </a:extLst>
          </p:cNvPr>
          <p:cNvSpPr>
            <a:spLocks noGrp="1"/>
          </p:cNvSpPr>
          <p:nvPr/>
        </p:nvSpPr>
        <p:spPr>
          <a:xfrm>
            <a:off x="6600825" y="3190875"/>
            <a:ext cx="4667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eventos</a:t>
            </a:r>
          </a:p>
        </p:txBody>
      </p:sp>
      <p:sp>
        <p:nvSpPr>
          <p:cNvPr id="39" name="Retângulo Arredondado 38">
            <a:extLst>
              <a:ext uri="{FF2B5EF4-FFF2-40B4-BE49-F238E27FC236}">
                <a16:creationId xmlns:a16="http://schemas.microsoft.com/office/drawing/2014/main" id="{6F686EF3-931D-488F-BC4A-4DFA0EAF0164}"/>
              </a:ext>
            </a:extLst>
          </p:cNvPr>
          <p:cNvSpPr>
            <a:spLocks noGrp="1"/>
          </p:cNvSpPr>
          <p:nvPr/>
        </p:nvSpPr>
        <p:spPr>
          <a:xfrm>
            <a:off x="7124700" y="2324100"/>
            <a:ext cx="1790700" cy="22669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53D63396-F231-4CEA-B4BF-275D85F730E2}"/>
              </a:ext>
            </a:extLst>
          </p:cNvPr>
          <p:cNvSpPr>
            <a:spLocks noGrp="1"/>
          </p:cNvSpPr>
          <p:nvPr/>
        </p:nvSpPr>
        <p:spPr>
          <a:xfrm>
            <a:off x="7258050" y="24193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4D8155"/>
                </a:solidFill>
              </a:defRPr>
            </a:pPr>
            <a:r>
              <a:rPr sz="1200" b="1">
                <a:solidFill>
                  <a:srgbClr val="4D8155"/>
                </a:solidFill>
              </a:rPr>
              <a:t>Query / Read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82680A4B-2AF6-4503-B1DD-1F5C3CDDB33E}"/>
              </a:ext>
            </a:extLst>
          </p:cNvPr>
          <p:cNvSpPr>
            <a:spLocks noGrp="1"/>
          </p:cNvSpPr>
          <p:nvPr/>
        </p:nvSpPr>
        <p:spPr>
          <a:xfrm>
            <a:off x="7258050" y="2647950"/>
            <a:ext cx="152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Projeções de consulta</a:t>
            </a:r>
          </a:p>
        </p:txBody>
      </p:sp>
      <p:sp>
        <p:nvSpPr>
          <p:cNvPr id="42" name="Retângulo Arredondado 41">
            <a:extLst>
              <a:ext uri="{FF2B5EF4-FFF2-40B4-BE49-F238E27FC236}">
                <a16:creationId xmlns:a16="http://schemas.microsoft.com/office/drawing/2014/main" id="{60ADD473-F07C-464D-B41D-E0542F879AFD}"/>
              </a:ext>
            </a:extLst>
          </p:cNvPr>
          <p:cNvSpPr>
            <a:spLocks noGrp="1"/>
          </p:cNvSpPr>
          <p:nvPr/>
        </p:nvSpPr>
        <p:spPr>
          <a:xfrm>
            <a:off x="7258050" y="2876550"/>
            <a:ext cx="1524000" cy="6858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AE208292-D01A-433C-854A-FDFBB0C72EEE}"/>
              </a:ext>
            </a:extLst>
          </p:cNvPr>
          <p:cNvSpPr>
            <a:spLocks noGrp="1"/>
          </p:cNvSpPr>
          <p:nvPr/>
        </p:nvSpPr>
        <p:spPr>
          <a:xfrm>
            <a:off x="7258050" y="2876550"/>
            <a:ext cx="152400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112E4CEC-58CA-44E1-BE2F-6C9F1342E3A5}"/>
              </a:ext>
            </a:extLst>
          </p:cNvPr>
          <p:cNvSpPr>
            <a:spLocks noGrp="1"/>
          </p:cNvSpPr>
          <p:nvPr/>
        </p:nvSpPr>
        <p:spPr>
          <a:xfrm>
            <a:off x="7372350" y="3019425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Projection workers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331615E0-4C3A-4901-B9F4-CCAB73DE880B}"/>
              </a:ext>
            </a:extLst>
          </p:cNvPr>
          <p:cNvSpPr>
            <a:spLocks noGrp="1"/>
          </p:cNvSpPr>
          <p:nvPr/>
        </p:nvSpPr>
        <p:spPr>
          <a:xfrm>
            <a:off x="7372350" y="3371850"/>
            <a:ext cx="1295400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OKE • retry • idempotência</a:t>
            </a:r>
          </a:p>
        </p:txBody>
      </p:sp>
      <p:sp>
        <p:nvSpPr>
          <p:cNvPr id="46" name="Seta para Baixo 45">
            <a:extLst>
              <a:ext uri="{FF2B5EF4-FFF2-40B4-BE49-F238E27FC236}">
                <a16:creationId xmlns:a16="http://schemas.microsoft.com/office/drawing/2014/main" id="{324CEE8B-FB8B-48DD-9BCB-455E60E9B983}"/>
              </a:ext>
            </a:extLst>
          </p:cNvPr>
          <p:cNvSpPr>
            <a:spLocks noGrp="1"/>
          </p:cNvSpPr>
          <p:nvPr/>
        </p:nvSpPr>
        <p:spPr>
          <a:xfrm>
            <a:off x="7962900" y="3562350"/>
            <a:ext cx="123825" cy="333375"/>
          </a:xfrm>
          <a:prstGeom prst="downArrow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568CAAE-1D0F-461D-903A-86C86DE81A10}"/>
              </a:ext>
            </a:extLst>
          </p:cNvPr>
          <p:cNvSpPr>
            <a:spLocks noGrp="1"/>
          </p:cNvSpPr>
          <p:nvPr/>
        </p:nvSpPr>
        <p:spPr>
          <a:xfrm>
            <a:off x="8096250" y="3662363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upsert</a:t>
            </a:r>
          </a:p>
        </p:txBody>
      </p:sp>
      <p:sp>
        <p:nvSpPr>
          <p:cNvPr id="48" name="Retângulo Arredondado 47">
            <a:extLst>
              <a:ext uri="{FF2B5EF4-FFF2-40B4-BE49-F238E27FC236}">
                <a16:creationId xmlns:a16="http://schemas.microsoft.com/office/drawing/2014/main" id="{4689B245-71FD-4EDF-8E05-D790AD27EC3D}"/>
              </a:ext>
            </a:extLst>
          </p:cNvPr>
          <p:cNvSpPr>
            <a:spLocks noGrp="1"/>
          </p:cNvSpPr>
          <p:nvPr/>
        </p:nvSpPr>
        <p:spPr>
          <a:xfrm>
            <a:off x="7258050" y="3943350"/>
            <a:ext cx="15240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0D1ADB47-E18F-4E04-BD57-27876D6E26B3}"/>
              </a:ext>
            </a:extLst>
          </p:cNvPr>
          <p:cNvSpPr>
            <a:spLocks noGrp="1"/>
          </p:cNvSpPr>
          <p:nvPr/>
        </p:nvSpPr>
        <p:spPr>
          <a:xfrm>
            <a:off x="7258050" y="3943350"/>
            <a:ext cx="152400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BEB786C9-ABF2-42A5-8119-ABB1C70772F3}"/>
              </a:ext>
            </a:extLst>
          </p:cNvPr>
          <p:cNvSpPr>
            <a:spLocks noGrp="1"/>
          </p:cNvSpPr>
          <p:nvPr/>
        </p:nvSpPr>
        <p:spPr>
          <a:xfrm>
            <a:off x="7372350" y="4086225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Read model</a:t>
            </a:r>
          </a:p>
        </p:txBody>
      </p:sp>
      <p:sp>
        <p:nvSpPr>
          <p:cNvPr id="51" name="Seta para a Direita 50">
            <a:extLst>
              <a:ext uri="{FF2B5EF4-FFF2-40B4-BE49-F238E27FC236}">
                <a16:creationId xmlns:a16="http://schemas.microsoft.com/office/drawing/2014/main" id="{A888F638-3F45-4A04-85CC-39097A45A131}"/>
              </a:ext>
            </a:extLst>
          </p:cNvPr>
          <p:cNvSpPr>
            <a:spLocks noGrp="1"/>
          </p:cNvSpPr>
          <p:nvPr/>
        </p:nvSpPr>
        <p:spPr>
          <a:xfrm>
            <a:off x="1924050" y="3238500"/>
            <a:ext cx="61912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03383A44-FB41-4377-9AC2-D66180BEF494}"/>
              </a:ext>
            </a:extLst>
          </p:cNvPr>
          <p:cNvSpPr>
            <a:spLocks noGrp="1"/>
          </p:cNvSpPr>
          <p:nvPr/>
        </p:nvSpPr>
        <p:spPr>
          <a:xfrm>
            <a:off x="1857375" y="3048000"/>
            <a:ext cx="7524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HTTPS</a:t>
            </a:r>
          </a:p>
        </p:txBody>
      </p:sp>
      <p:sp>
        <p:nvSpPr>
          <p:cNvPr id="53" name="Seta para a Direita 52">
            <a:extLst>
              <a:ext uri="{FF2B5EF4-FFF2-40B4-BE49-F238E27FC236}">
                <a16:creationId xmlns:a16="http://schemas.microsoft.com/office/drawing/2014/main" id="{6E8EEF04-388D-4EB3-BFF9-F8C6E4EB738F}"/>
              </a:ext>
            </a:extLst>
          </p:cNvPr>
          <p:cNvSpPr>
            <a:spLocks noGrp="1"/>
          </p:cNvSpPr>
          <p:nvPr/>
        </p:nvSpPr>
        <p:spPr>
          <a:xfrm>
            <a:off x="8782050" y="4133850"/>
            <a:ext cx="44767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417EA353-3FD6-455F-BC36-A769D0F76A16}"/>
              </a:ext>
            </a:extLst>
          </p:cNvPr>
          <p:cNvSpPr>
            <a:spLocks noGrp="1"/>
          </p:cNvSpPr>
          <p:nvPr/>
        </p:nvSpPr>
        <p:spPr>
          <a:xfrm>
            <a:off x="8715375" y="3943350"/>
            <a:ext cx="5810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consulta</a:t>
            </a:r>
          </a:p>
        </p:txBody>
      </p:sp>
      <p:sp>
        <p:nvSpPr>
          <p:cNvPr id="55" name="Retângulo Arredondado 54">
            <a:extLst>
              <a:ext uri="{FF2B5EF4-FFF2-40B4-BE49-F238E27FC236}">
                <a16:creationId xmlns:a16="http://schemas.microsoft.com/office/drawing/2014/main" id="{0E6C3477-1A11-4258-8C55-23496BCE76B4}"/>
              </a:ext>
            </a:extLst>
          </p:cNvPr>
          <p:cNvSpPr>
            <a:spLocks noGrp="1"/>
          </p:cNvSpPr>
          <p:nvPr/>
        </p:nvSpPr>
        <p:spPr>
          <a:xfrm>
            <a:off x="9315450" y="1809750"/>
            <a:ext cx="2324100" cy="3095625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0B10CF9E-7B0A-4E2D-A7AA-F8B3C151BE4E}"/>
              </a:ext>
            </a:extLst>
          </p:cNvPr>
          <p:cNvSpPr>
            <a:spLocks noGrp="1"/>
          </p:cNvSpPr>
          <p:nvPr/>
        </p:nvSpPr>
        <p:spPr>
          <a:xfrm>
            <a:off x="9448800" y="1905000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Integrações por evento</a:t>
            </a:r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3699A729-0E4A-4F03-A73D-C12034B9DF96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20574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Fan-out não bloqueante</a:t>
            </a:r>
          </a:p>
        </p:txBody>
      </p:sp>
      <p:sp>
        <p:nvSpPr>
          <p:cNvPr id="58" name="Retângulo Arredondado 57">
            <a:extLst>
              <a:ext uri="{FF2B5EF4-FFF2-40B4-BE49-F238E27FC236}">
                <a16:creationId xmlns:a16="http://schemas.microsoft.com/office/drawing/2014/main" id="{5F42D3A8-A2B5-4AA2-A3EF-E4784EC3B384}"/>
              </a:ext>
            </a:extLst>
          </p:cNvPr>
          <p:cNvSpPr>
            <a:spLocks noGrp="1"/>
          </p:cNvSpPr>
          <p:nvPr/>
        </p:nvSpPr>
        <p:spPr>
          <a:xfrm>
            <a:off x="9477375" y="2447925"/>
            <a:ext cx="2000250" cy="70485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99F2C084-D645-43F7-96EC-A143D10540BF}"/>
              </a:ext>
            </a:extLst>
          </p:cNvPr>
          <p:cNvSpPr>
            <a:spLocks noGrp="1"/>
          </p:cNvSpPr>
          <p:nvPr/>
        </p:nvSpPr>
        <p:spPr>
          <a:xfrm>
            <a:off x="9477375" y="2447925"/>
            <a:ext cx="200025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E3276F29-3098-4FF5-AAAF-ECDCA9C07630}"/>
              </a:ext>
            </a:extLst>
          </p:cNvPr>
          <p:cNvSpPr>
            <a:spLocks noGrp="1"/>
          </p:cNvSpPr>
          <p:nvPr/>
        </p:nvSpPr>
        <p:spPr>
          <a:xfrm>
            <a:off x="9591675" y="25908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Events + Functions</a:t>
            </a:r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3F911199-632C-4CAB-A7EB-891F01C5073E}"/>
              </a:ext>
            </a:extLst>
          </p:cNvPr>
          <p:cNvSpPr>
            <a:spLocks noGrp="1"/>
          </p:cNvSpPr>
          <p:nvPr/>
        </p:nvSpPr>
        <p:spPr>
          <a:xfrm>
            <a:off x="9591675" y="2943225"/>
            <a:ext cx="17716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automação e regras</a:t>
            </a:r>
          </a:p>
        </p:txBody>
      </p:sp>
      <p:sp>
        <p:nvSpPr>
          <p:cNvPr id="62" name="Retângulo Arredondado 61">
            <a:extLst>
              <a:ext uri="{FF2B5EF4-FFF2-40B4-BE49-F238E27FC236}">
                <a16:creationId xmlns:a16="http://schemas.microsoft.com/office/drawing/2014/main" id="{4AEDDD62-9A3B-4EFC-BCAF-066C715EBA4C}"/>
              </a:ext>
            </a:extLst>
          </p:cNvPr>
          <p:cNvSpPr>
            <a:spLocks noGrp="1"/>
          </p:cNvSpPr>
          <p:nvPr/>
        </p:nvSpPr>
        <p:spPr>
          <a:xfrm>
            <a:off x="9477375" y="3409950"/>
            <a:ext cx="2000250" cy="70485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EDAC1A5C-C446-49E3-9ECF-C722C2E3FBB0}"/>
              </a:ext>
            </a:extLst>
          </p:cNvPr>
          <p:cNvSpPr>
            <a:spLocks noGrp="1"/>
          </p:cNvSpPr>
          <p:nvPr/>
        </p:nvSpPr>
        <p:spPr>
          <a:xfrm>
            <a:off x="9477375" y="3409950"/>
            <a:ext cx="200025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6257DF0D-0A9F-4A67-8E52-D581E4BAF836}"/>
              </a:ext>
            </a:extLst>
          </p:cNvPr>
          <p:cNvSpPr>
            <a:spLocks noGrp="1"/>
          </p:cNvSpPr>
          <p:nvPr/>
        </p:nvSpPr>
        <p:spPr>
          <a:xfrm>
            <a:off x="9591675" y="3552825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Sistemas externos</a:t>
            </a:r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5460F362-9234-4935-A504-E56B25B53F31}"/>
              </a:ext>
            </a:extLst>
          </p:cNvPr>
          <p:cNvSpPr>
            <a:spLocks noGrp="1"/>
          </p:cNvSpPr>
          <p:nvPr/>
        </p:nvSpPr>
        <p:spPr>
          <a:xfrm>
            <a:off x="9591675" y="3905250"/>
            <a:ext cx="17716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CRM • ERP • notificações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916EDF10-C32B-4A82-B15E-1B238A8F7F24}"/>
              </a:ext>
            </a:extLst>
          </p:cNvPr>
          <p:cNvSpPr>
            <a:spLocks noGrp="1"/>
          </p:cNvSpPr>
          <p:nvPr/>
        </p:nvSpPr>
        <p:spPr>
          <a:xfrm>
            <a:off x="6572250" y="3886200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A359C00D-F40A-4A7D-BC68-725D2DA9BA3A}"/>
              </a:ext>
            </a:extLst>
          </p:cNvPr>
          <p:cNvSpPr>
            <a:spLocks noGrp="1"/>
          </p:cNvSpPr>
          <p:nvPr/>
        </p:nvSpPr>
        <p:spPr>
          <a:xfrm>
            <a:off x="6787444" y="3806472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C3C566A8-17F0-4801-9673-75F48E884544}"/>
              </a:ext>
            </a:extLst>
          </p:cNvPr>
          <p:cNvSpPr>
            <a:spLocks noGrp="1"/>
          </p:cNvSpPr>
          <p:nvPr/>
        </p:nvSpPr>
        <p:spPr>
          <a:xfrm>
            <a:off x="7002639" y="3726744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9742C97B-CF33-4CF0-B230-159421B83C36}"/>
              </a:ext>
            </a:extLst>
          </p:cNvPr>
          <p:cNvSpPr>
            <a:spLocks noGrp="1"/>
          </p:cNvSpPr>
          <p:nvPr/>
        </p:nvSpPr>
        <p:spPr>
          <a:xfrm>
            <a:off x="7217833" y="3647017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5CD1DD83-2A24-41DC-A128-1B1759E02451}"/>
              </a:ext>
            </a:extLst>
          </p:cNvPr>
          <p:cNvSpPr>
            <a:spLocks noGrp="1"/>
          </p:cNvSpPr>
          <p:nvPr/>
        </p:nvSpPr>
        <p:spPr>
          <a:xfrm>
            <a:off x="7433028" y="3567289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E815FB1C-3E7F-4F9E-8327-0770A722A517}"/>
              </a:ext>
            </a:extLst>
          </p:cNvPr>
          <p:cNvSpPr>
            <a:spLocks noGrp="1"/>
          </p:cNvSpPr>
          <p:nvPr/>
        </p:nvSpPr>
        <p:spPr>
          <a:xfrm>
            <a:off x="7648222" y="3487561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E2FAFB72-DCF6-4702-863E-6B42D3FE8B00}"/>
              </a:ext>
            </a:extLst>
          </p:cNvPr>
          <p:cNvSpPr>
            <a:spLocks noGrp="1"/>
          </p:cNvSpPr>
          <p:nvPr/>
        </p:nvSpPr>
        <p:spPr>
          <a:xfrm>
            <a:off x="7863417" y="3407833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6045F23E-0D70-438C-B5C7-C8E6D5409F93}"/>
              </a:ext>
            </a:extLst>
          </p:cNvPr>
          <p:cNvSpPr>
            <a:spLocks noGrp="1"/>
          </p:cNvSpPr>
          <p:nvPr/>
        </p:nvSpPr>
        <p:spPr>
          <a:xfrm>
            <a:off x="8078611" y="3328106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67AF6E7F-0921-47B1-BF7D-887FFA9397E1}"/>
              </a:ext>
            </a:extLst>
          </p:cNvPr>
          <p:cNvSpPr>
            <a:spLocks noGrp="1"/>
          </p:cNvSpPr>
          <p:nvPr/>
        </p:nvSpPr>
        <p:spPr>
          <a:xfrm>
            <a:off x="8293806" y="3248378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D5FA2D5A-BF3E-4BC1-B302-CB29D9966A9C}"/>
              </a:ext>
            </a:extLst>
          </p:cNvPr>
          <p:cNvSpPr>
            <a:spLocks noGrp="1"/>
          </p:cNvSpPr>
          <p:nvPr/>
        </p:nvSpPr>
        <p:spPr>
          <a:xfrm>
            <a:off x="8509000" y="3168650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9C51E181-3E05-4771-A1BC-434E81C3871B}"/>
              </a:ext>
            </a:extLst>
          </p:cNvPr>
          <p:cNvSpPr>
            <a:spLocks noGrp="1"/>
          </p:cNvSpPr>
          <p:nvPr/>
        </p:nvSpPr>
        <p:spPr>
          <a:xfrm>
            <a:off x="8724194" y="3088922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BCA6AE6A-CA79-4359-AF7B-C01C150F5D92}"/>
              </a:ext>
            </a:extLst>
          </p:cNvPr>
          <p:cNvSpPr>
            <a:spLocks noGrp="1"/>
          </p:cNvSpPr>
          <p:nvPr/>
        </p:nvSpPr>
        <p:spPr>
          <a:xfrm>
            <a:off x="8939389" y="3009194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0C05680E-8A96-45A1-A07A-57D140D72DC2}"/>
              </a:ext>
            </a:extLst>
          </p:cNvPr>
          <p:cNvSpPr>
            <a:spLocks noGrp="1"/>
          </p:cNvSpPr>
          <p:nvPr/>
        </p:nvSpPr>
        <p:spPr>
          <a:xfrm>
            <a:off x="9154583" y="2929467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28F68F4B-C7D6-41C5-A5A9-3D767E218481}"/>
              </a:ext>
            </a:extLst>
          </p:cNvPr>
          <p:cNvSpPr>
            <a:spLocks noGrp="1"/>
          </p:cNvSpPr>
          <p:nvPr/>
        </p:nvSpPr>
        <p:spPr>
          <a:xfrm>
            <a:off x="9369778" y="2849739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42628920-76BE-4C08-A6C6-84A72D0A364C}"/>
              </a:ext>
            </a:extLst>
          </p:cNvPr>
          <p:cNvSpPr>
            <a:spLocks noGrp="1"/>
          </p:cNvSpPr>
          <p:nvPr/>
        </p:nvSpPr>
        <p:spPr>
          <a:xfrm>
            <a:off x="6572250" y="3886200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6B542222-4663-4156-BFD7-FB46EC796A0B}"/>
              </a:ext>
            </a:extLst>
          </p:cNvPr>
          <p:cNvSpPr>
            <a:spLocks noGrp="1"/>
          </p:cNvSpPr>
          <p:nvPr/>
        </p:nvSpPr>
        <p:spPr>
          <a:xfrm>
            <a:off x="6804660" y="3876294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D6F08D71-205A-4BB4-8B1C-26D93058ABC4}"/>
              </a:ext>
            </a:extLst>
          </p:cNvPr>
          <p:cNvSpPr>
            <a:spLocks noGrp="1"/>
          </p:cNvSpPr>
          <p:nvPr/>
        </p:nvSpPr>
        <p:spPr>
          <a:xfrm>
            <a:off x="7037070" y="3866388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164DB18C-B559-4F5D-A904-EC47116AF520}"/>
              </a:ext>
            </a:extLst>
          </p:cNvPr>
          <p:cNvSpPr>
            <a:spLocks noGrp="1"/>
          </p:cNvSpPr>
          <p:nvPr/>
        </p:nvSpPr>
        <p:spPr>
          <a:xfrm>
            <a:off x="7269480" y="3856482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B96A16EF-12ED-4D45-898D-63707F540409}"/>
              </a:ext>
            </a:extLst>
          </p:cNvPr>
          <p:cNvSpPr>
            <a:spLocks noGrp="1"/>
          </p:cNvSpPr>
          <p:nvPr/>
        </p:nvSpPr>
        <p:spPr>
          <a:xfrm>
            <a:off x="7501890" y="3846576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4ECE6720-3AA4-4B94-8D9E-D13E02062786}"/>
              </a:ext>
            </a:extLst>
          </p:cNvPr>
          <p:cNvSpPr>
            <a:spLocks noGrp="1"/>
          </p:cNvSpPr>
          <p:nvPr/>
        </p:nvSpPr>
        <p:spPr>
          <a:xfrm>
            <a:off x="7734300" y="3836670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066D07DA-1766-4A32-AAB0-A919D4A750C1}"/>
              </a:ext>
            </a:extLst>
          </p:cNvPr>
          <p:cNvSpPr>
            <a:spLocks noGrp="1"/>
          </p:cNvSpPr>
          <p:nvPr/>
        </p:nvSpPr>
        <p:spPr>
          <a:xfrm>
            <a:off x="7966710" y="3826764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393A022E-763F-410A-8EEE-99891628261B}"/>
              </a:ext>
            </a:extLst>
          </p:cNvPr>
          <p:cNvSpPr>
            <a:spLocks noGrp="1"/>
          </p:cNvSpPr>
          <p:nvPr/>
        </p:nvSpPr>
        <p:spPr>
          <a:xfrm>
            <a:off x="8199120" y="3816858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87F7754B-EE98-40EF-806E-696C5FD474B4}"/>
              </a:ext>
            </a:extLst>
          </p:cNvPr>
          <p:cNvSpPr>
            <a:spLocks noGrp="1"/>
          </p:cNvSpPr>
          <p:nvPr/>
        </p:nvSpPr>
        <p:spPr>
          <a:xfrm>
            <a:off x="8431530" y="3806952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4FF2104-9CA5-45CB-9F5C-6109B84F8968}"/>
              </a:ext>
            </a:extLst>
          </p:cNvPr>
          <p:cNvSpPr>
            <a:spLocks noGrp="1"/>
          </p:cNvSpPr>
          <p:nvPr/>
        </p:nvSpPr>
        <p:spPr>
          <a:xfrm>
            <a:off x="8663940" y="3797046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402B5AC2-3CE9-40BB-9180-0074BBFBCDEC}"/>
              </a:ext>
            </a:extLst>
          </p:cNvPr>
          <p:cNvSpPr>
            <a:spLocks noGrp="1"/>
          </p:cNvSpPr>
          <p:nvPr/>
        </p:nvSpPr>
        <p:spPr>
          <a:xfrm>
            <a:off x="8896350" y="3787140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61BE456C-BF6B-4930-A525-8D8864A18358}"/>
              </a:ext>
            </a:extLst>
          </p:cNvPr>
          <p:cNvSpPr>
            <a:spLocks noGrp="1"/>
          </p:cNvSpPr>
          <p:nvPr/>
        </p:nvSpPr>
        <p:spPr>
          <a:xfrm>
            <a:off x="9128760" y="3777234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9F96FDC7-ACC5-44FB-9F0F-1503A0C40EAA}"/>
              </a:ext>
            </a:extLst>
          </p:cNvPr>
          <p:cNvSpPr>
            <a:spLocks noGrp="1"/>
          </p:cNvSpPr>
          <p:nvPr/>
        </p:nvSpPr>
        <p:spPr>
          <a:xfrm>
            <a:off x="9361170" y="3767328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Retângulo Arredondado 92">
            <a:extLst>
              <a:ext uri="{FF2B5EF4-FFF2-40B4-BE49-F238E27FC236}">
                <a16:creationId xmlns:a16="http://schemas.microsoft.com/office/drawing/2014/main" id="{CAF8B5EC-4B6F-4409-A695-2CB5E872C765}"/>
              </a:ext>
            </a:extLst>
          </p:cNvPr>
          <p:cNvSpPr>
            <a:spLocks noGrp="1"/>
          </p:cNvSpPr>
          <p:nvPr/>
        </p:nvSpPr>
        <p:spPr>
          <a:xfrm>
            <a:off x="2095500" y="5095875"/>
            <a:ext cx="9734550" cy="866775"/>
          </a:xfrm>
          <a:prstGeom prst="roundRect">
            <a:avLst>
              <a:gd name="adj" fmla="val 4396"/>
            </a:avLst>
          </a:prstGeom>
          <a:solidFill>
            <a:srgbClr val="F4F8FC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Retângulo 93">
            <a:extLst>
              <a:ext uri="{FF2B5EF4-FFF2-40B4-BE49-F238E27FC236}">
                <a16:creationId xmlns:a16="http://schemas.microsoft.com/office/drawing/2014/main" id="{44C8C4C9-2A87-4117-91AA-1BFF7DF0DFB3}"/>
              </a:ext>
            </a:extLst>
          </p:cNvPr>
          <p:cNvSpPr>
            <a:spLocks noGrp="1"/>
          </p:cNvSpPr>
          <p:nvPr/>
        </p:nvSpPr>
        <p:spPr>
          <a:xfrm>
            <a:off x="2305050" y="5219700"/>
            <a:ext cx="1714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F65B0"/>
                </a:solidFill>
              </a:defRPr>
            </a:pPr>
            <a:r>
              <a:rPr sz="1050" b="1">
                <a:solidFill>
                  <a:srgbClr val="2F65B0"/>
                </a:solidFill>
              </a:rPr>
              <a:t>Serviços transversais</a:t>
            </a:r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D009E548-86D2-4FCA-A4FB-25FC730206B1}"/>
              </a:ext>
            </a:extLst>
          </p:cNvPr>
          <p:cNvSpPr>
            <a:spLocks noGrp="1"/>
          </p:cNvSpPr>
          <p:nvPr/>
        </p:nvSpPr>
        <p:spPr>
          <a:xfrm>
            <a:off x="2305050" y="5514975"/>
            <a:ext cx="885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29272A"/>
                </a:solidFill>
              </a:defRPr>
            </a:pPr>
            <a:r>
              <a:rPr sz="1050" b="0">
                <a:solidFill>
                  <a:srgbClr val="29272A"/>
                </a:solidFill>
              </a:rPr>
              <a:t>OCI IAM Identity Domains  •  Vault  •  VCN/NSGs  •  Logging &amp; Monitoring  •  Audit  •  Object Storage  •  Notifications</a:t>
            </a:r>
          </a:p>
        </p:txBody>
      </p:sp>
      <p:sp>
        <p:nvSpPr>
          <p:cNvPr id="96" name="Seta para a Direita 95">
            <a:extLst>
              <a:ext uri="{FF2B5EF4-FFF2-40B4-BE49-F238E27FC236}">
                <a16:creationId xmlns:a16="http://schemas.microsoft.com/office/drawing/2014/main" id="{92FD96E5-F5EE-4AF6-9EF1-67DDB8A4A429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97BDC2D6-8E16-4A6A-A4DF-934BE4AC1854}"/>
              </a:ext>
            </a:extLst>
          </p:cNvPr>
          <p:cNvSpPr>
            <a:spLocks noGrp="1"/>
          </p:cNvSpPr>
          <p:nvPr/>
        </p:nvSpPr>
        <p:spPr>
          <a:xfrm>
            <a:off x="952500" y="610552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98" name="Retângulo 97">
            <a:extLst>
              <a:ext uri="{FF2B5EF4-FFF2-40B4-BE49-F238E27FC236}">
                <a16:creationId xmlns:a16="http://schemas.microsoft.com/office/drawing/2014/main" id="{098633DD-8049-44CA-8C1A-391DBFF1B181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9737D7D4-EA5A-43EE-B570-31D16616910B}"/>
              </a:ext>
            </a:extLst>
          </p:cNvPr>
          <p:cNvSpPr>
            <a:spLocks noGrp="1"/>
          </p:cNvSpPr>
          <p:nvPr/>
        </p:nvSpPr>
        <p:spPr>
          <a:xfrm>
            <a:off x="711200" y="63722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E3CECC2B-D8E0-42C2-9526-545D513E1D99}"/>
              </a:ext>
            </a:extLst>
          </p:cNvPr>
          <p:cNvSpPr>
            <a:spLocks noGrp="1"/>
          </p:cNvSpPr>
          <p:nvPr/>
        </p:nvSpPr>
        <p:spPr>
          <a:xfrm>
            <a:off x="952500" y="629602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53023DF9-CF18-4FAF-B130-45ACEABAAB26}"/>
              </a:ext>
            </a:extLst>
          </p:cNvPr>
          <p:cNvSpPr>
            <a:spLocks noGrp="1"/>
          </p:cNvSpPr>
          <p:nvPr/>
        </p:nvSpPr>
        <p:spPr>
          <a:xfrm>
            <a:off x="3143250" y="6153150"/>
            <a:ext cx="819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EDA: eventos isolam domínios | CQRS: escrita e leitura escalam independentemente</a:t>
            </a:r>
          </a:p>
        </p:txBody>
      </p:sp>
    </p:spTree>
    <p:extLst>
      <p:ext uri="{BB962C8B-B14F-4D97-AF65-F5344CB8AC3E}">
        <p14:creationId xmlns:p14="http://schemas.microsoft.com/office/powerpoint/2010/main" val="990180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tângulo 84">
            <a:extLst>
              <a:ext uri="{FF2B5EF4-FFF2-40B4-BE49-F238E27FC236}">
                <a16:creationId xmlns:a16="http://schemas.microsoft.com/office/drawing/2014/main" id="{C4E5BDB5-C6D4-467A-BE67-D4A4662F6D3E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>
                <a:solidFill>
                  <a:srgbClr val="29272A"/>
                </a:solidFill>
              </a:rPr>
              <a:t>Arquitetura técnica — fluxo confiável de EDA + CQRS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3C98018-5680-4E68-B9E5-5C0F7685E01C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Comandos síncronos, publicação transacional e projeções assíncronas com segurança de rede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1F0F18A-D42D-421B-88EE-7185F6436FE1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39ACDE39-1461-405A-BEB5-7925BC2B2A33}"/>
              </a:ext>
            </a:extLst>
          </p:cNvPr>
          <p:cNvSpPr>
            <a:spLocks noGrp="1"/>
          </p:cNvSpPr>
          <p:nvPr/>
        </p:nvSpPr>
        <p:spPr>
          <a:xfrm>
            <a:off x="361950" y="1409700"/>
            <a:ext cx="1447800" cy="447675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71650CE-FE94-474F-8EC6-5737AF44B4F6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Sistemas</a:t>
            </a:r>
          </a:p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clientes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C77E2B6-A3A8-4550-9FBE-733E9CFE77A0}"/>
              </a:ext>
            </a:extLst>
          </p:cNvPr>
          <p:cNvSpPr>
            <a:spLocks noGrp="1"/>
          </p:cNvSpPr>
          <p:nvPr/>
        </p:nvSpPr>
        <p:spPr>
          <a:xfrm>
            <a:off x="495300" y="1924050"/>
            <a:ext cx="1181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Web • mobile • integrações</a:t>
            </a:r>
          </a:p>
        </p:txBody>
      </p:sp>
      <p:pic>
        <p:nvPicPr>
          <p:cNvPr id="91" name="Imagem 9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775" y="2459971"/>
            <a:ext cx="428625" cy="42358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04A7F2CF-CF1A-4DB0-8271-E3956736BE40}"/>
              </a:ext>
            </a:extLst>
          </p:cNvPr>
          <p:cNvSpPr>
            <a:spLocks noGrp="1"/>
          </p:cNvSpPr>
          <p:nvPr/>
        </p:nvSpPr>
        <p:spPr>
          <a:xfrm>
            <a:off x="619125" y="3114675"/>
            <a:ext cx="933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 • batch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parceiros</a:t>
            </a:r>
          </a:p>
        </p:txBody>
      </p:sp>
      <p:sp>
        <p:nvSpPr>
          <p:cNvPr id="9" name="Retângulo Arredondado 8">
            <a:extLst>
              <a:ext uri="{FF2B5EF4-FFF2-40B4-BE49-F238E27FC236}">
                <a16:creationId xmlns:a16="http://schemas.microsoft.com/office/drawing/2014/main" id="{1257E3DB-666E-43FB-A937-71764DC56097}"/>
              </a:ext>
            </a:extLst>
          </p:cNvPr>
          <p:cNvSpPr>
            <a:spLocks noGrp="1"/>
          </p:cNvSpPr>
          <p:nvPr/>
        </p:nvSpPr>
        <p:spPr>
          <a:xfrm>
            <a:off x="2009775" y="1409700"/>
            <a:ext cx="7905750" cy="4476750"/>
          </a:xfrm>
          <a:prstGeom prst="roundRect">
            <a:avLst>
              <a:gd name="adj" fmla="val 851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6944375-81AC-418B-81BB-54BAA4B63EE7}"/>
              </a:ext>
            </a:extLst>
          </p:cNvPr>
          <p:cNvSpPr>
            <a:spLocks noGrp="1"/>
          </p:cNvSpPr>
          <p:nvPr/>
        </p:nvSpPr>
        <p:spPr>
          <a:xfrm>
            <a:off x="2143125" y="1504950"/>
            <a:ext cx="7639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OCI — região ativa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CC5723E-5864-43F1-9F62-4B65F61D5EB8}"/>
              </a:ext>
            </a:extLst>
          </p:cNvPr>
          <p:cNvSpPr>
            <a:spLocks noGrp="1"/>
          </p:cNvSpPr>
          <p:nvPr/>
        </p:nvSpPr>
        <p:spPr>
          <a:xfrm>
            <a:off x="2143125" y="1733550"/>
            <a:ext cx="7639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Compartment edacqrs-prod</a:t>
            </a:r>
          </a:p>
        </p:txBody>
      </p:sp>
      <p:sp>
        <p:nvSpPr>
          <p:cNvPr id="12" name="Retângulo Arredondado 11">
            <a:extLst>
              <a:ext uri="{FF2B5EF4-FFF2-40B4-BE49-F238E27FC236}">
                <a16:creationId xmlns:a16="http://schemas.microsoft.com/office/drawing/2014/main" id="{F48385B4-7DF8-4221-BEC9-DC695B4FA99F}"/>
              </a:ext>
            </a:extLst>
          </p:cNvPr>
          <p:cNvSpPr>
            <a:spLocks noGrp="1"/>
          </p:cNvSpPr>
          <p:nvPr/>
        </p:nvSpPr>
        <p:spPr>
          <a:xfrm>
            <a:off x="2238375" y="1752600"/>
            <a:ext cx="7429500" cy="262890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CEA2196-0E30-4D12-911E-1E55AE76BC78}"/>
              </a:ext>
            </a:extLst>
          </p:cNvPr>
          <p:cNvSpPr>
            <a:spLocks noGrp="1"/>
          </p:cNvSpPr>
          <p:nvPr/>
        </p:nvSpPr>
        <p:spPr>
          <a:xfrm>
            <a:off x="2371725" y="1847850"/>
            <a:ext cx="7162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VCN da aplicação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B200B52-B043-4F51-808D-18087BFA8B43}"/>
              </a:ext>
            </a:extLst>
          </p:cNvPr>
          <p:cNvSpPr>
            <a:spLocks noGrp="1"/>
          </p:cNvSpPr>
          <p:nvPr/>
        </p:nvSpPr>
        <p:spPr>
          <a:xfrm>
            <a:off x="2371725" y="2076450"/>
            <a:ext cx="7162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Sub-redes privadas • NSGs restritivos • egress controlado</a:t>
            </a:r>
          </a:p>
        </p:txBody>
      </p:sp>
      <p:sp>
        <p:nvSpPr>
          <p:cNvPr id="15" name="Retângulo Arredondado 14">
            <a:extLst>
              <a:ext uri="{FF2B5EF4-FFF2-40B4-BE49-F238E27FC236}">
                <a16:creationId xmlns:a16="http://schemas.microsoft.com/office/drawing/2014/main" id="{5F23E668-29AE-4207-A206-00DFEFEB5D1B}"/>
              </a:ext>
            </a:extLst>
          </p:cNvPr>
          <p:cNvSpPr>
            <a:spLocks noGrp="1"/>
          </p:cNvSpPr>
          <p:nvPr/>
        </p:nvSpPr>
        <p:spPr>
          <a:xfrm>
            <a:off x="2466975" y="2076450"/>
            <a:ext cx="6972300" cy="1952625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BF4F9E81-5C5F-48D2-8263-E630032831FC}"/>
              </a:ext>
            </a:extLst>
          </p:cNvPr>
          <p:cNvSpPr>
            <a:spLocks noGrp="1"/>
          </p:cNvSpPr>
          <p:nvPr/>
        </p:nvSpPr>
        <p:spPr>
          <a:xfrm>
            <a:off x="2600325" y="2171700"/>
            <a:ext cx="670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Sub-rede de aplicação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800FD09D-283B-451C-A20D-E21C0A640204}"/>
              </a:ext>
            </a:extLst>
          </p:cNvPr>
          <p:cNvSpPr>
            <a:spLocks noGrp="1"/>
          </p:cNvSpPr>
          <p:nvPr/>
        </p:nvSpPr>
        <p:spPr>
          <a:xfrm>
            <a:off x="2600325" y="2400300"/>
            <a:ext cx="67056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Serviços internos; nenhuma exposição pública direta</a:t>
            </a:r>
          </a:p>
        </p:txBody>
      </p:sp>
      <p:sp>
        <p:nvSpPr>
          <p:cNvPr id="18" name="Retângulo Arredondado 17">
            <a:extLst>
              <a:ext uri="{FF2B5EF4-FFF2-40B4-BE49-F238E27FC236}">
                <a16:creationId xmlns:a16="http://schemas.microsoft.com/office/drawing/2014/main" id="{DDB1A617-1168-4E92-B367-32B88C5FA1C2}"/>
              </a:ext>
            </a:extLst>
          </p:cNvPr>
          <p:cNvSpPr>
            <a:spLocks noGrp="1"/>
          </p:cNvSpPr>
          <p:nvPr/>
        </p:nvSpPr>
        <p:spPr>
          <a:xfrm>
            <a:off x="2705100" y="2571750"/>
            <a:ext cx="1390650" cy="97155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44B9F25-3EC2-4E88-A280-26D81774E22B}"/>
              </a:ext>
            </a:extLst>
          </p:cNvPr>
          <p:cNvSpPr>
            <a:spLocks noGrp="1"/>
          </p:cNvSpPr>
          <p:nvPr/>
        </p:nvSpPr>
        <p:spPr>
          <a:xfrm>
            <a:off x="2705100" y="2571750"/>
            <a:ext cx="13906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D92E530-F595-457D-B2EB-029C0CAE3207}"/>
              </a:ext>
            </a:extLst>
          </p:cNvPr>
          <p:cNvSpPr>
            <a:spLocks noGrp="1"/>
          </p:cNvSpPr>
          <p:nvPr/>
        </p:nvSpPr>
        <p:spPr>
          <a:xfrm>
            <a:off x="2819400" y="2714625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 Gateway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F0D7502-C31B-4C0A-8B16-DDC2CAADA002}"/>
              </a:ext>
            </a:extLst>
          </p:cNvPr>
          <p:cNvSpPr>
            <a:spLocks noGrp="1"/>
          </p:cNvSpPr>
          <p:nvPr/>
        </p:nvSpPr>
        <p:spPr>
          <a:xfrm>
            <a:off x="2819400" y="3067050"/>
            <a:ext cx="11620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Private endpoint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JWT / throttling</a:t>
            </a:r>
          </a:p>
        </p:txBody>
      </p:sp>
      <p:sp>
        <p:nvSpPr>
          <p:cNvPr id="22" name="Seta para a Direita 21">
            <a:extLst>
              <a:ext uri="{FF2B5EF4-FFF2-40B4-BE49-F238E27FC236}">
                <a16:creationId xmlns:a16="http://schemas.microsoft.com/office/drawing/2014/main" id="{EB6D7F2E-CB7C-4235-AC95-C8566A1D01E5}"/>
              </a:ext>
            </a:extLst>
          </p:cNvPr>
          <p:cNvSpPr>
            <a:spLocks noGrp="1"/>
          </p:cNvSpPr>
          <p:nvPr/>
        </p:nvSpPr>
        <p:spPr>
          <a:xfrm>
            <a:off x="4105275" y="2990850"/>
            <a:ext cx="35242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BAA4EA89-7F05-40F6-BA61-EC4ACB0C4B80}"/>
              </a:ext>
            </a:extLst>
          </p:cNvPr>
          <p:cNvSpPr>
            <a:spLocks noGrp="1"/>
          </p:cNvSpPr>
          <p:nvPr/>
        </p:nvSpPr>
        <p:spPr>
          <a:xfrm>
            <a:off x="4038600" y="2800350"/>
            <a:ext cx="4857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command</a:t>
            </a: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F274E516-626A-4240-B0EF-FA143C357030}"/>
              </a:ext>
            </a:extLst>
          </p:cNvPr>
          <p:cNvSpPr>
            <a:spLocks noGrp="1"/>
          </p:cNvSpPr>
          <p:nvPr/>
        </p:nvSpPr>
        <p:spPr>
          <a:xfrm>
            <a:off x="4552950" y="2571750"/>
            <a:ext cx="1428750" cy="97155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56EB1A39-ABD6-4C66-8770-900B096184DF}"/>
              </a:ext>
            </a:extLst>
          </p:cNvPr>
          <p:cNvSpPr>
            <a:spLocks noGrp="1"/>
          </p:cNvSpPr>
          <p:nvPr/>
        </p:nvSpPr>
        <p:spPr>
          <a:xfrm>
            <a:off x="4552950" y="2571750"/>
            <a:ext cx="14287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6AA61F3-9641-4513-99CA-5372946C8DC0}"/>
              </a:ext>
            </a:extLst>
          </p:cNvPr>
          <p:cNvSpPr>
            <a:spLocks noGrp="1"/>
          </p:cNvSpPr>
          <p:nvPr/>
        </p:nvSpPr>
        <p:spPr>
          <a:xfrm>
            <a:off x="4667250" y="2714625"/>
            <a:ext cx="1200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Command API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9DCCAD90-B80A-40F3-B40E-C44B0D112D2D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2001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Functions /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validação + outbox</a:t>
            </a:r>
          </a:p>
        </p:txBody>
      </p:sp>
      <p:sp>
        <p:nvSpPr>
          <p:cNvPr id="28" name="Seta para a Direita 27">
            <a:extLst>
              <a:ext uri="{FF2B5EF4-FFF2-40B4-BE49-F238E27FC236}">
                <a16:creationId xmlns:a16="http://schemas.microsoft.com/office/drawing/2014/main" id="{E4028D56-4AC0-41E9-85B6-DABFF2579EAA}"/>
              </a:ext>
            </a:extLst>
          </p:cNvPr>
          <p:cNvSpPr>
            <a:spLocks noGrp="1"/>
          </p:cNvSpPr>
          <p:nvPr/>
        </p:nvSpPr>
        <p:spPr>
          <a:xfrm>
            <a:off x="5991225" y="2990850"/>
            <a:ext cx="3619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DBCB310-FA7B-45F4-B7B0-E8B75A1747F1}"/>
              </a:ext>
            </a:extLst>
          </p:cNvPr>
          <p:cNvSpPr>
            <a:spLocks noGrp="1"/>
          </p:cNvSpPr>
          <p:nvPr/>
        </p:nvSpPr>
        <p:spPr>
          <a:xfrm>
            <a:off x="5924550" y="2800350"/>
            <a:ext cx="495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publish</a:t>
            </a:r>
          </a:p>
        </p:txBody>
      </p:sp>
      <p:sp>
        <p:nvSpPr>
          <p:cNvPr id="30" name="Retângulo Arredondado 29">
            <a:extLst>
              <a:ext uri="{FF2B5EF4-FFF2-40B4-BE49-F238E27FC236}">
                <a16:creationId xmlns:a16="http://schemas.microsoft.com/office/drawing/2014/main" id="{C6810B7C-2ED2-4121-BE56-8FFED4067667}"/>
              </a:ext>
            </a:extLst>
          </p:cNvPr>
          <p:cNvSpPr>
            <a:spLocks noGrp="1"/>
          </p:cNvSpPr>
          <p:nvPr/>
        </p:nvSpPr>
        <p:spPr>
          <a:xfrm>
            <a:off x="6438900" y="2571750"/>
            <a:ext cx="1352550" cy="97155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818A6DC2-0427-4C47-B656-BE5DB9D31FF9}"/>
              </a:ext>
            </a:extLst>
          </p:cNvPr>
          <p:cNvSpPr>
            <a:spLocks noGrp="1"/>
          </p:cNvSpPr>
          <p:nvPr/>
        </p:nvSpPr>
        <p:spPr>
          <a:xfrm>
            <a:off x="6438900" y="2571750"/>
            <a:ext cx="135255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19FBC71E-E860-4A9A-8611-5833E7B41C78}"/>
              </a:ext>
            </a:extLst>
          </p:cNvPr>
          <p:cNvSpPr>
            <a:spLocks noGrp="1"/>
          </p:cNvSpPr>
          <p:nvPr/>
        </p:nvSpPr>
        <p:spPr>
          <a:xfrm>
            <a:off x="6553200" y="2714625"/>
            <a:ext cx="1123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Streaming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with Apache Kafka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43CEF52F-AF67-448A-B761-4F610A34EEAD}"/>
              </a:ext>
            </a:extLst>
          </p:cNvPr>
          <p:cNvSpPr>
            <a:spLocks noGrp="1"/>
          </p:cNvSpPr>
          <p:nvPr/>
        </p:nvSpPr>
        <p:spPr>
          <a:xfrm>
            <a:off x="6553200" y="3067050"/>
            <a:ext cx="11239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Kafka privado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3+ partitions</a:t>
            </a:r>
          </a:p>
        </p:txBody>
      </p:sp>
      <p:sp>
        <p:nvSpPr>
          <p:cNvPr id="34" name="Seta para a Direita 33">
            <a:extLst>
              <a:ext uri="{FF2B5EF4-FFF2-40B4-BE49-F238E27FC236}">
                <a16:creationId xmlns:a16="http://schemas.microsoft.com/office/drawing/2014/main" id="{A90AF2D9-4328-49F3-A3A1-21F7FED7EE1A}"/>
              </a:ext>
            </a:extLst>
          </p:cNvPr>
          <p:cNvSpPr>
            <a:spLocks noGrp="1"/>
          </p:cNvSpPr>
          <p:nvPr/>
        </p:nvSpPr>
        <p:spPr>
          <a:xfrm>
            <a:off x="7800975" y="2990850"/>
            <a:ext cx="3619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19221639-5610-4956-8F3F-D080F52EF597}"/>
              </a:ext>
            </a:extLst>
          </p:cNvPr>
          <p:cNvSpPr>
            <a:spLocks noGrp="1"/>
          </p:cNvSpPr>
          <p:nvPr/>
        </p:nvSpPr>
        <p:spPr>
          <a:xfrm>
            <a:off x="7734300" y="2800350"/>
            <a:ext cx="495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consume</a:t>
            </a:r>
          </a:p>
        </p:txBody>
      </p:sp>
      <p:sp>
        <p:nvSpPr>
          <p:cNvPr id="36" name="Retângulo Arredondado 35">
            <a:extLst>
              <a:ext uri="{FF2B5EF4-FFF2-40B4-BE49-F238E27FC236}">
                <a16:creationId xmlns:a16="http://schemas.microsoft.com/office/drawing/2014/main" id="{599E4533-02DE-4FB2-A850-5223AEBCDB4B}"/>
              </a:ext>
            </a:extLst>
          </p:cNvPr>
          <p:cNvSpPr>
            <a:spLocks noGrp="1"/>
          </p:cNvSpPr>
          <p:nvPr/>
        </p:nvSpPr>
        <p:spPr>
          <a:xfrm>
            <a:off x="8248650" y="2571750"/>
            <a:ext cx="952500" cy="971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E7AD5036-D33D-4075-94FF-B3F2B8BA16D9}"/>
              </a:ext>
            </a:extLst>
          </p:cNvPr>
          <p:cNvSpPr>
            <a:spLocks noGrp="1"/>
          </p:cNvSpPr>
          <p:nvPr/>
        </p:nvSpPr>
        <p:spPr>
          <a:xfrm>
            <a:off x="8248650" y="2571750"/>
            <a:ext cx="95250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8BC5244C-C368-46AB-B8F7-1FC0B1C709A8}"/>
              </a:ext>
            </a:extLst>
          </p:cNvPr>
          <p:cNvSpPr>
            <a:spLocks noGrp="1"/>
          </p:cNvSpPr>
          <p:nvPr/>
        </p:nvSpPr>
        <p:spPr>
          <a:xfrm>
            <a:off x="8362950" y="2714625"/>
            <a:ext cx="723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Workers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BFD1DB36-28BA-4844-AC98-3076CE612422}"/>
              </a:ext>
            </a:extLst>
          </p:cNvPr>
          <p:cNvSpPr>
            <a:spLocks noGrp="1"/>
          </p:cNvSpPr>
          <p:nvPr/>
        </p:nvSpPr>
        <p:spPr>
          <a:xfrm>
            <a:off x="8362950" y="3067050"/>
            <a:ext cx="7239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projeção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read model</a:t>
            </a:r>
          </a:p>
        </p:txBody>
      </p:sp>
      <p:sp>
        <p:nvSpPr>
          <p:cNvPr id="40" name="Seta para Baixo 39">
            <a:extLst>
              <a:ext uri="{FF2B5EF4-FFF2-40B4-BE49-F238E27FC236}">
                <a16:creationId xmlns:a16="http://schemas.microsoft.com/office/drawing/2014/main" id="{C3CB903E-A5E1-4453-AC34-058588E6C8F6}"/>
              </a:ext>
            </a:extLst>
          </p:cNvPr>
          <p:cNvSpPr>
            <a:spLocks noGrp="1"/>
          </p:cNvSpPr>
          <p:nvPr/>
        </p:nvSpPr>
        <p:spPr>
          <a:xfrm>
            <a:off x="5191125" y="3543300"/>
            <a:ext cx="123825" cy="504825"/>
          </a:xfrm>
          <a:prstGeom prst="downArrow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7A93BCF2-A771-421C-85A1-880D4FE1BFBC}"/>
              </a:ext>
            </a:extLst>
          </p:cNvPr>
          <p:cNvSpPr>
            <a:spLocks noGrp="1"/>
          </p:cNvSpPr>
          <p:nvPr/>
        </p:nvSpPr>
        <p:spPr>
          <a:xfrm>
            <a:off x="5324475" y="3729038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TX</a:t>
            </a:r>
          </a:p>
        </p:txBody>
      </p:sp>
      <p:sp>
        <p:nvSpPr>
          <p:cNvPr id="42" name="Retângulo Arredondado 41">
            <a:extLst>
              <a:ext uri="{FF2B5EF4-FFF2-40B4-BE49-F238E27FC236}">
                <a16:creationId xmlns:a16="http://schemas.microsoft.com/office/drawing/2014/main" id="{E4B8D89F-8681-4341-83F0-89A8A18AD812}"/>
              </a:ext>
            </a:extLst>
          </p:cNvPr>
          <p:cNvSpPr>
            <a:spLocks noGrp="1"/>
          </p:cNvSpPr>
          <p:nvPr/>
        </p:nvSpPr>
        <p:spPr>
          <a:xfrm>
            <a:off x="4552950" y="4305300"/>
            <a:ext cx="1428750" cy="69532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81F4027F-3D3F-4432-AFFB-2EAE49989C15}"/>
              </a:ext>
            </a:extLst>
          </p:cNvPr>
          <p:cNvSpPr>
            <a:spLocks noGrp="1"/>
          </p:cNvSpPr>
          <p:nvPr/>
        </p:nvSpPr>
        <p:spPr>
          <a:xfrm>
            <a:off x="4552950" y="4305300"/>
            <a:ext cx="14287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43ADA48A-810A-4AE3-AA84-65656DA06A4C}"/>
              </a:ext>
            </a:extLst>
          </p:cNvPr>
          <p:cNvSpPr>
            <a:spLocks noGrp="1"/>
          </p:cNvSpPr>
          <p:nvPr/>
        </p:nvSpPr>
        <p:spPr>
          <a:xfrm>
            <a:off x="4667250" y="4448175"/>
            <a:ext cx="1200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ADB write model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FAA1281D-4E83-423B-9136-2C9161ABF18E}"/>
              </a:ext>
            </a:extLst>
          </p:cNvPr>
          <p:cNvSpPr>
            <a:spLocks noGrp="1"/>
          </p:cNvSpPr>
          <p:nvPr/>
        </p:nvSpPr>
        <p:spPr>
          <a:xfrm>
            <a:off x="4667250" y="4800600"/>
            <a:ext cx="12001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ACID + outbox</a:t>
            </a:r>
          </a:p>
        </p:txBody>
      </p:sp>
      <p:sp>
        <p:nvSpPr>
          <p:cNvPr id="46" name="Seta para Baixo 45">
            <a:extLst>
              <a:ext uri="{FF2B5EF4-FFF2-40B4-BE49-F238E27FC236}">
                <a16:creationId xmlns:a16="http://schemas.microsoft.com/office/drawing/2014/main" id="{E8835807-CF94-4E30-A01F-A3E98F59D971}"/>
              </a:ext>
            </a:extLst>
          </p:cNvPr>
          <p:cNvSpPr>
            <a:spLocks noGrp="1"/>
          </p:cNvSpPr>
          <p:nvPr/>
        </p:nvSpPr>
        <p:spPr>
          <a:xfrm>
            <a:off x="8667750" y="3543300"/>
            <a:ext cx="123825" cy="504825"/>
          </a:xfrm>
          <a:prstGeom prst="downArrow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99F94A8D-1430-4E53-B012-0DA061EAEE86}"/>
              </a:ext>
            </a:extLst>
          </p:cNvPr>
          <p:cNvSpPr>
            <a:spLocks noGrp="1"/>
          </p:cNvSpPr>
          <p:nvPr/>
        </p:nvSpPr>
        <p:spPr>
          <a:xfrm>
            <a:off x="8801100" y="3729038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upsert</a:t>
            </a:r>
          </a:p>
        </p:txBody>
      </p:sp>
      <p:sp>
        <p:nvSpPr>
          <p:cNvPr id="48" name="Retângulo Arredondado 47">
            <a:extLst>
              <a:ext uri="{FF2B5EF4-FFF2-40B4-BE49-F238E27FC236}">
                <a16:creationId xmlns:a16="http://schemas.microsoft.com/office/drawing/2014/main" id="{156C2CE0-35E0-46D6-B97B-81C7909DFA23}"/>
              </a:ext>
            </a:extLst>
          </p:cNvPr>
          <p:cNvSpPr>
            <a:spLocks noGrp="1"/>
          </p:cNvSpPr>
          <p:nvPr/>
        </p:nvSpPr>
        <p:spPr>
          <a:xfrm>
            <a:off x="8020050" y="4305300"/>
            <a:ext cx="1381125" cy="69532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1C4FC4D5-299C-4AFC-BD31-0880FFA179B4}"/>
              </a:ext>
            </a:extLst>
          </p:cNvPr>
          <p:cNvSpPr>
            <a:spLocks noGrp="1"/>
          </p:cNvSpPr>
          <p:nvPr/>
        </p:nvSpPr>
        <p:spPr>
          <a:xfrm>
            <a:off x="8020050" y="4305300"/>
            <a:ext cx="1381125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27461DAD-C5CF-485F-A0F8-0C3DD0A70C2A}"/>
              </a:ext>
            </a:extLst>
          </p:cNvPr>
          <p:cNvSpPr>
            <a:spLocks noGrp="1"/>
          </p:cNvSpPr>
          <p:nvPr/>
        </p:nvSpPr>
        <p:spPr>
          <a:xfrm>
            <a:off x="8134350" y="4448175"/>
            <a:ext cx="11525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NoSQL read model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2B5DD5CC-77B6-4F38-97E1-577AB1EE6B92}"/>
              </a:ext>
            </a:extLst>
          </p:cNvPr>
          <p:cNvSpPr>
            <a:spLocks noGrp="1"/>
          </p:cNvSpPr>
          <p:nvPr/>
        </p:nvSpPr>
        <p:spPr>
          <a:xfrm>
            <a:off x="8134350" y="4800600"/>
            <a:ext cx="1152525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consulta rápida</a:t>
            </a:r>
          </a:p>
        </p:txBody>
      </p:sp>
      <p:sp>
        <p:nvSpPr>
          <p:cNvPr id="52" name="Retângulo Arredondado 51">
            <a:extLst>
              <a:ext uri="{FF2B5EF4-FFF2-40B4-BE49-F238E27FC236}">
                <a16:creationId xmlns:a16="http://schemas.microsoft.com/office/drawing/2014/main" id="{79E29CC8-5DB4-4C7B-88D9-65BAF4CD1556}"/>
              </a:ext>
            </a:extLst>
          </p:cNvPr>
          <p:cNvSpPr>
            <a:spLocks noGrp="1"/>
          </p:cNvSpPr>
          <p:nvPr/>
        </p:nvSpPr>
        <p:spPr>
          <a:xfrm>
            <a:off x="2400300" y="5219700"/>
            <a:ext cx="7143750" cy="495300"/>
          </a:xfrm>
          <a:prstGeom prst="roundRect">
            <a:avLst>
              <a:gd name="adj" fmla="val 7692"/>
            </a:avLst>
          </a:prstGeom>
          <a:solidFill>
            <a:srgbClr val="FAF5FC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0D441619-9AFC-45BA-A6BE-E88E60742597}"/>
              </a:ext>
            </a:extLst>
          </p:cNvPr>
          <p:cNvSpPr>
            <a:spLocks noGrp="1"/>
          </p:cNvSpPr>
          <p:nvPr/>
        </p:nvSpPr>
        <p:spPr>
          <a:xfrm>
            <a:off x="2571750" y="5372100"/>
            <a:ext cx="6819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Garantias: at-least-once • idempotency key • consumer offset após sucesso • retry exponencial • DLQ • schema versionado</a:t>
            </a:r>
          </a:p>
        </p:txBody>
      </p:sp>
      <p:sp>
        <p:nvSpPr>
          <p:cNvPr id="54" name="Retângulo Arredondado 53">
            <a:extLst>
              <a:ext uri="{FF2B5EF4-FFF2-40B4-BE49-F238E27FC236}">
                <a16:creationId xmlns:a16="http://schemas.microsoft.com/office/drawing/2014/main" id="{D95E3723-BA0A-40AD-A883-8D46446193A3}"/>
              </a:ext>
            </a:extLst>
          </p:cNvPr>
          <p:cNvSpPr>
            <a:spLocks noGrp="1"/>
          </p:cNvSpPr>
          <p:nvPr/>
        </p:nvSpPr>
        <p:spPr>
          <a:xfrm>
            <a:off x="10096500" y="1409700"/>
            <a:ext cx="1714500" cy="207645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194D5368-1D9F-4F2A-878B-B6A4B2F64C83}"/>
              </a:ext>
            </a:extLst>
          </p:cNvPr>
          <p:cNvSpPr>
            <a:spLocks noGrp="1"/>
          </p:cNvSpPr>
          <p:nvPr/>
        </p:nvSpPr>
        <p:spPr>
          <a:xfrm>
            <a:off x="10229850" y="1504950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5B0"/>
                </a:solidFill>
              </a:defRPr>
            </a:pPr>
            <a:r>
              <a:rPr sz="1200" b="1">
                <a:solidFill>
                  <a:srgbClr val="2F65B0"/>
                </a:solidFill>
              </a:rPr>
              <a:t>OCI Control Plane</a:t>
            </a:r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192DC8AD-CC45-497F-BF11-0C4512AA1B90}"/>
              </a:ext>
            </a:extLst>
          </p:cNvPr>
          <p:cNvSpPr>
            <a:spLocks noGrp="1"/>
          </p:cNvSpPr>
          <p:nvPr/>
        </p:nvSpPr>
        <p:spPr>
          <a:xfrm>
            <a:off x="10229850" y="1733550"/>
            <a:ext cx="1447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Provisionamento e identidade</a:t>
            </a:r>
          </a:p>
        </p:txBody>
      </p:sp>
      <p:sp>
        <p:nvSpPr>
          <p:cNvPr id="57" name="Retângulo Arredondado 56">
            <a:extLst>
              <a:ext uri="{FF2B5EF4-FFF2-40B4-BE49-F238E27FC236}">
                <a16:creationId xmlns:a16="http://schemas.microsoft.com/office/drawing/2014/main" id="{E7061C42-437D-421C-8A37-9C699111407F}"/>
              </a:ext>
            </a:extLst>
          </p:cNvPr>
          <p:cNvSpPr>
            <a:spLocks noGrp="1"/>
          </p:cNvSpPr>
          <p:nvPr/>
        </p:nvSpPr>
        <p:spPr>
          <a:xfrm>
            <a:off x="10258425" y="2047875"/>
            <a:ext cx="1390650" cy="809625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700AE58D-1D71-4FE6-8491-40880103C63F}"/>
              </a:ext>
            </a:extLst>
          </p:cNvPr>
          <p:cNvSpPr>
            <a:spLocks noGrp="1"/>
          </p:cNvSpPr>
          <p:nvPr/>
        </p:nvSpPr>
        <p:spPr>
          <a:xfrm>
            <a:off x="10258425" y="2047875"/>
            <a:ext cx="139065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70A354ED-4553-4784-9879-88BDF0084849}"/>
              </a:ext>
            </a:extLst>
          </p:cNvPr>
          <p:cNvSpPr>
            <a:spLocks noGrp="1"/>
          </p:cNvSpPr>
          <p:nvPr/>
        </p:nvSpPr>
        <p:spPr>
          <a:xfrm>
            <a:off x="10372725" y="219075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IAM + Vault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2EB74371-791A-4630-ADB2-2A7523B0D953}"/>
              </a:ext>
            </a:extLst>
          </p:cNvPr>
          <p:cNvSpPr>
            <a:spLocks noGrp="1"/>
          </p:cNvSpPr>
          <p:nvPr/>
        </p:nvSpPr>
        <p:spPr>
          <a:xfrm>
            <a:off x="10372725" y="2543175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principals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secrets + chaves</a:t>
            </a:r>
          </a:p>
        </p:txBody>
      </p:sp>
      <p:sp>
        <p:nvSpPr>
          <p:cNvPr id="61" name="Retângulo Arredondado 60">
            <a:extLst>
              <a:ext uri="{FF2B5EF4-FFF2-40B4-BE49-F238E27FC236}">
                <a16:creationId xmlns:a16="http://schemas.microsoft.com/office/drawing/2014/main" id="{A0C45CE5-87CD-4CB6-B599-DB18CBF9351E}"/>
              </a:ext>
            </a:extLst>
          </p:cNvPr>
          <p:cNvSpPr>
            <a:spLocks noGrp="1"/>
          </p:cNvSpPr>
          <p:nvPr/>
        </p:nvSpPr>
        <p:spPr>
          <a:xfrm>
            <a:off x="10258425" y="3067050"/>
            <a:ext cx="1390650" cy="8001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1E56C5B5-70EB-4C5A-8F50-75EBC0D97058}"/>
              </a:ext>
            </a:extLst>
          </p:cNvPr>
          <p:cNvSpPr>
            <a:spLocks noGrp="1"/>
          </p:cNvSpPr>
          <p:nvPr/>
        </p:nvSpPr>
        <p:spPr>
          <a:xfrm>
            <a:off x="10258425" y="3067050"/>
            <a:ext cx="139065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D3E73564-23F8-4796-8CAB-B0588625A5E9}"/>
              </a:ext>
            </a:extLst>
          </p:cNvPr>
          <p:cNvSpPr>
            <a:spLocks noGrp="1"/>
          </p:cNvSpPr>
          <p:nvPr/>
        </p:nvSpPr>
        <p:spPr>
          <a:xfrm>
            <a:off x="10372725" y="3209925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Terraform / CI-CD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55F5A228-5AA0-43B1-A404-A5449B3E910E}"/>
              </a:ext>
            </a:extLst>
          </p:cNvPr>
          <p:cNvSpPr>
            <a:spLocks noGrp="1"/>
          </p:cNvSpPr>
          <p:nvPr/>
        </p:nvSpPr>
        <p:spPr>
          <a:xfrm>
            <a:off x="10372725" y="3562350"/>
            <a:ext cx="1162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plan • apply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rollback</a:t>
            </a:r>
          </a:p>
        </p:txBody>
      </p:sp>
      <p:sp>
        <p:nvSpPr>
          <p:cNvPr id="65" name="Retângulo Arredondado 64">
            <a:extLst>
              <a:ext uri="{FF2B5EF4-FFF2-40B4-BE49-F238E27FC236}">
                <a16:creationId xmlns:a16="http://schemas.microsoft.com/office/drawing/2014/main" id="{733040BB-1220-4BCA-9E36-A91FD2BF7353}"/>
              </a:ext>
            </a:extLst>
          </p:cNvPr>
          <p:cNvSpPr>
            <a:spLocks noGrp="1"/>
          </p:cNvSpPr>
          <p:nvPr/>
        </p:nvSpPr>
        <p:spPr>
          <a:xfrm>
            <a:off x="10096500" y="4114800"/>
            <a:ext cx="1714500" cy="177165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BDDD0A60-0F9F-454C-B0EF-D402F04C590F}"/>
              </a:ext>
            </a:extLst>
          </p:cNvPr>
          <p:cNvSpPr>
            <a:spLocks noGrp="1"/>
          </p:cNvSpPr>
          <p:nvPr/>
        </p:nvSpPr>
        <p:spPr>
          <a:xfrm>
            <a:off x="10229850" y="4210050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4D8155"/>
                </a:solidFill>
              </a:defRPr>
            </a:pPr>
            <a:r>
              <a:rPr sz="1200" b="1">
                <a:solidFill>
                  <a:srgbClr val="4D8155"/>
                </a:solidFill>
              </a:rPr>
              <a:t>Observabilidade</a:t>
            </a:r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716D6C04-4E08-4A8C-8232-2B2F481AB814}"/>
              </a:ext>
            </a:extLst>
          </p:cNvPr>
          <p:cNvSpPr>
            <a:spLocks noGrp="1"/>
          </p:cNvSpPr>
          <p:nvPr/>
        </p:nvSpPr>
        <p:spPr>
          <a:xfrm>
            <a:off x="10229850" y="4438650"/>
            <a:ext cx="1447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Operação SRE</a:t>
            </a:r>
          </a:p>
        </p:txBody>
      </p:sp>
      <p:sp>
        <p:nvSpPr>
          <p:cNvPr id="68" name="Retângulo Arredondado 67">
            <a:extLst>
              <a:ext uri="{FF2B5EF4-FFF2-40B4-BE49-F238E27FC236}">
                <a16:creationId xmlns:a16="http://schemas.microsoft.com/office/drawing/2014/main" id="{5E2B0E09-1720-4DAE-9B20-0F52D4070551}"/>
              </a:ext>
            </a:extLst>
          </p:cNvPr>
          <p:cNvSpPr>
            <a:spLocks noGrp="1"/>
          </p:cNvSpPr>
          <p:nvPr/>
        </p:nvSpPr>
        <p:spPr>
          <a:xfrm>
            <a:off x="10258425" y="4648200"/>
            <a:ext cx="1390650" cy="8763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F771F7BB-7A65-4F9C-BB09-BCE8EDF97706}"/>
              </a:ext>
            </a:extLst>
          </p:cNvPr>
          <p:cNvSpPr>
            <a:spLocks noGrp="1"/>
          </p:cNvSpPr>
          <p:nvPr/>
        </p:nvSpPr>
        <p:spPr>
          <a:xfrm>
            <a:off x="10258425" y="4648200"/>
            <a:ext cx="139065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A9B1410D-DB78-4478-B552-5FA9A4F50DF6}"/>
              </a:ext>
            </a:extLst>
          </p:cNvPr>
          <p:cNvSpPr>
            <a:spLocks noGrp="1"/>
          </p:cNvSpPr>
          <p:nvPr/>
        </p:nvSpPr>
        <p:spPr>
          <a:xfrm>
            <a:off x="10372725" y="4791075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Logging &amp; Monitoring</a:t>
            </a:r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DA39E747-3FCE-494A-9F86-D1BAB65137CC}"/>
              </a:ext>
            </a:extLst>
          </p:cNvPr>
          <p:cNvSpPr>
            <a:spLocks noGrp="1"/>
          </p:cNvSpPr>
          <p:nvPr/>
        </p:nvSpPr>
        <p:spPr>
          <a:xfrm>
            <a:off x="10372725" y="514350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lag • P95 • DLQ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alarmes + tracing</a:t>
            </a:r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DB5FC08E-CB87-4A15-87CA-A2A0C4D3699E}"/>
              </a:ext>
            </a:extLst>
          </p:cNvPr>
          <p:cNvSpPr>
            <a:spLocks noGrp="1"/>
          </p:cNvSpPr>
          <p:nvPr/>
        </p:nvSpPr>
        <p:spPr>
          <a:xfrm>
            <a:off x="9525000" y="2514600"/>
            <a:ext cx="138113" cy="19050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048D094A-83E1-460C-8579-FC2A9D9BE1E0}"/>
              </a:ext>
            </a:extLst>
          </p:cNvPr>
          <p:cNvSpPr>
            <a:spLocks noGrp="1"/>
          </p:cNvSpPr>
          <p:nvPr/>
        </p:nvSpPr>
        <p:spPr>
          <a:xfrm>
            <a:off x="9763125" y="2514600"/>
            <a:ext cx="138113" cy="19050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C069FC22-AFC4-4B57-8036-C1730955DF5B}"/>
              </a:ext>
            </a:extLst>
          </p:cNvPr>
          <p:cNvSpPr>
            <a:spLocks noGrp="1"/>
          </p:cNvSpPr>
          <p:nvPr/>
        </p:nvSpPr>
        <p:spPr>
          <a:xfrm>
            <a:off x="10001250" y="2514600"/>
            <a:ext cx="138113" cy="19050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1A3EEB2A-2855-4A7D-AEC3-2656E42A1AC7}"/>
              </a:ext>
            </a:extLst>
          </p:cNvPr>
          <p:cNvSpPr>
            <a:spLocks noGrp="1"/>
          </p:cNvSpPr>
          <p:nvPr/>
        </p:nvSpPr>
        <p:spPr>
          <a:xfrm>
            <a:off x="9525000" y="4810125"/>
            <a:ext cx="138113" cy="6667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8A015B3D-B786-4A61-A2A1-590C49507089}"/>
              </a:ext>
            </a:extLst>
          </p:cNvPr>
          <p:cNvSpPr>
            <a:spLocks noGrp="1"/>
          </p:cNvSpPr>
          <p:nvPr/>
        </p:nvSpPr>
        <p:spPr>
          <a:xfrm>
            <a:off x="9763125" y="4905375"/>
            <a:ext cx="138113" cy="6667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5A79CC13-D56F-4FEA-9E33-AC6D8F55BF95}"/>
              </a:ext>
            </a:extLst>
          </p:cNvPr>
          <p:cNvSpPr>
            <a:spLocks noGrp="1"/>
          </p:cNvSpPr>
          <p:nvPr/>
        </p:nvSpPr>
        <p:spPr>
          <a:xfrm>
            <a:off x="10001250" y="5000625"/>
            <a:ext cx="138113" cy="6667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1D675671-5F64-495C-B244-82CDF8B0ED2E}"/>
              </a:ext>
            </a:extLst>
          </p:cNvPr>
          <p:cNvSpPr>
            <a:spLocks noGrp="1"/>
          </p:cNvSpPr>
          <p:nvPr/>
        </p:nvSpPr>
        <p:spPr>
          <a:xfrm>
            <a:off x="5715000" y="5734050"/>
            <a:ext cx="19050" cy="176213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DA55173F-5F09-4368-8ADB-843BA4A4C711}"/>
              </a:ext>
            </a:extLst>
          </p:cNvPr>
          <p:cNvSpPr>
            <a:spLocks noGrp="1"/>
          </p:cNvSpPr>
          <p:nvPr/>
        </p:nvSpPr>
        <p:spPr>
          <a:xfrm>
            <a:off x="2381250" y="6191250"/>
            <a:ext cx="714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655F5A"/>
                </a:solidFill>
              </a:defRPr>
            </a:pPr>
            <a:r>
              <a:rPr sz="900" b="1">
                <a:solidFill>
                  <a:srgbClr val="655F5A"/>
                </a:solidFill>
              </a:rPr>
              <a:t>Fluxo sólido: dados | Pontilhado: operação, segurança e automação</a:t>
            </a:r>
          </a:p>
        </p:txBody>
      </p:sp>
      <p:sp>
        <p:nvSpPr>
          <p:cNvPr id="80" name="Seta para a Direita 79">
            <a:extLst>
              <a:ext uri="{FF2B5EF4-FFF2-40B4-BE49-F238E27FC236}">
                <a16:creationId xmlns:a16="http://schemas.microsoft.com/office/drawing/2014/main" id="{E496C8F8-44AC-43D8-9CB7-61E6C0B1C773}"/>
              </a:ext>
            </a:extLst>
          </p:cNvPr>
          <p:cNvSpPr>
            <a:spLocks noGrp="1"/>
          </p:cNvSpPr>
          <p:nvPr/>
        </p:nvSpPr>
        <p:spPr>
          <a:xfrm>
            <a:off x="10001250" y="621030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676A0175-8DE2-4B73-883E-EEA42F9FEE2C}"/>
              </a:ext>
            </a:extLst>
          </p:cNvPr>
          <p:cNvSpPr>
            <a:spLocks noGrp="1"/>
          </p:cNvSpPr>
          <p:nvPr/>
        </p:nvSpPr>
        <p:spPr>
          <a:xfrm>
            <a:off x="10496550" y="618172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F222378D-8EDD-4C3F-81BD-74C7762B7216}"/>
              </a:ext>
            </a:extLst>
          </p:cNvPr>
          <p:cNvSpPr>
            <a:spLocks noGrp="1"/>
          </p:cNvSpPr>
          <p:nvPr/>
        </p:nvSpPr>
        <p:spPr>
          <a:xfrm>
            <a:off x="10001250" y="64484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B95509A0-FAFA-4014-9418-13BFE6144444}"/>
              </a:ext>
            </a:extLst>
          </p:cNvPr>
          <p:cNvSpPr>
            <a:spLocks noGrp="1"/>
          </p:cNvSpPr>
          <p:nvPr/>
        </p:nvSpPr>
        <p:spPr>
          <a:xfrm>
            <a:off x="10255250" y="64484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0D756C3C-D9F0-444F-8B15-6E7A5E11291F}"/>
              </a:ext>
            </a:extLst>
          </p:cNvPr>
          <p:cNvSpPr>
            <a:spLocks noGrp="1"/>
          </p:cNvSpPr>
          <p:nvPr/>
        </p:nvSpPr>
        <p:spPr>
          <a:xfrm>
            <a:off x="10496550" y="637222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</p:spTree>
    <p:extLst>
      <p:ext uri="{BB962C8B-B14F-4D97-AF65-F5344CB8AC3E}">
        <p14:creationId xmlns:p14="http://schemas.microsoft.com/office/powerpoint/2010/main" val="1864031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tângulo 93">
            <a:extLst>
              <a:ext uri="{FF2B5EF4-FFF2-40B4-BE49-F238E27FC236}">
                <a16:creationId xmlns:a16="http://schemas.microsoft.com/office/drawing/2014/main" id="{B5BE5EA9-1E7A-4C51-9D21-731B65F6DF6F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>
                <a:solidFill>
                  <a:srgbClr val="29272A"/>
                </a:solidFill>
              </a:rPr>
              <a:t>Fluxo de negócio — pedido omnicanal orientado a eventos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88EAE83-98A4-436C-BEF4-CD82B7A9F9F6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Cenário fictício: varejista Aurora integra loja, aplicativo, estoque, pagamento e logística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19A21C1-FAA1-4FF1-81FD-99719F29ADA1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60AD15BC-9723-4D21-96E8-30CD6AA7C2FC}"/>
              </a:ext>
            </a:extLst>
          </p:cNvPr>
          <p:cNvSpPr>
            <a:spLocks noGrp="1"/>
          </p:cNvSpPr>
          <p:nvPr/>
        </p:nvSpPr>
        <p:spPr>
          <a:xfrm>
            <a:off x="361950" y="1409700"/>
            <a:ext cx="1428750" cy="42386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41B54D7-4F71-4934-9130-C8E88CF8892D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Canais de pedido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0E527EC-7092-445F-8776-075822DBA1AE}"/>
              </a:ext>
            </a:extLst>
          </p:cNvPr>
          <p:cNvSpPr>
            <a:spLocks noGrp="1"/>
          </p:cNvSpPr>
          <p:nvPr/>
        </p:nvSpPr>
        <p:spPr>
          <a:xfrm>
            <a:off x="495300" y="1733550"/>
            <a:ext cx="1162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Origem do comando</a:t>
            </a:r>
          </a:p>
        </p:txBody>
      </p:sp>
      <p:pic>
        <p:nvPicPr>
          <p:cNvPr id="100" name="Imagem 9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775" y="1974140"/>
            <a:ext cx="419100" cy="414169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6E4278C5-31E3-4399-8D49-A8FF0248E21B}"/>
              </a:ext>
            </a:extLst>
          </p:cNvPr>
          <p:cNvSpPr>
            <a:spLocks noGrp="1"/>
          </p:cNvSpPr>
          <p:nvPr/>
        </p:nvSpPr>
        <p:spPr>
          <a:xfrm>
            <a:off x="571500" y="2562225"/>
            <a:ext cx="1009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Loja • App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Marketplace</a:t>
            </a:r>
          </a:p>
        </p:txBody>
      </p:sp>
      <p:sp>
        <p:nvSpPr>
          <p:cNvPr id="9" name="Retângulo Arredondado 8">
            <a:extLst>
              <a:ext uri="{FF2B5EF4-FFF2-40B4-BE49-F238E27FC236}">
                <a16:creationId xmlns:a16="http://schemas.microsoft.com/office/drawing/2014/main" id="{26519CAD-9959-426A-9AE9-965AD28B0215}"/>
              </a:ext>
            </a:extLst>
          </p:cNvPr>
          <p:cNvSpPr>
            <a:spLocks noGrp="1"/>
          </p:cNvSpPr>
          <p:nvPr/>
        </p:nvSpPr>
        <p:spPr>
          <a:xfrm>
            <a:off x="2000250" y="1409700"/>
            <a:ext cx="8001000" cy="4238625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246E669-6151-4772-A6F5-AFD553D17420}"/>
              </a:ext>
            </a:extLst>
          </p:cNvPr>
          <p:cNvSpPr>
            <a:spLocks noGrp="1"/>
          </p:cNvSpPr>
          <p:nvPr/>
        </p:nvSpPr>
        <p:spPr>
          <a:xfrm>
            <a:off x="2133600" y="1504950"/>
            <a:ext cx="7734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Plataforma de pedidos EDA + CQRS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A4F3707-8142-4D4E-90C2-F198C6297E2E}"/>
              </a:ext>
            </a:extLst>
          </p:cNvPr>
          <p:cNvSpPr>
            <a:spLocks noGrp="1"/>
          </p:cNvSpPr>
          <p:nvPr/>
        </p:nvSpPr>
        <p:spPr>
          <a:xfrm>
            <a:off x="2133600" y="1733550"/>
            <a:ext cx="7734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Um comando aceita a intenção; eventos coordenam as áreas de negócio</a:t>
            </a:r>
          </a:p>
        </p:txBody>
      </p:sp>
      <p:sp>
        <p:nvSpPr>
          <p:cNvPr id="12" name="Retângulo Arredondado 11">
            <a:extLst>
              <a:ext uri="{FF2B5EF4-FFF2-40B4-BE49-F238E27FC236}">
                <a16:creationId xmlns:a16="http://schemas.microsoft.com/office/drawing/2014/main" id="{9D84F3CB-3805-438C-BF27-9CBF7FA06494}"/>
              </a:ext>
            </a:extLst>
          </p:cNvPr>
          <p:cNvSpPr>
            <a:spLocks noGrp="1"/>
          </p:cNvSpPr>
          <p:nvPr/>
        </p:nvSpPr>
        <p:spPr>
          <a:xfrm>
            <a:off x="282892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C74634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14D4CE7-B179-432D-805C-67E574A247F5}"/>
              </a:ext>
            </a:extLst>
          </p:cNvPr>
          <p:cNvSpPr>
            <a:spLocks noGrp="1"/>
          </p:cNvSpPr>
          <p:nvPr/>
        </p:nvSpPr>
        <p:spPr>
          <a:xfrm>
            <a:off x="282892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Retângulo Arredondado 13">
            <a:extLst>
              <a:ext uri="{FF2B5EF4-FFF2-40B4-BE49-F238E27FC236}">
                <a16:creationId xmlns:a16="http://schemas.microsoft.com/office/drawing/2014/main" id="{D77B1FC7-96AD-4F5E-B43D-A5D717856826}"/>
              </a:ext>
            </a:extLst>
          </p:cNvPr>
          <p:cNvSpPr>
            <a:spLocks noGrp="1"/>
          </p:cNvSpPr>
          <p:nvPr/>
        </p:nvSpPr>
        <p:spPr>
          <a:xfrm>
            <a:off x="232410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34441B0-8A76-4887-8537-01A9360E1274}"/>
              </a:ext>
            </a:extLst>
          </p:cNvPr>
          <p:cNvSpPr>
            <a:spLocks noGrp="1"/>
          </p:cNvSpPr>
          <p:nvPr/>
        </p:nvSpPr>
        <p:spPr>
          <a:xfrm>
            <a:off x="2324100" y="2571750"/>
            <a:ext cx="14478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FA74626-AAD7-4378-AEFC-1F00D06769F1}"/>
              </a:ext>
            </a:extLst>
          </p:cNvPr>
          <p:cNvSpPr>
            <a:spLocks noGrp="1"/>
          </p:cNvSpPr>
          <p:nvPr/>
        </p:nvSpPr>
        <p:spPr>
          <a:xfrm>
            <a:off x="243840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Criar pedido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62586E94-9842-4D00-BDA8-A4A00CEE1B99}"/>
              </a:ext>
            </a:extLst>
          </p:cNvPr>
          <p:cNvSpPr>
            <a:spLocks noGrp="1"/>
          </p:cNvSpPr>
          <p:nvPr/>
        </p:nvSpPr>
        <p:spPr>
          <a:xfrm>
            <a:off x="243840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API Gateway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+ Command API</a:t>
            </a:r>
          </a:p>
        </p:txBody>
      </p:sp>
      <p:sp>
        <p:nvSpPr>
          <p:cNvPr id="18" name="Seta para a Direita 17">
            <a:extLst>
              <a:ext uri="{FF2B5EF4-FFF2-40B4-BE49-F238E27FC236}">
                <a16:creationId xmlns:a16="http://schemas.microsoft.com/office/drawing/2014/main" id="{9F3C063E-3D9E-40B0-B5F5-7ABAD2A13528}"/>
              </a:ext>
            </a:extLst>
          </p:cNvPr>
          <p:cNvSpPr>
            <a:spLocks noGrp="1"/>
          </p:cNvSpPr>
          <p:nvPr/>
        </p:nvSpPr>
        <p:spPr>
          <a:xfrm>
            <a:off x="3771900" y="2990850"/>
            <a:ext cx="1333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Arredondado 18">
            <a:extLst>
              <a:ext uri="{FF2B5EF4-FFF2-40B4-BE49-F238E27FC236}">
                <a16:creationId xmlns:a16="http://schemas.microsoft.com/office/drawing/2014/main" id="{22ABF40B-A196-4BB0-9960-B6BCFCBBB631}"/>
              </a:ext>
            </a:extLst>
          </p:cNvPr>
          <p:cNvSpPr>
            <a:spLocks noGrp="1"/>
          </p:cNvSpPr>
          <p:nvPr/>
        </p:nvSpPr>
        <p:spPr>
          <a:xfrm>
            <a:off x="441007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C74634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8B6389CF-4C19-4B5B-8032-5A571CD3AF3D}"/>
              </a:ext>
            </a:extLst>
          </p:cNvPr>
          <p:cNvSpPr>
            <a:spLocks noGrp="1"/>
          </p:cNvSpPr>
          <p:nvPr/>
        </p:nvSpPr>
        <p:spPr>
          <a:xfrm>
            <a:off x="441007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tângulo Arredondado 20">
            <a:extLst>
              <a:ext uri="{FF2B5EF4-FFF2-40B4-BE49-F238E27FC236}">
                <a16:creationId xmlns:a16="http://schemas.microsoft.com/office/drawing/2014/main" id="{A8AB691B-5F8E-4E1D-B286-FB56DE7E29D7}"/>
              </a:ext>
            </a:extLst>
          </p:cNvPr>
          <p:cNvSpPr>
            <a:spLocks noGrp="1"/>
          </p:cNvSpPr>
          <p:nvPr/>
        </p:nvSpPr>
        <p:spPr>
          <a:xfrm>
            <a:off x="390525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8B768FC-AFB8-4C02-9D7F-FDDDEBB9DCCC}"/>
              </a:ext>
            </a:extLst>
          </p:cNvPr>
          <p:cNvSpPr>
            <a:spLocks noGrp="1"/>
          </p:cNvSpPr>
          <p:nvPr/>
        </p:nvSpPr>
        <p:spPr>
          <a:xfrm>
            <a:off x="3905250" y="2571750"/>
            <a:ext cx="14478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CF21B38-5723-495D-A8BD-8575B9A29BEC}"/>
              </a:ext>
            </a:extLst>
          </p:cNvPr>
          <p:cNvSpPr>
            <a:spLocks noGrp="1"/>
          </p:cNvSpPr>
          <p:nvPr/>
        </p:nvSpPr>
        <p:spPr>
          <a:xfrm>
            <a:off x="401955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Confirmar pedido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7F961948-DF11-402C-B869-BA2D80E45E86}"/>
              </a:ext>
            </a:extLst>
          </p:cNvPr>
          <p:cNvSpPr>
            <a:spLocks noGrp="1"/>
          </p:cNvSpPr>
          <p:nvPr/>
        </p:nvSpPr>
        <p:spPr>
          <a:xfrm>
            <a:off x="401955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ADB write model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+ outbox</a:t>
            </a:r>
          </a:p>
        </p:txBody>
      </p:sp>
      <p:sp>
        <p:nvSpPr>
          <p:cNvPr id="25" name="Seta para a Direita 24">
            <a:extLst>
              <a:ext uri="{FF2B5EF4-FFF2-40B4-BE49-F238E27FC236}">
                <a16:creationId xmlns:a16="http://schemas.microsoft.com/office/drawing/2014/main" id="{97EFBC52-738D-45E2-928B-741F40ED20C0}"/>
              </a:ext>
            </a:extLst>
          </p:cNvPr>
          <p:cNvSpPr>
            <a:spLocks noGrp="1"/>
          </p:cNvSpPr>
          <p:nvPr/>
        </p:nvSpPr>
        <p:spPr>
          <a:xfrm>
            <a:off x="5353050" y="2990850"/>
            <a:ext cx="1333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Retângulo Arredondado 25">
            <a:extLst>
              <a:ext uri="{FF2B5EF4-FFF2-40B4-BE49-F238E27FC236}">
                <a16:creationId xmlns:a16="http://schemas.microsoft.com/office/drawing/2014/main" id="{BFCDBF0E-7DC0-4D94-B360-3CEC990623B5}"/>
              </a:ext>
            </a:extLst>
          </p:cNvPr>
          <p:cNvSpPr>
            <a:spLocks noGrp="1"/>
          </p:cNvSpPr>
          <p:nvPr/>
        </p:nvSpPr>
        <p:spPr>
          <a:xfrm>
            <a:off x="599122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6E3A8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3303CA32-4074-49C6-A5DA-0CC3099962D7}"/>
              </a:ext>
            </a:extLst>
          </p:cNvPr>
          <p:cNvSpPr>
            <a:spLocks noGrp="1"/>
          </p:cNvSpPr>
          <p:nvPr/>
        </p:nvSpPr>
        <p:spPr>
          <a:xfrm>
            <a:off x="599122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tângulo Arredondado 27">
            <a:extLst>
              <a:ext uri="{FF2B5EF4-FFF2-40B4-BE49-F238E27FC236}">
                <a16:creationId xmlns:a16="http://schemas.microsoft.com/office/drawing/2014/main" id="{1AD7E8B0-0D50-457F-B929-14C9E4D59272}"/>
              </a:ext>
            </a:extLst>
          </p:cNvPr>
          <p:cNvSpPr>
            <a:spLocks noGrp="1"/>
          </p:cNvSpPr>
          <p:nvPr/>
        </p:nvSpPr>
        <p:spPr>
          <a:xfrm>
            <a:off x="548640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45CBEE0-D347-4B9F-A81D-A051CFAA9E18}"/>
              </a:ext>
            </a:extLst>
          </p:cNvPr>
          <p:cNvSpPr>
            <a:spLocks noGrp="1"/>
          </p:cNvSpPr>
          <p:nvPr/>
        </p:nvSpPr>
        <p:spPr>
          <a:xfrm>
            <a:off x="5486400" y="2571750"/>
            <a:ext cx="144780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613B47F4-DDAA-4E51-A7FC-3DECE443D211}"/>
              </a:ext>
            </a:extLst>
          </p:cNvPr>
          <p:cNvSpPr>
            <a:spLocks noGrp="1"/>
          </p:cNvSpPr>
          <p:nvPr/>
        </p:nvSpPr>
        <p:spPr>
          <a:xfrm>
            <a:off x="560070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Publicar evento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DD5BA6EE-322A-46F0-9BCE-C542B847A691}"/>
              </a:ext>
            </a:extLst>
          </p:cNvPr>
          <p:cNvSpPr>
            <a:spLocks noGrp="1"/>
          </p:cNvSpPr>
          <p:nvPr/>
        </p:nvSpPr>
        <p:spPr>
          <a:xfrm>
            <a:off x="560070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Kafka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OrderCreated.v1</a:t>
            </a:r>
          </a:p>
        </p:txBody>
      </p:sp>
      <p:sp>
        <p:nvSpPr>
          <p:cNvPr id="32" name="Seta para a Direita 31">
            <a:extLst>
              <a:ext uri="{FF2B5EF4-FFF2-40B4-BE49-F238E27FC236}">
                <a16:creationId xmlns:a16="http://schemas.microsoft.com/office/drawing/2014/main" id="{56E80B6C-060D-4713-B6C6-60D7DC7D06AE}"/>
              </a:ext>
            </a:extLst>
          </p:cNvPr>
          <p:cNvSpPr>
            <a:spLocks noGrp="1"/>
          </p:cNvSpPr>
          <p:nvPr/>
        </p:nvSpPr>
        <p:spPr>
          <a:xfrm>
            <a:off x="6934200" y="2990850"/>
            <a:ext cx="133350" cy="123825"/>
          </a:xfrm>
          <a:prstGeom prst="rightArrow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Retângulo Arredondado 32">
            <a:extLst>
              <a:ext uri="{FF2B5EF4-FFF2-40B4-BE49-F238E27FC236}">
                <a16:creationId xmlns:a16="http://schemas.microsoft.com/office/drawing/2014/main" id="{F833B073-67E6-4BB3-B757-DFDA08836833}"/>
              </a:ext>
            </a:extLst>
          </p:cNvPr>
          <p:cNvSpPr>
            <a:spLocks noGrp="1"/>
          </p:cNvSpPr>
          <p:nvPr/>
        </p:nvSpPr>
        <p:spPr>
          <a:xfrm>
            <a:off x="757237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4D8155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7BC14314-30CF-4184-AA22-3F55CCD490D1}"/>
              </a:ext>
            </a:extLst>
          </p:cNvPr>
          <p:cNvSpPr>
            <a:spLocks noGrp="1"/>
          </p:cNvSpPr>
          <p:nvPr/>
        </p:nvSpPr>
        <p:spPr>
          <a:xfrm>
            <a:off x="757237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Retângulo Arredondado 34">
            <a:extLst>
              <a:ext uri="{FF2B5EF4-FFF2-40B4-BE49-F238E27FC236}">
                <a16:creationId xmlns:a16="http://schemas.microsoft.com/office/drawing/2014/main" id="{171EF452-2A77-4B72-8FFE-35F854DBEFC7}"/>
              </a:ext>
            </a:extLst>
          </p:cNvPr>
          <p:cNvSpPr>
            <a:spLocks noGrp="1"/>
          </p:cNvSpPr>
          <p:nvPr/>
        </p:nvSpPr>
        <p:spPr>
          <a:xfrm>
            <a:off x="706755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520CEFC0-442D-4AD5-AE7B-927FA93DFEB6}"/>
              </a:ext>
            </a:extLst>
          </p:cNvPr>
          <p:cNvSpPr>
            <a:spLocks noGrp="1"/>
          </p:cNvSpPr>
          <p:nvPr/>
        </p:nvSpPr>
        <p:spPr>
          <a:xfrm>
            <a:off x="7067550" y="2571750"/>
            <a:ext cx="144780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C1941BED-B1F6-4A63-9C24-665212C48FD5}"/>
              </a:ext>
            </a:extLst>
          </p:cNvPr>
          <p:cNvSpPr>
            <a:spLocks noGrp="1"/>
          </p:cNvSpPr>
          <p:nvPr/>
        </p:nvSpPr>
        <p:spPr>
          <a:xfrm>
            <a:off x="718185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Processar domínios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5EAA080E-9D8E-4CF3-BD65-F251529A51C6}"/>
              </a:ext>
            </a:extLst>
          </p:cNvPr>
          <p:cNvSpPr>
            <a:spLocks noGrp="1"/>
          </p:cNvSpPr>
          <p:nvPr/>
        </p:nvSpPr>
        <p:spPr>
          <a:xfrm>
            <a:off x="718185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Estoque • pagamento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logística</a:t>
            </a:r>
          </a:p>
        </p:txBody>
      </p:sp>
      <p:sp>
        <p:nvSpPr>
          <p:cNvPr id="39" name="Seta para a Direita 38">
            <a:extLst>
              <a:ext uri="{FF2B5EF4-FFF2-40B4-BE49-F238E27FC236}">
                <a16:creationId xmlns:a16="http://schemas.microsoft.com/office/drawing/2014/main" id="{37DFD5F0-8CED-4307-A143-01F93BC8A7DE}"/>
              </a:ext>
            </a:extLst>
          </p:cNvPr>
          <p:cNvSpPr>
            <a:spLocks noGrp="1"/>
          </p:cNvSpPr>
          <p:nvPr/>
        </p:nvSpPr>
        <p:spPr>
          <a:xfrm>
            <a:off x="8515350" y="2990850"/>
            <a:ext cx="1333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Retângulo Arredondado 39">
            <a:extLst>
              <a:ext uri="{FF2B5EF4-FFF2-40B4-BE49-F238E27FC236}">
                <a16:creationId xmlns:a16="http://schemas.microsoft.com/office/drawing/2014/main" id="{BE71D2B0-6260-4CA4-A9B4-F80B61DF2419}"/>
              </a:ext>
            </a:extLst>
          </p:cNvPr>
          <p:cNvSpPr>
            <a:spLocks noGrp="1"/>
          </p:cNvSpPr>
          <p:nvPr/>
        </p:nvSpPr>
        <p:spPr>
          <a:xfrm>
            <a:off x="915352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2F65B0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277CD5A2-E2AD-4F9A-9641-CF3014D86C0A}"/>
              </a:ext>
            </a:extLst>
          </p:cNvPr>
          <p:cNvSpPr>
            <a:spLocks noGrp="1"/>
          </p:cNvSpPr>
          <p:nvPr/>
        </p:nvSpPr>
        <p:spPr>
          <a:xfrm>
            <a:off x="915352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Retângulo Arredondado 41">
            <a:extLst>
              <a:ext uri="{FF2B5EF4-FFF2-40B4-BE49-F238E27FC236}">
                <a16:creationId xmlns:a16="http://schemas.microsoft.com/office/drawing/2014/main" id="{623BF6EC-79A4-4E82-AC16-94849FF681D7}"/>
              </a:ext>
            </a:extLst>
          </p:cNvPr>
          <p:cNvSpPr>
            <a:spLocks noGrp="1"/>
          </p:cNvSpPr>
          <p:nvPr/>
        </p:nvSpPr>
        <p:spPr>
          <a:xfrm>
            <a:off x="864870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37373C22-AF48-450F-9D47-A62B12ABA822}"/>
              </a:ext>
            </a:extLst>
          </p:cNvPr>
          <p:cNvSpPr>
            <a:spLocks noGrp="1"/>
          </p:cNvSpPr>
          <p:nvPr/>
        </p:nvSpPr>
        <p:spPr>
          <a:xfrm>
            <a:off x="8648700" y="2571750"/>
            <a:ext cx="144780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6D7CD96E-1AAF-442C-9335-BAD16D3EB189}"/>
              </a:ext>
            </a:extLst>
          </p:cNvPr>
          <p:cNvSpPr>
            <a:spLocks noGrp="1"/>
          </p:cNvSpPr>
          <p:nvPr/>
        </p:nvSpPr>
        <p:spPr>
          <a:xfrm>
            <a:off x="876300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Consultar status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D1B72228-4F1D-4D6C-86CF-26CFA36C98C8}"/>
              </a:ext>
            </a:extLst>
          </p:cNvPr>
          <p:cNvSpPr>
            <a:spLocks noGrp="1"/>
          </p:cNvSpPr>
          <p:nvPr/>
        </p:nvSpPr>
        <p:spPr>
          <a:xfrm>
            <a:off x="876300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NoSQL read model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GET /orders</a:t>
            </a:r>
          </a:p>
        </p:txBody>
      </p:sp>
      <p:sp>
        <p:nvSpPr>
          <p:cNvPr id="46" name="Seta para a Direita 45">
            <a:extLst>
              <a:ext uri="{FF2B5EF4-FFF2-40B4-BE49-F238E27FC236}">
                <a16:creationId xmlns:a16="http://schemas.microsoft.com/office/drawing/2014/main" id="{2F082914-A03B-47E5-B7B2-AE05474C7A01}"/>
              </a:ext>
            </a:extLst>
          </p:cNvPr>
          <p:cNvSpPr>
            <a:spLocks noGrp="1"/>
          </p:cNvSpPr>
          <p:nvPr/>
        </p:nvSpPr>
        <p:spPr>
          <a:xfrm>
            <a:off x="1790700" y="2990850"/>
            <a:ext cx="49530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3ABF7C02-56D3-4787-9730-DC30CAB8863F}"/>
              </a:ext>
            </a:extLst>
          </p:cNvPr>
          <p:cNvSpPr>
            <a:spLocks noGrp="1"/>
          </p:cNvSpPr>
          <p:nvPr/>
        </p:nvSpPr>
        <p:spPr>
          <a:xfrm>
            <a:off x="1724025" y="2800350"/>
            <a:ext cx="628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POST /orders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751AD939-6FEB-45AD-9875-DC23C79C6C93}"/>
              </a:ext>
            </a:extLst>
          </p:cNvPr>
          <p:cNvSpPr>
            <a:spLocks noGrp="1"/>
          </p:cNvSpPr>
          <p:nvPr/>
        </p:nvSpPr>
        <p:spPr>
          <a:xfrm>
            <a:off x="6191250" y="2324100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D4FB10D6-6A94-4B81-90D7-EB401BAF8C9C}"/>
              </a:ext>
            </a:extLst>
          </p:cNvPr>
          <p:cNvSpPr>
            <a:spLocks noGrp="1"/>
          </p:cNvSpPr>
          <p:nvPr/>
        </p:nvSpPr>
        <p:spPr>
          <a:xfrm>
            <a:off x="6191250" y="2560544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31CDBAD3-9360-42EA-947C-DF0635D9FB1A}"/>
              </a:ext>
            </a:extLst>
          </p:cNvPr>
          <p:cNvSpPr>
            <a:spLocks noGrp="1"/>
          </p:cNvSpPr>
          <p:nvPr/>
        </p:nvSpPr>
        <p:spPr>
          <a:xfrm>
            <a:off x="6191250" y="2796988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0CE583DA-617E-4023-BC7E-047A806C2D20}"/>
              </a:ext>
            </a:extLst>
          </p:cNvPr>
          <p:cNvSpPr>
            <a:spLocks noGrp="1"/>
          </p:cNvSpPr>
          <p:nvPr/>
        </p:nvSpPr>
        <p:spPr>
          <a:xfrm>
            <a:off x="6191250" y="3033432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2DF3B122-0A7B-497D-8759-694CFD18C1D7}"/>
              </a:ext>
            </a:extLst>
          </p:cNvPr>
          <p:cNvSpPr>
            <a:spLocks noGrp="1"/>
          </p:cNvSpPr>
          <p:nvPr/>
        </p:nvSpPr>
        <p:spPr>
          <a:xfrm>
            <a:off x="6191250" y="3269876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91861BED-9654-44E0-BA91-4A8C7F47BC86}"/>
              </a:ext>
            </a:extLst>
          </p:cNvPr>
          <p:cNvSpPr>
            <a:spLocks noGrp="1"/>
          </p:cNvSpPr>
          <p:nvPr/>
        </p:nvSpPr>
        <p:spPr>
          <a:xfrm>
            <a:off x="6191250" y="3506321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67FA0389-BD21-4F65-8590-988E7C29A938}"/>
              </a:ext>
            </a:extLst>
          </p:cNvPr>
          <p:cNvSpPr>
            <a:spLocks noGrp="1"/>
          </p:cNvSpPr>
          <p:nvPr/>
        </p:nvSpPr>
        <p:spPr>
          <a:xfrm>
            <a:off x="6191250" y="3742765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AE34976F-2D85-465F-B78E-EA0ADAE3C4CA}"/>
              </a:ext>
            </a:extLst>
          </p:cNvPr>
          <p:cNvSpPr>
            <a:spLocks noGrp="1"/>
          </p:cNvSpPr>
          <p:nvPr/>
        </p:nvSpPr>
        <p:spPr>
          <a:xfrm>
            <a:off x="6191250" y="3979209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9248A16D-88A8-4985-BEA3-756BBB259D4D}"/>
              </a:ext>
            </a:extLst>
          </p:cNvPr>
          <p:cNvSpPr>
            <a:spLocks noGrp="1"/>
          </p:cNvSpPr>
          <p:nvPr/>
        </p:nvSpPr>
        <p:spPr>
          <a:xfrm>
            <a:off x="6191250" y="4215653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41589886-CCF0-4418-B8B2-2E56EEE9E5BB}"/>
              </a:ext>
            </a:extLst>
          </p:cNvPr>
          <p:cNvSpPr>
            <a:spLocks noGrp="1"/>
          </p:cNvSpPr>
          <p:nvPr/>
        </p:nvSpPr>
        <p:spPr>
          <a:xfrm>
            <a:off x="6305550" y="3743325"/>
            <a:ext cx="13811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1">
                <a:solidFill>
                  <a:srgbClr val="6E3A8F"/>
                </a:solidFill>
              </a:defRPr>
            </a:pPr>
            <a:r>
              <a:rPr sz="750" b="1">
                <a:solidFill>
                  <a:srgbClr val="6E3A8F"/>
                </a:solidFill>
              </a:rPr>
              <a:t>fan-out assíncrono</a:t>
            </a:r>
          </a:p>
        </p:txBody>
      </p:sp>
      <p:sp>
        <p:nvSpPr>
          <p:cNvPr id="58" name="Retângulo Arredondado 57">
            <a:extLst>
              <a:ext uri="{FF2B5EF4-FFF2-40B4-BE49-F238E27FC236}">
                <a16:creationId xmlns:a16="http://schemas.microsoft.com/office/drawing/2014/main" id="{2EBEDBAD-F006-4554-A169-F80B97EC7A55}"/>
              </a:ext>
            </a:extLst>
          </p:cNvPr>
          <p:cNvSpPr>
            <a:spLocks noGrp="1"/>
          </p:cNvSpPr>
          <p:nvPr/>
        </p:nvSpPr>
        <p:spPr>
          <a:xfrm>
            <a:off x="10191750" y="1409700"/>
            <a:ext cx="1619250" cy="2190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6692E15B-A139-4787-9A41-44E1C2328007}"/>
              </a:ext>
            </a:extLst>
          </p:cNvPr>
          <p:cNvSpPr>
            <a:spLocks noGrp="1"/>
          </p:cNvSpPr>
          <p:nvPr/>
        </p:nvSpPr>
        <p:spPr>
          <a:xfrm>
            <a:off x="10325100" y="1504950"/>
            <a:ext cx="1352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Ecossistema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EAD45B02-45BA-499F-9FE9-D9DE76E1B108}"/>
              </a:ext>
            </a:extLst>
          </p:cNvPr>
          <p:cNvSpPr>
            <a:spLocks noGrp="1"/>
          </p:cNvSpPr>
          <p:nvPr/>
        </p:nvSpPr>
        <p:spPr>
          <a:xfrm>
            <a:off x="10325100" y="1733550"/>
            <a:ext cx="1352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Reage aos eventos</a:t>
            </a:r>
          </a:p>
        </p:txBody>
      </p:sp>
      <p:sp>
        <p:nvSpPr>
          <p:cNvPr id="61" name="Retângulo Arredondado 60">
            <a:extLst>
              <a:ext uri="{FF2B5EF4-FFF2-40B4-BE49-F238E27FC236}">
                <a16:creationId xmlns:a16="http://schemas.microsoft.com/office/drawing/2014/main" id="{7C5E80F5-4E86-4D9D-9D7C-DDD43981F41B}"/>
              </a:ext>
            </a:extLst>
          </p:cNvPr>
          <p:cNvSpPr>
            <a:spLocks noGrp="1"/>
          </p:cNvSpPr>
          <p:nvPr/>
        </p:nvSpPr>
        <p:spPr>
          <a:xfrm>
            <a:off x="10353675" y="2047875"/>
            <a:ext cx="1295400" cy="7810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0C3B0B6A-BC26-448E-9442-C7C703D06963}"/>
              </a:ext>
            </a:extLst>
          </p:cNvPr>
          <p:cNvSpPr>
            <a:spLocks noGrp="1"/>
          </p:cNvSpPr>
          <p:nvPr/>
        </p:nvSpPr>
        <p:spPr>
          <a:xfrm>
            <a:off x="10353675" y="2047875"/>
            <a:ext cx="129540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1CEF115B-9D92-41BA-9836-70057891A130}"/>
              </a:ext>
            </a:extLst>
          </p:cNvPr>
          <p:cNvSpPr>
            <a:spLocks noGrp="1"/>
          </p:cNvSpPr>
          <p:nvPr/>
        </p:nvSpPr>
        <p:spPr>
          <a:xfrm>
            <a:off x="10467975" y="219075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Notificações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B6BE9A82-2B38-4B8B-8AE1-1C98CFC3B2CE}"/>
              </a:ext>
            </a:extLst>
          </p:cNvPr>
          <p:cNvSpPr>
            <a:spLocks noGrp="1"/>
          </p:cNvSpPr>
          <p:nvPr/>
        </p:nvSpPr>
        <p:spPr>
          <a:xfrm>
            <a:off x="10467975" y="2543175"/>
            <a:ext cx="1066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e-mail / push</a:t>
            </a:r>
          </a:p>
        </p:txBody>
      </p:sp>
      <p:sp>
        <p:nvSpPr>
          <p:cNvPr id="65" name="Retângulo Arredondado 64">
            <a:extLst>
              <a:ext uri="{FF2B5EF4-FFF2-40B4-BE49-F238E27FC236}">
                <a16:creationId xmlns:a16="http://schemas.microsoft.com/office/drawing/2014/main" id="{CAF388B2-9E49-4B27-BF44-CB747028C042}"/>
              </a:ext>
            </a:extLst>
          </p:cNvPr>
          <p:cNvSpPr>
            <a:spLocks noGrp="1"/>
          </p:cNvSpPr>
          <p:nvPr/>
        </p:nvSpPr>
        <p:spPr>
          <a:xfrm>
            <a:off x="10353675" y="3048000"/>
            <a:ext cx="1295400" cy="7810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0C80A86D-0CB2-4101-B6A7-0DC1BF70C26F}"/>
              </a:ext>
            </a:extLst>
          </p:cNvPr>
          <p:cNvSpPr>
            <a:spLocks noGrp="1"/>
          </p:cNvSpPr>
          <p:nvPr/>
        </p:nvSpPr>
        <p:spPr>
          <a:xfrm>
            <a:off x="10353675" y="3048000"/>
            <a:ext cx="129540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60F8B81B-8878-4993-8843-4B4C6EA517E8}"/>
              </a:ext>
            </a:extLst>
          </p:cNvPr>
          <p:cNvSpPr>
            <a:spLocks noGrp="1"/>
          </p:cNvSpPr>
          <p:nvPr/>
        </p:nvSpPr>
        <p:spPr>
          <a:xfrm>
            <a:off x="10467975" y="3190875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SaaS / parceiros</a:t>
            </a:r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C356F72C-ECB5-43CB-90B0-FA998FE8CA38}"/>
              </a:ext>
            </a:extLst>
          </p:cNvPr>
          <p:cNvSpPr>
            <a:spLocks noGrp="1"/>
          </p:cNvSpPr>
          <p:nvPr/>
        </p:nvSpPr>
        <p:spPr>
          <a:xfrm>
            <a:off x="10467975" y="3543300"/>
            <a:ext cx="1066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ERP • TMS • CRM</a:t>
            </a:r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7B007553-2BE3-4C62-9391-82A1A497043E}"/>
              </a:ext>
            </a:extLst>
          </p:cNvPr>
          <p:cNvSpPr>
            <a:spLocks noGrp="1"/>
          </p:cNvSpPr>
          <p:nvPr/>
        </p:nvSpPr>
        <p:spPr>
          <a:xfrm>
            <a:off x="8515350" y="3057525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42930338-4DEC-4D17-B237-A7382C1FFC39}"/>
              </a:ext>
            </a:extLst>
          </p:cNvPr>
          <p:cNvSpPr>
            <a:spLocks noGrp="1"/>
          </p:cNvSpPr>
          <p:nvPr/>
        </p:nvSpPr>
        <p:spPr>
          <a:xfrm>
            <a:off x="8745141" y="2984897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A67367CD-7FC2-4E2C-94EA-B7E134A3ECC0}"/>
              </a:ext>
            </a:extLst>
          </p:cNvPr>
          <p:cNvSpPr>
            <a:spLocks noGrp="1"/>
          </p:cNvSpPr>
          <p:nvPr/>
        </p:nvSpPr>
        <p:spPr>
          <a:xfrm>
            <a:off x="8974931" y="2912269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777571A3-2B09-47D3-978E-343F9151904B}"/>
              </a:ext>
            </a:extLst>
          </p:cNvPr>
          <p:cNvSpPr>
            <a:spLocks noGrp="1"/>
          </p:cNvSpPr>
          <p:nvPr/>
        </p:nvSpPr>
        <p:spPr>
          <a:xfrm>
            <a:off x="9204722" y="2839641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5DF9BCCD-C6FB-4701-99CF-EF0BEA5B17C8}"/>
              </a:ext>
            </a:extLst>
          </p:cNvPr>
          <p:cNvSpPr>
            <a:spLocks noGrp="1"/>
          </p:cNvSpPr>
          <p:nvPr/>
        </p:nvSpPr>
        <p:spPr>
          <a:xfrm>
            <a:off x="9434513" y="2767013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2F41F8A0-E8C5-4F18-A768-3E46F38F3F3A}"/>
              </a:ext>
            </a:extLst>
          </p:cNvPr>
          <p:cNvSpPr>
            <a:spLocks noGrp="1"/>
          </p:cNvSpPr>
          <p:nvPr/>
        </p:nvSpPr>
        <p:spPr>
          <a:xfrm>
            <a:off x="9664303" y="2694384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DEA56117-8E28-4EF4-AB70-9C9FE1BE9AC3}"/>
              </a:ext>
            </a:extLst>
          </p:cNvPr>
          <p:cNvSpPr>
            <a:spLocks noGrp="1"/>
          </p:cNvSpPr>
          <p:nvPr/>
        </p:nvSpPr>
        <p:spPr>
          <a:xfrm>
            <a:off x="9894094" y="2621756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AA008963-61EE-44BE-A3E6-22288507FC95}"/>
              </a:ext>
            </a:extLst>
          </p:cNvPr>
          <p:cNvSpPr>
            <a:spLocks noGrp="1"/>
          </p:cNvSpPr>
          <p:nvPr/>
        </p:nvSpPr>
        <p:spPr>
          <a:xfrm>
            <a:off x="10123884" y="2549128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7ADE46CF-7C48-4F17-BDFC-F0864144C780}"/>
              </a:ext>
            </a:extLst>
          </p:cNvPr>
          <p:cNvSpPr>
            <a:spLocks noGrp="1"/>
          </p:cNvSpPr>
          <p:nvPr/>
        </p:nvSpPr>
        <p:spPr>
          <a:xfrm>
            <a:off x="8515350" y="3267075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F3675F13-F6B9-46DA-90A0-FE6F945674C0}"/>
              </a:ext>
            </a:extLst>
          </p:cNvPr>
          <p:cNvSpPr>
            <a:spLocks noGrp="1"/>
          </p:cNvSpPr>
          <p:nvPr/>
        </p:nvSpPr>
        <p:spPr>
          <a:xfrm>
            <a:off x="8745141" y="3293269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69514D44-E9F6-4D21-B7D9-7A225751C804}"/>
              </a:ext>
            </a:extLst>
          </p:cNvPr>
          <p:cNvSpPr>
            <a:spLocks noGrp="1"/>
          </p:cNvSpPr>
          <p:nvPr/>
        </p:nvSpPr>
        <p:spPr>
          <a:xfrm>
            <a:off x="8974931" y="3319463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E6653781-F126-4BFD-89E2-6E1BFACC3F5A}"/>
              </a:ext>
            </a:extLst>
          </p:cNvPr>
          <p:cNvSpPr>
            <a:spLocks noGrp="1"/>
          </p:cNvSpPr>
          <p:nvPr/>
        </p:nvSpPr>
        <p:spPr>
          <a:xfrm>
            <a:off x="9204722" y="3345656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058EC93B-1664-41CA-8AA0-ED3ECB684363}"/>
              </a:ext>
            </a:extLst>
          </p:cNvPr>
          <p:cNvSpPr>
            <a:spLocks noGrp="1"/>
          </p:cNvSpPr>
          <p:nvPr/>
        </p:nvSpPr>
        <p:spPr>
          <a:xfrm>
            <a:off x="9434513" y="3371850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CF782E18-E176-4E58-AFDC-7FB32C10D7E3}"/>
              </a:ext>
            </a:extLst>
          </p:cNvPr>
          <p:cNvSpPr>
            <a:spLocks noGrp="1"/>
          </p:cNvSpPr>
          <p:nvPr/>
        </p:nvSpPr>
        <p:spPr>
          <a:xfrm>
            <a:off x="9664303" y="3398044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F1B2CAA9-7436-4C16-8B27-09AA4057F1DB}"/>
              </a:ext>
            </a:extLst>
          </p:cNvPr>
          <p:cNvSpPr>
            <a:spLocks noGrp="1"/>
          </p:cNvSpPr>
          <p:nvPr/>
        </p:nvSpPr>
        <p:spPr>
          <a:xfrm>
            <a:off x="9894094" y="3424238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3E7324CC-057C-4A8D-9313-D2362415F751}"/>
              </a:ext>
            </a:extLst>
          </p:cNvPr>
          <p:cNvSpPr>
            <a:spLocks noGrp="1"/>
          </p:cNvSpPr>
          <p:nvPr/>
        </p:nvSpPr>
        <p:spPr>
          <a:xfrm>
            <a:off x="10123884" y="3450431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Retângulo Arredondado 84">
            <a:extLst>
              <a:ext uri="{FF2B5EF4-FFF2-40B4-BE49-F238E27FC236}">
                <a16:creationId xmlns:a16="http://schemas.microsoft.com/office/drawing/2014/main" id="{4EE0B0CB-0059-410C-95D0-170723E1F0DB}"/>
              </a:ext>
            </a:extLst>
          </p:cNvPr>
          <p:cNvSpPr>
            <a:spLocks noGrp="1"/>
          </p:cNvSpPr>
          <p:nvPr/>
        </p:nvSpPr>
        <p:spPr>
          <a:xfrm>
            <a:off x="2324100" y="4667250"/>
            <a:ext cx="7229475" cy="666750"/>
          </a:xfrm>
          <a:prstGeom prst="roundRect">
            <a:avLst>
              <a:gd name="adj" fmla="val 5714"/>
            </a:avLst>
          </a:prstGeom>
          <a:solidFill>
            <a:srgbClr val="F4FAF4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B1B6277E-593F-4B6B-A237-935090CA48C2}"/>
              </a:ext>
            </a:extLst>
          </p:cNvPr>
          <p:cNvSpPr>
            <a:spLocks noGrp="1"/>
          </p:cNvSpPr>
          <p:nvPr/>
        </p:nvSpPr>
        <p:spPr>
          <a:xfrm>
            <a:off x="2543175" y="4886325"/>
            <a:ext cx="6781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9272A"/>
                </a:solidFill>
              </a:defRPr>
            </a:pPr>
            <a:r>
              <a:rPr sz="1125" b="1">
                <a:solidFill>
                  <a:srgbClr val="29272A"/>
                </a:solidFill>
              </a:rPr>
              <a:t>Resultado para o cliente: pedido aceito imediatamente; o status evolui de forma eventual e auditável até “entregue”.</a:t>
            </a:r>
          </a:p>
        </p:txBody>
      </p:sp>
      <p:sp>
        <p:nvSpPr>
          <p:cNvPr id="87" name="Retângulo Arredondado 86">
            <a:extLst>
              <a:ext uri="{FF2B5EF4-FFF2-40B4-BE49-F238E27FC236}">
                <a16:creationId xmlns:a16="http://schemas.microsoft.com/office/drawing/2014/main" id="{6FD658A7-D4D5-4DF8-A7EF-5F6F46B15C5C}"/>
              </a:ext>
            </a:extLst>
          </p:cNvPr>
          <p:cNvSpPr>
            <a:spLocks noGrp="1"/>
          </p:cNvSpPr>
          <p:nvPr/>
        </p:nvSpPr>
        <p:spPr>
          <a:xfrm>
            <a:off x="2324100" y="5572125"/>
            <a:ext cx="7229475" cy="3238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5E1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ED68141C-487C-4CD2-9A35-D48576AFE0F7}"/>
              </a:ext>
            </a:extLst>
          </p:cNvPr>
          <p:cNvSpPr>
            <a:spLocks noGrp="1"/>
          </p:cNvSpPr>
          <p:nvPr/>
        </p:nvSpPr>
        <p:spPr>
          <a:xfrm>
            <a:off x="2543175" y="5657850"/>
            <a:ext cx="6781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655F5A"/>
                </a:solidFill>
              </a:defRPr>
            </a:pPr>
            <a:r>
              <a:rPr sz="900" b="0">
                <a:solidFill>
                  <a:srgbClr val="655F5A"/>
                </a:solidFill>
              </a:rPr>
              <a:t>Resiliência: cada consumidor pode falhar, reprocessar e escalar sem bloquear o pedido.</a:t>
            </a:r>
          </a:p>
        </p:txBody>
      </p:sp>
      <p:sp>
        <p:nvSpPr>
          <p:cNvPr id="89" name="Seta para a Direita 88">
            <a:extLst>
              <a:ext uri="{FF2B5EF4-FFF2-40B4-BE49-F238E27FC236}">
                <a16:creationId xmlns:a16="http://schemas.microsoft.com/office/drawing/2014/main" id="{F8EAB64D-030C-43EF-8F40-3FC315BA3300}"/>
              </a:ext>
            </a:extLst>
          </p:cNvPr>
          <p:cNvSpPr>
            <a:spLocks noGrp="1"/>
          </p:cNvSpPr>
          <p:nvPr/>
        </p:nvSpPr>
        <p:spPr>
          <a:xfrm>
            <a:off x="438150" y="619125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C64A95A0-ACE0-4C26-9D1F-8B09A7994509}"/>
              </a:ext>
            </a:extLst>
          </p:cNvPr>
          <p:cNvSpPr>
            <a:spLocks noGrp="1"/>
          </p:cNvSpPr>
          <p:nvPr/>
        </p:nvSpPr>
        <p:spPr>
          <a:xfrm>
            <a:off x="933450" y="616267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B8FEFBEF-65BB-4F52-BB93-A1118FA5FE9F}"/>
              </a:ext>
            </a:extLst>
          </p:cNvPr>
          <p:cNvSpPr>
            <a:spLocks noGrp="1"/>
          </p:cNvSpPr>
          <p:nvPr/>
        </p:nvSpPr>
        <p:spPr>
          <a:xfrm>
            <a:off x="438150" y="642937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B354F6C2-F9A8-4AAB-976E-D19269D00462}"/>
              </a:ext>
            </a:extLst>
          </p:cNvPr>
          <p:cNvSpPr>
            <a:spLocks noGrp="1"/>
          </p:cNvSpPr>
          <p:nvPr/>
        </p:nvSpPr>
        <p:spPr>
          <a:xfrm>
            <a:off x="692150" y="642937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5AB2981C-1D1F-4820-9152-23E7FD76BB26}"/>
              </a:ext>
            </a:extLst>
          </p:cNvPr>
          <p:cNvSpPr>
            <a:spLocks noGrp="1"/>
          </p:cNvSpPr>
          <p:nvPr/>
        </p:nvSpPr>
        <p:spPr>
          <a:xfrm>
            <a:off x="933450" y="635317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</p:spTree>
    <p:extLst>
      <p:ext uri="{BB962C8B-B14F-4D97-AF65-F5344CB8AC3E}">
        <p14:creationId xmlns:p14="http://schemas.microsoft.com/office/powerpoint/2010/main" val="312270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tângulo 179">
            <a:extLst>
              <a:ext uri="{FF2B5EF4-FFF2-40B4-BE49-F238E27FC236}">
                <a16:creationId xmlns:a16="http://schemas.microsoft.com/office/drawing/2014/main" id="{A0BA1558-431C-47E5-978F-5CE35AE853B2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 dirty="0" err="1">
                <a:solidFill>
                  <a:srgbClr val="29272A"/>
                </a:solidFill>
              </a:rPr>
              <a:t>Trâmite</a:t>
            </a:r>
            <a:r>
              <a:rPr sz="2100" b="1" dirty="0">
                <a:solidFill>
                  <a:srgbClr val="29272A"/>
                </a:solidFill>
              </a:rPr>
              <a:t> da </a:t>
            </a:r>
            <a:r>
              <a:rPr sz="2100" b="1" dirty="0" err="1">
                <a:solidFill>
                  <a:srgbClr val="29272A"/>
                </a:solidFill>
              </a:rPr>
              <a:t>mensagem</a:t>
            </a:r>
            <a:r>
              <a:rPr sz="2100" b="1" dirty="0">
                <a:solidFill>
                  <a:srgbClr val="29272A"/>
                </a:solidFill>
              </a:rPr>
              <a:t> — </a:t>
            </a:r>
            <a:r>
              <a:rPr sz="2100" b="1" dirty="0" err="1">
                <a:solidFill>
                  <a:srgbClr val="29272A"/>
                </a:solidFill>
              </a:rPr>
              <a:t>pedido</a:t>
            </a:r>
            <a:r>
              <a:rPr sz="2100" b="1" dirty="0">
                <a:solidFill>
                  <a:srgbClr val="29272A"/>
                </a:solidFill>
              </a:rPr>
              <a:t> </a:t>
            </a:r>
            <a:r>
              <a:rPr sz="2100" b="1" dirty="0" err="1">
                <a:solidFill>
                  <a:srgbClr val="29272A"/>
                </a:solidFill>
              </a:rPr>
              <a:t>omnicanal</a:t>
            </a:r>
            <a:endParaRPr sz="2100" b="1" dirty="0">
              <a:solidFill>
                <a:srgbClr val="29272A"/>
              </a:solidFill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22DC109-091F-4ED7-BFF0-769F49A2BF5F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Tecnologia de cada componente: HTTP síncrono até o aceite; Kafka e workers assíncronos após a transação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0BC674C-3E6B-42BC-9DD6-A841D57BAB0A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8051E17A-A4E5-4CA6-AAFD-572A1A1D7A40}"/>
              </a:ext>
            </a:extLst>
          </p:cNvPr>
          <p:cNvSpPr>
            <a:spLocks noGrp="1"/>
          </p:cNvSpPr>
          <p:nvPr/>
        </p:nvSpPr>
        <p:spPr>
          <a:xfrm>
            <a:off x="333375" y="1390650"/>
            <a:ext cx="1428750" cy="4495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488BA21-6EA9-4330-9974-5110E99013C7}"/>
              </a:ext>
            </a:extLst>
          </p:cNvPr>
          <p:cNvSpPr>
            <a:spLocks noGrp="1"/>
          </p:cNvSpPr>
          <p:nvPr/>
        </p:nvSpPr>
        <p:spPr>
          <a:xfrm>
            <a:off x="466725" y="148590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Cliente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A8BF6AC-88B8-43D0-931B-9DAC05C55890}"/>
              </a:ext>
            </a:extLst>
          </p:cNvPr>
          <p:cNvSpPr>
            <a:spLocks noGrp="1"/>
          </p:cNvSpPr>
          <p:nvPr/>
        </p:nvSpPr>
        <p:spPr>
          <a:xfrm>
            <a:off x="466725" y="1714500"/>
            <a:ext cx="1162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Web • app • marketplace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B0C4E93-979F-4B63-9A7C-9DD25BC39E72}"/>
              </a:ext>
            </a:extLst>
          </p:cNvPr>
          <p:cNvSpPr>
            <a:spLocks noGrp="1"/>
          </p:cNvSpPr>
          <p:nvPr/>
        </p:nvSpPr>
        <p:spPr>
          <a:xfrm>
            <a:off x="504825" y="2381250"/>
            <a:ext cx="1085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POST /orders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GET /orders/{id}</a:t>
            </a:r>
          </a:p>
        </p:txBody>
      </p:sp>
      <p:sp>
        <p:nvSpPr>
          <p:cNvPr id="8" name="Retângulo Arredondado 7">
            <a:extLst>
              <a:ext uri="{FF2B5EF4-FFF2-40B4-BE49-F238E27FC236}">
                <a16:creationId xmlns:a16="http://schemas.microsoft.com/office/drawing/2014/main" id="{E5CC3199-AFC7-4E5D-A8F4-1630D598CF9D}"/>
              </a:ext>
            </a:extLst>
          </p:cNvPr>
          <p:cNvSpPr>
            <a:spLocks noGrp="1"/>
          </p:cNvSpPr>
          <p:nvPr/>
        </p:nvSpPr>
        <p:spPr>
          <a:xfrm>
            <a:off x="1952625" y="1390650"/>
            <a:ext cx="4248150" cy="219075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B6E785A-F242-4E16-849C-4F6CF0E5F427}"/>
              </a:ext>
            </a:extLst>
          </p:cNvPr>
          <p:cNvSpPr>
            <a:spLocks noGrp="1"/>
          </p:cNvSpPr>
          <p:nvPr/>
        </p:nvSpPr>
        <p:spPr>
          <a:xfrm>
            <a:off x="2085975" y="1485900"/>
            <a:ext cx="3981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C74634"/>
                </a:solidFill>
              </a:defRPr>
            </a:pPr>
            <a:r>
              <a:rPr sz="1200" b="1">
                <a:solidFill>
                  <a:srgbClr val="C74634"/>
                </a:solidFill>
              </a:rPr>
              <a:t>Command / Write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52F793C-9B7F-40BC-84F2-B2419DB7D04B}"/>
              </a:ext>
            </a:extLst>
          </p:cNvPr>
          <p:cNvSpPr>
            <a:spLocks noGrp="1"/>
          </p:cNvSpPr>
          <p:nvPr/>
        </p:nvSpPr>
        <p:spPr>
          <a:xfrm>
            <a:off x="2085975" y="1714500"/>
            <a:ext cx="39814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Fluxo síncrono — pedido aceito e persistido</a:t>
            </a:r>
          </a:p>
        </p:txBody>
      </p:sp>
      <p:sp>
        <p:nvSpPr>
          <p:cNvPr id="11" name="Retângulo Arredondado 10">
            <a:extLst>
              <a:ext uri="{FF2B5EF4-FFF2-40B4-BE49-F238E27FC236}">
                <a16:creationId xmlns:a16="http://schemas.microsoft.com/office/drawing/2014/main" id="{812E1DC3-11EC-4DC9-8DC3-B50BCC255D46}"/>
              </a:ext>
            </a:extLst>
          </p:cNvPr>
          <p:cNvSpPr>
            <a:spLocks noGrp="1"/>
          </p:cNvSpPr>
          <p:nvPr/>
        </p:nvSpPr>
        <p:spPr>
          <a:xfrm>
            <a:off x="2133600" y="2190750"/>
            <a:ext cx="1066800" cy="10477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B857AD2F-FEB3-4CF5-AA1F-70CA6EFB2D6E}"/>
              </a:ext>
            </a:extLst>
          </p:cNvPr>
          <p:cNvSpPr>
            <a:spLocks noGrp="1"/>
          </p:cNvSpPr>
          <p:nvPr/>
        </p:nvSpPr>
        <p:spPr>
          <a:xfrm>
            <a:off x="2133600" y="2190750"/>
            <a:ext cx="10668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D76967B-EC12-41DF-AAEB-AE65B4A9F606}"/>
              </a:ext>
            </a:extLst>
          </p:cNvPr>
          <p:cNvSpPr>
            <a:spLocks noGrp="1"/>
          </p:cNvSpPr>
          <p:nvPr/>
        </p:nvSpPr>
        <p:spPr>
          <a:xfrm>
            <a:off x="2247900" y="2333625"/>
            <a:ext cx="838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API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Gateway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68500E0-6734-49EB-98D1-8F63E5EE48E3}"/>
              </a:ext>
            </a:extLst>
          </p:cNvPr>
          <p:cNvSpPr>
            <a:spLocks noGrp="1"/>
          </p:cNvSpPr>
          <p:nvPr/>
        </p:nvSpPr>
        <p:spPr>
          <a:xfrm>
            <a:off x="2247900" y="2686050"/>
            <a:ext cx="838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JWT • rate limit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HTTP privado</a:t>
            </a:r>
          </a:p>
        </p:txBody>
      </p:sp>
      <p:sp>
        <p:nvSpPr>
          <p:cNvPr id="15" name="Seta para a Direita 14">
            <a:extLst>
              <a:ext uri="{FF2B5EF4-FFF2-40B4-BE49-F238E27FC236}">
                <a16:creationId xmlns:a16="http://schemas.microsoft.com/office/drawing/2014/main" id="{0FABA38F-7933-4890-A257-2428F4494514}"/>
              </a:ext>
            </a:extLst>
          </p:cNvPr>
          <p:cNvSpPr>
            <a:spLocks noGrp="1"/>
          </p:cNvSpPr>
          <p:nvPr/>
        </p:nvSpPr>
        <p:spPr>
          <a:xfrm>
            <a:off x="3219450" y="2609850"/>
            <a:ext cx="25717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D0CC06E0-1721-493E-A412-ADB11AB61DE3}"/>
              </a:ext>
            </a:extLst>
          </p:cNvPr>
          <p:cNvSpPr>
            <a:spLocks noGrp="1"/>
          </p:cNvSpPr>
          <p:nvPr/>
        </p:nvSpPr>
        <p:spPr>
          <a:xfrm>
            <a:off x="3152775" y="2419350"/>
            <a:ext cx="3905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POST</a:t>
            </a:r>
          </a:p>
        </p:txBody>
      </p:sp>
      <p:sp>
        <p:nvSpPr>
          <p:cNvPr id="17" name="Retângulo Arredondado 16">
            <a:extLst>
              <a:ext uri="{FF2B5EF4-FFF2-40B4-BE49-F238E27FC236}">
                <a16:creationId xmlns:a16="http://schemas.microsoft.com/office/drawing/2014/main" id="{E42410DA-7739-4B36-8351-CC091ED16F65}"/>
              </a:ext>
            </a:extLst>
          </p:cNvPr>
          <p:cNvSpPr>
            <a:spLocks noGrp="1"/>
          </p:cNvSpPr>
          <p:nvPr/>
        </p:nvSpPr>
        <p:spPr>
          <a:xfrm>
            <a:off x="3505200" y="2095499"/>
            <a:ext cx="1257300" cy="1114425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36DD38B-E650-49C0-81CC-D91ADBA76049}"/>
              </a:ext>
            </a:extLst>
          </p:cNvPr>
          <p:cNvSpPr>
            <a:spLocks noGrp="1"/>
          </p:cNvSpPr>
          <p:nvPr/>
        </p:nvSpPr>
        <p:spPr>
          <a:xfrm>
            <a:off x="3505200" y="2095500"/>
            <a:ext cx="12573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565B41BB-28BE-44AB-B059-6AFAB35DDFEF}"/>
              </a:ext>
            </a:extLst>
          </p:cNvPr>
          <p:cNvSpPr>
            <a:spLocks noGrp="1"/>
          </p:cNvSpPr>
          <p:nvPr/>
        </p:nvSpPr>
        <p:spPr>
          <a:xfrm>
            <a:off x="3619500" y="2238375"/>
            <a:ext cx="1028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Order Command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F18EBF5-705E-44DE-8184-667A9BEB66F6}"/>
              </a:ext>
            </a:extLst>
          </p:cNvPr>
          <p:cNvSpPr>
            <a:spLocks noGrp="1"/>
          </p:cNvSpPr>
          <p:nvPr/>
        </p:nvSpPr>
        <p:spPr>
          <a:xfrm>
            <a:off x="3619500" y="2695575"/>
            <a:ext cx="10287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OCI Function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(</a:t>
            </a:r>
            <a:r>
              <a:rPr sz="825" b="0" dirty="0" err="1">
                <a:solidFill>
                  <a:srgbClr val="655F5A"/>
                </a:solidFill>
              </a:rPr>
              <a:t>ou</a:t>
            </a:r>
            <a:r>
              <a:rPr sz="825" b="0" dirty="0">
                <a:solidFill>
                  <a:srgbClr val="655F5A"/>
                </a:solidFill>
              </a:rPr>
              <a:t> </a:t>
            </a:r>
            <a:r>
              <a:rPr sz="825" b="0" dirty="0" err="1">
                <a:solidFill>
                  <a:srgbClr val="655F5A"/>
                </a:solidFill>
              </a:rPr>
              <a:t>serviço</a:t>
            </a:r>
            <a:r>
              <a:rPr sz="825" b="0" dirty="0">
                <a:solidFill>
                  <a:srgbClr val="655F5A"/>
                </a:solidFill>
              </a:rPr>
              <a:t> OKE)</a:t>
            </a:r>
          </a:p>
        </p:txBody>
      </p:sp>
      <p:sp>
        <p:nvSpPr>
          <p:cNvPr id="21" name="Seta para a Direita 20">
            <a:extLst>
              <a:ext uri="{FF2B5EF4-FFF2-40B4-BE49-F238E27FC236}">
                <a16:creationId xmlns:a16="http://schemas.microsoft.com/office/drawing/2014/main" id="{70036745-E811-4196-94F2-55D13391E05C}"/>
              </a:ext>
            </a:extLst>
          </p:cNvPr>
          <p:cNvSpPr>
            <a:spLocks noGrp="1"/>
          </p:cNvSpPr>
          <p:nvPr/>
        </p:nvSpPr>
        <p:spPr>
          <a:xfrm>
            <a:off x="4781550" y="2609850"/>
            <a:ext cx="25717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13B1663E-EFDD-4CA7-8BAF-4AD568F01636}"/>
              </a:ext>
            </a:extLst>
          </p:cNvPr>
          <p:cNvSpPr>
            <a:spLocks noGrp="1"/>
          </p:cNvSpPr>
          <p:nvPr/>
        </p:nvSpPr>
        <p:spPr>
          <a:xfrm>
            <a:off x="4714875" y="2419350"/>
            <a:ext cx="3905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SQL</a:t>
            </a:r>
          </a:p>
        </p:txBody>
      </p:sp>
      <p:sp>
        <p:nvSpPr>
          <p:cNvPr id="23" name="Retângulo Arredondado 22">
            <a:extLst>
              <a:ext uri="{FF2B5EF4-FFF2-40B4-BE49-F238E27FC236}">
                <a16:creationId xmlns:a16="http://schemas.microsoft.com/office/drawing/2014/main" id="{D426357E-DED1-4604-8C6C-1DB09A852BE2}"/>
              </a:ext>
            </a:extLst>
          </p:cNvPr>
          <p:cNvSpPr>
            <a:spLocks noGrp="1"/>
          </p:cNvSpPr>
          <p:nvPr/>
        </p:nvSpPr>
        <p:spPr>
          <a:xfrm>
            <a:off x="5067300" y="1943100"/>
            <a:ext cx="952500" cy="1352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E9553BE6-8F27-4F27-A61D-36387158EDE8}"/>
              </a:ext>
            </a:extLst>
          </p:cNvPr>
          <p:cNvSpPr>
            <a:spLocks noGrp="1"/>
          </p:cNvSpPr>
          <p:nvPr/>
        </p:nvSpPr>
        <p:spPr>
          <a:xfrm>
            <a:off x="5067300" y="1943100"/>
            <a:ext cx="9525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00E776A-5CE8-4C09-88B5-0F6CCD6083B1}"/>
              </a:ext>
            </a:extLst>
          </p:cNvPr>
          <p:cNvSpPr>
            <a:spLocks noGrp="1"/>
          </p:cNvSpPr>
          <p:nvPr/>
        </p:nvSpPr>
        <p:spPr>
          <a:xfrm>
            <a:off x="5181600" y="2085975"/>
            <a:ext cx="723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Autonomous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Database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6A2EE394-9EC0-4EBF-8620-F3A446B375EB}"/>
              </a:ext>
            </a:extLst>
          </p:cNvPr>
          <p:cNvSpPr>
            <a:spLocks noGrp="1"/>
          </p:cNvSpPr>
          <p:nvPr/>
        </p:nvSpPr>
        <p:spPr>
          <a:xfrm>
            <a:off x="5172075" y="2560479"/>
            <a:ext cx="723900" cy="790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orders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outbox_events</a:t>
            </a:r>
            <a:endParaRPr sz="825" b="0" dirty="0">
              <a:solidFill>
                <a:srgbClr val="655F5A"/>
              </a:solidFill>
            </a:endParaRP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mesma</a:t>
            </a:r>
            <a:r>
              <a:rPr sz="825" b="0" dirty="0">
                <a:solidFill>
                  <a:srgbClr val="655F5A"/>
                </a:solidFill>
              </a:rPr>
              <a:t> </a:t>
            </a:r>
            <a:r>
              <a:rPr sz="825" b="0" dirty="0" err="1">
                <a:solidFill>
                  <a:srgbClr val="655F5A"/>
                </a:solidFill>
              </a:rPr>
              <a:t>transação</a:t>
            </a:r>
            <a:endParaRPr sz="825" b="0" dirty="0">
              <a:solidFill>
                <a:srgbClr val="655F5A"/>
              </a:solidFill>
            </a:endParaRP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1DDA3971-1311-4A3A-991C-8588584A3FE9}"/>
              </a:ext>
            </a:extLst>
          </p:cNvPr>
          <p:cNvSpPr>
            <a:spLocks noGrp="1"/>
          </p:cNvSpPr>
          <p:nvPr/>
        </p:nvSpPr>
        <p:spPr>
          <a:xfrm>
            <a:off x="2219325" y="3238500"/>
            <a:ext cx="3619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C74634"/>
                </a:solidFill>
              </a:defRPr>
            </a:pPr>
            <a:r>
              <a:rPr sz="900" b="1">
                <a:solidFill>
                  <a:srgbClr val="C74634"/>
                </a:solidFill>
              </a:rPr>
              <a:t>Resposta HTTP 201/202</a:t>
            </a:r>
          </a:p>
          <a:p>
            <a:pPr algn="ctr">
              <a:defRPr sz="900" b="1">
                <a:solidFill>
                  <a:srgbClr val="C74634"/>
                </a:solidFill>
              </a:defRPr>
            </a:pPr>
            <a:r>
              <a:rPr sz="900" b="1">
                <a:solidFill>
                  <a:srgbClr val="C74634"/>
                </a:solidFill>
              </a:rPr>
              <a:t>Pedido: PENDING</a:t>
            </a:r>
          </a:p>
        </p:txBody>
      </p:sp>
      <p:sp>
        <p:nvSpPr>
          <p:cNvPr id="28" name="Retângulo Arredondado 27">
            <a:extLst>
              <a:ext uri="{FF2B5EF4-FFF2-40B4-BE49-F238E27FC236}">
                <a16:creationId xmlns:a16="http://schemas.microsoft.com/office/drawing/2014/main" id="{40E9DC95-F2F2-4122-881F-BA62434742D8}"/>
              </a:ext>
            </a:extLst>
          </p:cNvPr>
          <p:cNvSpPr>
            <a:spLocks noGrp="1"/>
          </p:cNvSpPr>
          <p:nvPr/>
        </p:nvSpPr>
        <p:spPr>
          <a:xfrm>
            <a:off x="1952625" y="3857625"/>
            <a:ext cx="4248150" cy="2028825"/>
          </a:xfrm>
          <a:prstGeom prst="roundRect">
            <a:avLst>
              <a:gd name="adj" fmla="val 1878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2DC43FC1-A7FE-4C1E-87A8-26BE6D948DAF}"/>
              </a:ext>
            </a:extLst>
          </p:cNvPr>
          <p:cNvSpPr>
            <a:spLocks noGrp="1"/>
          </p:cNvSpPr>
          <p:nvPr/>
        </p:nvSpPr>
        <p:spPr>
          <a:xfrm>
            <a:off x="2085975" y="3952875"/>
            <a:ext cx="3981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6E3A8F"/>
                </a:solidFill>
              </a:defRPr>
            </a:pPr>
            <a:r>
              <a:rPr sz="1200" b="1">
                <a:solidFill>
                  <a:srgbClr val="6E3A8F"/>
                </a:solidFill>
              </a:rPr>
              <a:t>Publicação confiável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70B10272-16B7-4749-B272-9A1613CE6F65}"/>
              </a:ext>
            </a:extLst>
          </p:cNvPr>
          <p:cNvSpPr>
            <a:spLocks noGrp="1"/>
          </p:cNvSpPr>
          <p:nvPr/>
        </p:nvSpPr>
        <p:spPr>
          <a:xfrm>
            <a:off x="2085975" y="4181475"/>
            <a:ext cx="39814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Assíncrona — após commit da transação</a:t>
            </a:r>
          </a:p>
        </p:txBody>
      </p:sp>
      <p:sp>
        <p:nvSpPr>
          <p:cNvPr id="31" name="Retângulo Arredondado 30">
            <a:extLst>
              <a:ext uri="{FF2B5EF4-FFF2-40B4-BE49-F238E27FC236}">
                <a16:creationId xmlns:a16="http://schemas.microsoft.com/office/drawing/2014/main" id="{C7BE6D99-4211-4FAF-813A-D6A8A6A357D3}"/>
              </a:ext>
            </a:extLst>
          </p:cNvPr>
          <p:cNvSpPr>
            <a:spLocks noGrp="1"/>
          </p:cNvSpPr>
          <p:nvPr/>
        </p:nvSpPr>
        <p:spPr>
          <a:xfrm>
            <a:off x="2133600" y="4572000"/>
            <a:ext cx="1485900" cy="809625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69C5633-1C72-4D5F-BC37-BC790E972B78}"/>
              </a:ext>
            </a:extLst>
          </p:cNvPr>
          <p:cNvSpPr>
            <a:spLocks noGrp="1"/>
          </p:cNvSpPr>
          <p:nvPr/>
        </p:nvSpPr>
        <p:spPr>
          <a:xfrm>
            <a:off x="2133600" y="4572000"/>
            <a:ext cx="148590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3C143AB8-B6FD-4B6A-B0AB-491B12CE6BA0}"/>
              </a:ext>
            </a:extLst>
          </p:cNvPr>
          <p:cNvSpPr>
            <a:spLocks noGrp="1"/>
          </p:cNvSpPr>
          <p:nvPr/>
        </p:nvSpPr>
        <p:spPr>
          <a:xfrm>
            <a:off x="2247900" y="4714875"/>
            <a:ext cx="1257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Outbox Publisher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D4C7211-B3A2-468A-BE5C-CC38C0E8B960}"/>
              </a:ext>
            </a:extLst>
          </p:cNvPr>
          <p:cNvSpPr>
            <a:spLocks noGrp="1"/>
          </p:cNvSpPr>
          <p:nvPr/>
        </p:nvSpPr>
        <p:spPr>
          <a:xfrm>
            <a:off x="2247900" y="50673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Deployment no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lê outbox_events</a:t>
            </a:r>
          </a:p>
        </p:txBody>
      </p:sp>
      <p:sp>
        <p:nvSpPr>
          <p:cNvPr id="35" name="Seta para a Direita 34">
            <a:extLst>
              <a:ext uri="{FF2B5EF4-FFF2-40B4-BE49-F238E27FC236}">
                <a16:creationId xmlns:a16="http://schemas.microsoft.com/office/drawing/2014/main" id="{F14204F4-A945-44F6-A6AC-55FE0567112D}"/>
              </a:ext>
            </a:extLst>
          </p:cNvPr>
          <p:cNvSpPr>
            <a:spLocks noGrp="1"/>
          </p:cNvSpPr>
          <p:nvPr/>
        </p:nvSpPr>
        <p:spPr>
          <a:xfrm>
            <a:off x="3638550" y="4914900"/>
            <a:ext cx="285750" cy="123825"/>
          </a:xfrm>
          <a:prstGeom prst="rightArrow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E70AA8E-6843-4005-A146-CCC947141C2C}"/>
              </a:ext>
            </a:extLst>
          </p:cNvPr>
          <p:cNvSpPr>
            <a:spLocks noGrp="1"/>
          </p:cNvSpPr>
          <p:nvPr/>
        </p:nvSpPr>
        <p:spPr>
          <a:xfrm>
            <a:off x="3571875" y="4619625"/>
            <a:ext cx="419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 dirty="0" err="1">
                <a:solidFill>
                  <a:srgbClr val="655F5A"/>
                </a:solidFill>
              </a:rPr>
              <a:t>produz</a:t>
            </a:r>
            <a:endParaRPr sz="750" b="0" dirty="0">
              <a:solidFill>
                <a:srgbClr val="655F5A"/>
              </a:solidFill>
            </a:endParaRPr>
          </a:p>
        </p:txBody>
      </p:sp>
      <p:sp>
        <p:nvSpPr>
          <p:cNvPr id="37" name="Retângulo Arredondado 36">
            <a:extLst>
              <a:ext uri="{FF2B5EF4-FFF2-40B4-BE49-F238E27FC236}">
                <a16:creationId xmlns:a16="http://schemas.microsoft.com/office/drawing/2014/main" id="{E83F2D09-EAB4-4F6F-8238-EFF2AFDB41B1}"/>
              </a:ext>
            </a:extLst>
          </p:cNvPr>
          <p:cNvSpPr>
            <a:spLocks noGrp="1"/>
          </p:cNvSpPr>
          <p:nvPr/>
        </p:nvSpPr>
        <p:spPr>
          <a:xfrm>
            <a:off x="3943350" y="4429125"/>
            <a:ext cx="2066925" cy="1095375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11B4F8-5BCD-483C-9EDB-EC853EAFFE6C}"/>
              </a:ext>
            </a:extLst>
          </p:cNvPr>
          <p:cNvSpPr>
            <a:spLocks noGrp="1"/>
          </p:cNvSpPr>
          <p:nvPr/>
        </p:nvSpPr>
        <p:spPr>
          <a:xfrm>
            <a:off x="3943350" y="4429125"/>
            <a:ext cx="2066925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92B9DB5D-6005-4C3F-8A35-600D85C754F7}"/>
              </a:ext>
            </a:extLst>
          </p:cNvPr>
          <p:cNvSpPr>
            <a:spLocks noGrp="1"/>
          </p:cNvSpPr>
          <p:nvPr/>
        </p:nvSpPr>
        <p:spPr>
          <a:xfrm>
            <a:off x="4057650" y="4572000"/>
            <a:ext cx="18383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Streaming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with Apache Kafka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6110E2A-99AF-4414-A6BF-774B81D15365}"/>
              </a:ext>
            </a:extLst>
          </p:cNvPr>
          <p:cNvSpPr>
            <a:spLocks noGrp="1"/>
          </p:cNvSpPr>
          <p:nvPr/>
        </p:nvSpPr>
        <p:spPr>
          <a:xfrm>
            <a:off x="4057650" y="4924425"/>
            <a:ext cx="18383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Tópico: orders.events.v1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chave: orderId • SASL/SCRAM</a:t>
            </a:r>
          </a:p>
        </p:txBody>
      </p:sp>
      <p:sp>
        <p:nvSpPr>
          <p:cNvPr id="41" name="Seta para Baixo 40">
            <a:extLst>
              <a:ext uri="{FF2B5EF4-FFF2-40B4-BE49-F238E27FC236}">
                <a16:creationId xmlns:a16="http://schemas.microsoft.com/office/drawing/2014/main" id="{A1153080-530E-4B99-818E-7F880BACD007}"/>
              </a:ext>
            </a:extLst>
          </p:cNvPr>
          <p:cNvSpPr>
            <a:spLocks noGrp="1"/>
          </p:cNvSpPr>
          <p:nvPr/>
        </p:nvSpPr>
        <p:spPr>
          <a:xfrm>
            <a:off x="5505450" y="3295650"/>
            <a:ext cx="123825" cy="1095375"/>
          </a:xfrm>
          <a:prstGeom prst="downArrow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EE021B26-0577-4D13-8C21-9E6E1D64CD04}"/>
              </a:ext>
            </a:extLst>
          </p:cNvPr>
          <p:cNvSpPr>
            <a:spLocks noGrp="1"/>
          </p:cNvSpPr>
          <p:nvPr/>
        </p:nvSpPr>
        <p:spPr>
          <a:xfrm>
            <a:off x="5638800" y="3863181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 dirty="0" err="1">
                <a:solidFill>
                  <a:srgbClr val="655F5A"/>
                </a:solidFill>
              </a:rPr>
              <a:t>registros</a:t>
            </a:r>
            <a:endParaRPr sz="750" b="0" dirty="0">
              <a:solidFill>
                <a:srgbClr val="655F5A"/>
              </a:solidFill>
            </a:endParaRPr>
          </a:p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 dirty="0">
                <a:solidFill>
                  <a:srgbClr val="655F5A"/>
                </a:solidFill>
              </a:rPr>
              <a:t>PENDING</a:t>
            </a:r>
          </a:p>
        </p:txBody>
      </p:sp>
      <p:sp>
        <p:nvSpPr>
          <p:cNvPr id="43" name="Retângulo Arredondado 42">
            <a:extLst>
              <a:ext uri="{FF2B5EF4-FFF2-40B4-BE49-F238E27FC236}">
                <a16:creationId xmlns:a16="http://schemas.microsoft.com/office/drawing/2014/main" id="{68C43FFD-7CEA-42A0-82F3-4D1A1F279AE0}"/>
              </a:ext>
            </a:extLst>
          </p:cNvPr>
          <p:cNvSpPr>
            <a:spLocks noGrp="1"/>
          </p:cNvSpPr>
          <p:nvPr/>
        </p:nvSpPr>
        <p:spPr>
          <a:xfrm>
            <a:off x="6419850" y="1390650"/>
            <a:ext cx="5400675" cy="3105150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C5AA987F-FABF-4B51-84B9-D054BFA59DCA}"/>
              </a:ext>
            </a:extLst>
          </p:cNvPr>
          <p:cNvSpPr>
            <a:spLocks noGrp="1"/>
          </p:cNvSpPr>
          <p:nvPr/>
        </p:nvSpPr>
        <p:spPr>
          <a:xfrm>
            <a:off x="6553200" y="1485900"/>
            <a:ext cx="51339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4D8155"/>
                </a:solidFill>
              </a:defRPr>
            </a:pPr>
            <a:r>
              <a:rPr sz="1200" b="1">
                <a:solidFill>
                  <a:srgbClr val="4D8155"/>
                </a:solidFill>
              </a:rPr>
              <a:t>Processamento por domínio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DAF2CB03-84C5-4DF9-9FE0-325C94CC08DD}"/>
              </a:ext>
            </a:extLst>
          </p:cNvPr>
          <p:cNvSpPr>
            <a:spLocks noGrp="1"/>
          </p:cNvSpPr>
          <p:nvPr/>
        </p:nvSpPr>
        <p:spPr>
          <a:xfrm>
            <a:off x="6553200" y="1714500"/>
            <a:ext cx="51339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Cada grupo recebe o evento e escala de forma independente</a:t>
            </a:r>
          </a:p>
        </p:txBody>
      </p:sp>
      <p:sp>
        <p:nvSpPr>
          <p:cNvPr id="46" name="Retângulo Arredondado 45">
            <a:extLst>
              <a:ext uri="{FF2B5EF4-FFF2-40B4-BE49-F238E27FC236}">
                <a16:creationId xmlns:a16="http://schemas.microsoft.com/office/drawing/2014/main" id="{9D56B8AA-8EEF-483D-8DE7-8437306A1216}"/>
              </a:ext>
            </a:extLst>
          </p:cNvPr>
          <p:cNvSpPr>
            <a:spLocks noGrp="1"/>
          </p:cNvSpPr>
          <p:nvPr/>
        </p:nvSpPr>
        <p:spPr>
          <a:xfrm>
            <a:off x="6629400" y="2143125"/>
            <a:ext cx="1504950" cy="85725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F3C2A45-BDF6-4E89-9682-57E226E99B4D}"/>
              </a:ext>
            </a:extLst>
          </p:cNvPr>
          <p:cNvSpPr>
            <a:spLocks noGrp="1"/>
          </p:cNvSpPr>
          <p:nvPr/>
        </p:nvSpPr>
        <p:spPr>
          <a:xfrm>
            <a:off x="6629400" y="2143125"/>
            <a:ext cx="150495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C35648E1-94AD-4A05-91FF-AF258E10964D}"/>
              </a:ext>
            </a:extLst>
          </p:cNvPr>
          <p:cNvSpPr>
            <a:spLocks noGrp="1"/>
          </p:cNvSpPr>
          <p:nvPr/>
        </p:nvSpPr>
        <p:spPr>
          <a:xfrm>
            <a:off x="6681654" y="2286000"/>
            <a:ext cx="1390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 dirty="0">
                <a:solidFill>
                  <a:srgbClr val="29272A"/>
                </a:solidFill>
              </a:rPr>
              <a:t>inventory-consumer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404E7959-3169-4195-9FE1-621FA9BEBCEA}"/>
              </a:ext>
            </a:extLst>
          </p:cNvPr>
          <p:cNvSpPr>
            <a:spLocks noGrp="1"/>
          </p:cNvSpPr>
          <p:nvPr/>
        </p:nvSpPr>
        <p:spPr>
          <a:xfrm>
            <a:off x="6743700" y="2638425"/>
            <a:ext cx="12763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Deployment no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reserva estoque</a:t>
            </a:r>
          </a:p>
        </p:txBody>
      </p:sp>
      <p:sp>
        <p:nvSpPr>
          <p:cNvPr id="50" name="Retângulo Arredondado 49">
            <a:extLst>
              <a:ext uri="{FF2B5EF4-FFF2-40B4-BE49-F238E27FC236}">
                <a16:creationId xmlns:a16="http://schemas.microsoft.com/office/drawing/2014/main" id="{688ECAF0-F896-48B8-BD1A-99E94A0A610D}"/>
              </a:ext>
            </a:extLst>
          </p:cNvPr>
          <p:cNvSpPr>
            <a:spLocks noGrp="1"/>
          </p:cNvSpPr>
          <p:nvPr/>
        </p:nvSpPr>
        <p:spPr>
          <a:xfrm>
            <a:off x="8343900" y="2143124"/>
            <a:ext cx="1504950" cy="809625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77B00244-6054-4CEC-BF6B-A0928DB43583}"/>
              </a:ext>
            </a:extLst>
          </p:cNvPr>
          <p:cNvSpPr>
            <a:spLocks noGrp="1"/>
          </p:cNvSpPr>
          <p:nvPr/>
        </p:nvSpPr>
        <p:spPr>
          <a:xfrm>
            <a:off x="8343900" y="2143125"/>
            <a:ext cx="150495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1E2AC848-4B06-4BF6-9BA1-C88BFEEE2F50}"/>
              </a:ext>
            </a:extLst>
          </p:cNvPr>
          <p:cNvSpPr>
            <a:spLocks noGrp="1"/>
          </p:cNvSpPr>
          <p:nvPr/>
        </p:nvSpPr>
        <p:spPr>
          <a:xfrm>
            <a:off x="8458200" y="2286000"/>
            <a:ext cx="1276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payment-consumer</a:t>
            </a:r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FE056A9C-E77B-4C2B-9A0D-F4FDA4EE46F7}"/>
              </a:ext>
            </a:extLst>
          </p:cNvPr>
          <p:cNvSpPr>
            <a:spLocks noGrp="1"/>
          </p:cNvSpPr>
          <p:nvPr/>
        </p:nvSpPr>
        <p:spPr>
          <a:xfrm>
            <a:off x="8458200" y="2638425"/>
            <a:ext cx="12763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Deployment no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autoriza</a:t>
            </a:r>
            <a:r>
              <a:rPr sz="825" b="0" dirty="0">
                <a:solidFill>
                  <a:srgbClr val="655F5A"/>
                </a:solidFill>
              </a:rPr>
              <a:t> </a:t>
            </a:r>
            <a:r>
              <a:rPr sz="825" b="0" dirty="0" err="1">
                <a:solidFill>
                  <a:srgbClr val="655F5A"/>
                </a:solidFill>
              </a:rPr>
              <a:t>pagamento</a:t>
            </a:r>
            <a:endParaRPr sz="825" b="0" dirty="0">
              <a:solidFill>
                <a:srgbClr val="655F5A"/>
              </a:solidFill>
            </a:endParaRPr>
          </a:p>
        </p:txBody>
      </p:sp>
      <p:sp>
        <p:nvSpPr>
          <p:cNvPr id="54" name="Retângulo Arredondado 53">
            <a:extLst>
              <a:ext uri="{FF2B5EF4-FFF2-40B4-BE49-F238E27FC236}">
                <a16:creationId xmlns:a16="http://schemas.microsoft.com/office/drawing/2014/main" id="{E6BE41ED-331C-47A0-AAA8-D822CBA30E81}"/>
              </a:ext>
            </a:extLst>
          </p:cNvPr>
          <p:cNvSpPr>
            <a:spLocks noGrp="1"/>
          </p:cNvSpPr>
          <p:nvPr/>
        </p:nvSpPr>
        <p:spPr>
          <a:xfrm>
            <a:off x="10058400" y="2143125"/>
            <a:ext cx="1504950" cy="80962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5521655D-19CA-40E5-AA31-A86574190F8C}"/>
              </a:ext>
            </a:extLst>
          </p:cNvPr>
          <p:cNvSpPr>
            <a:spLocks noGrp="1"/>
          </p:cNvSpPr>
          <p:nvPr/>
        </p:nvSpPr>
        <p:spPr>
          <a:xfrm>
            <a:off x="10058400" y="2143125"/>
            <a:ext cx="150495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D317B7F7-EB60-4EC2-85C3-E052F1192921}"/>
              </a:ext>
            </a:extLst>
          </p:cNvPr>
          <p:cNvSpPr>
            <a:spLocks noGrp="1"/>
          </p:cNvSpPr>
          <p:nvPr/>
        </p:nvSpPr>
        <p:spPr>
          <a:xfrm>
            <a:off x="10172700" y="2286000"/>
            <a:ext cx="1276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logistics-consumer</a:t>
            </a:r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0D7067F7-D1D8-458E-AFF2-7C24BEDD1F45}"/>
              </a:ext>
            </a:extLst>
          </p:cNvPr>
          <p:cNvSpPr>
            <a:spLocks noGrp="1"/>
          </p:cNvSpPr>
          <p:nvPr/>
        </p:nvSpPr>
        <p:spPr>
          <a:xfrm>
            <a:off x="10172700" y="2638425"/>
            <a:ext cx="12763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Deployment no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cria</a:t>
            </a:r>
            <a:r>
              <a:rPr sz="825" b="0" dirty="0">
                <a:solidFill>
                  <a:srgbClr val="655F5A"/>
                </a:solidFill>
              </a:rPr>
              <a:t> </a:t>
            </a:r>
            <a:r>
              <a:rPr sz="825" b="0" dirty="0" err="1">
                <a:solidFill>
                  <a:srgbClr val="655F5A"/>
                </a:solidFill>
              </a:rPr>
              <a:t>entrega</a:t>
            </a:r>
            <a:endParaRPr sz="825" b="0" dirty="0">
              <a:solidFill>
                <a:srgbClr val="655F5A"/>
              </a:solidFill>
            </a:endParaRPr>
          </a:p>
        </p:txBody>
      </p:sp>
      <p:sp>
        <p:nvSpPr>
          <p:cNvPr id="58" name="Retângulo Arredondado 57">
            <a:extLst>
              <a:ext uri="{FF2B5EF4-FFF2-40B4-BE49-F238E27FC236}">
                <a16:creationId xmlns:a16="http://schemas.microsoft.com/office/drawing/2014/main" id="{6217F9E5-F114-4CCD-9E10-A5926AAFBE86}"/>
              </a:ext>
            </a:extLst>
          </p:cNvPr>
          <p:cNvSpPr>
            <a:spLocks noGrp="1"/>
          </p:cNvSpPr>
          <p:nvPr/>
        </p:nvSpPr>
        <p:spPr>
          <a:xfrm>
            <a:off x="7343775" y="3219449"/>
            <a:ext cx="1647825" cy="809625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1EAB7C8B-D102-4253-8E13-9FE344EBD4CC}"/>
              </a:ext>
            </a:extLst>
          </p:cNvPr>
          <p:cNvSpPr>
            <a:spLocks noGrp="1"/>
          </p:cNvSpPr>
          <p:nvPr/>
        </p:nvSpPr>
        <p:spPr>
          <a:xfrm>
            <a:off x="7343775" y="3221356"/>
            <a:ext cx="1647825" cy="45719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B42C6C93-22ED-4A1D-B4F0-F2997A721B7F}"/>
              </a:ext>
            </a:extLst>
          </p:cNvPr>
          <p:cNvSpPr>
            <a:spLocks noGrp="1"/>
          </p:cNvSpPr>
          <p:nvPr/>
        </p:nvSpPr>
        <p:spPr>
          <a:xfrm>
            <a:off x="7410450" y="3362325"/>
            <a:ext cx="1466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 dirty="0">
                <a:solidFill>
                  <a:srgbClr val="29272A"/>
                </a:solidFill>
              </a:rPr>
              <a:t>notification-consumer</a:t>
            </a:r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33E986E6-6035-40C1-AC68-F803FA2921DD}"/>
              </a:ext>
            </a:extLst>
          </p:cNvPr>
          <p:cNvSpPr>
            <a:spLocks noGrp="1"/>
          </p:cNvSpPr>
          <p:nvPr/>
        </p:nvSpPr>
        <p:spPr>
          <a:xfrm>
            <a:off x="7600950" y="3714750"/>
            <a:ext cx="12763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Deployment no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e-mail / push</a:t>
            </a:r>
          </a:p>
        </p:txBody>
      </p:sp>
      <p:sp>
        <p:nvSpPr>
          <p:cNvPr id="62" name="Retângulo Arredondado 61">
            <a:extLst>
              <a:ext uri="{FF2B5EF4-FFF2-40B4-BE49-F238E27FC236}">
                <a16:creationId xmlns:a16="http://schemas.microsoft.com/office/drawing/2014/main" id="{78E61CBB-7BCC-4F84-BD0B-DB5552AB2FAA}"/>
              </a:ext>
            </a:extLst>
          </p:cNvPr>
          <p:cNvSpPr>
            <a:spLocks noGrp="1"/>
          </p:cNvSpPr>
          <p:nvPr/>
        </p:nvSpPr>
        <p:spPr>
          <a:xfrm>
            <a:off x="9201150" y="3219450"/>
            <a:ext cx="1504950" cy="80962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FF4ADB98-BAD3-4010-8C4D-1E112AC733F6}"/>
              </a:ext>
            </a:extLst>
          </p:cNvPr>
          <p:cNvSpPr>
            <a:spLocks noGrp="1"/>
          </p:cNvSpPr>
          <p:nvPr/>
        </p:nvSpPr>
        <p:spPr>
          <a:xfrm>
            <a:off x="9201150" y="3219450"/>
            <a:ext cx="150495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A13EE887-7135-4C07-9916-88B7EC37ED88}"/>
              </a:ext>
            </a:extLst>
          </p:cNvPr>
          <p:cNvSpPr>
            <a:spLocks noGrp="1"/>
          </p:cNvSpPr>
          <p:nvPr/>
        </p:nvSpPr>
        <p:spPr>
          <a:xfrm>
            <a:off x="9315450" y="3362325"/>
            <a:ext cx="1276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order-projection</a:t>
            </a:r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66508B41-4CB8-4DE8-A269-267DF9CF9093}"/>
              </a:ext>
            </a:extLst>
          </p:cNvPr>
          <p:cNvSpPr>
            <a:spLocks noGrp="1"/>
          </p:cNvSpPr>
          <p:nvPr/>
        </p:nvSpPr>
        <p:spPr>
          <a:xfrm>
            <a:off x="9315450" y="3714750"/>
            <a:ext cx="12763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Deployment no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atualiza</a:t>
            </a:r>
            <a:r>
              <a:rPr sz="825" b="0" dirty="0">
                <a:solidFill>
                  <a:srgbClr val="655F5A"/>
                </a:solidFill>
              </a:rPr>
              <a:t> consulta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ACB1B628-B562-465A-BBAD-22DC7867A65D}"/>
              </a:ext>
            </a:extLst>
          </p:cNvPr>
          <p:cNvSpPr>
            <a:spLocks noGrp="1"/>
          </p:cNvSpPr>
          <p:nvPr/>
        </p:nvSpPr>
        <p:spPr>
          <a:xfrm>
            <a:off x="6019800" y="4953000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06BF7459-B5ED-4F5C-A51D-C6C4583AE9D0}"/>
              </a:ext>
            </a:extLst>
          </p:cNvPr>
          <p:cNvSpPr>
            <a:spLocks noGrp="1"/>
          </p:cNvSpPr>
          <p:nvPr/>
        </p:nvSpPr>
        <p:spPr>
          <a:xfrm>
            <a:off x="6134100" y="4751388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AFE59986-B81B-49E7-81EC-814BE3F61186}"/>
              </a:ext>
            </a:extLst>
          </p:cNvPr>
          <p:cNvSpPr>
            <a:spLocks noGrp="1"/>
          </p:cNvSpPr>
          <p:nvPr/>
        </p:nvSpPr>
        <p:spPr>
          <a:xfrm>
            <a:off x="6248400" y="4549775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19380907-DE16-4C76-9810-5EAB59BA7CA2}"/>
              </a:ext>
            </a:extLst>
          </p:cNvPr>
          <p:cNvSpPr>
            <a:spLocks noGrp="1"/>
          </p:cNvSpPr>
          <p:nvPr/>
        </p:nvSpPr>
        <p:spPr>
          <a:xfrm>
            <a:off x="6362700" y="4348163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7C5FF931-2279-4393-B5F9-D80149111411}"/>
              </a:ext>
            </a:extLst>
          </p:cNvPr>
          <p:cNvSpPr>
            <a:spLocks noGrp="1"/>
          </p:cNvSpPr>
          <p:nvPr/>
        </p:nvSpPr>
        <p:spPr>
          <a:xfrm>
            <a:off x="6477000" y="4146550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FA63F87F-D247-42BD-A533-5CC649ED1981}"/>
              </a:ext>
            </a:extLst>
          </p:cNvPr>
          <p:cNvSpPr>
            <a:spLocks noGrp="1"/>
          </p:cNvSpPr>
          <p:nvPr/>
        </p:nvSpPr>
        <p:spPr>
          <a:xfrm>
            <a:off x="6591300" y="3944937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73E9D463-BF1F-4F7D-B717-9A8D60DE29F4}"/>
              </a:ext>
            </a:extLst>
          </p:cNvPr>
          <p:cNvSpPr>
            <a:spLocks noGrp="1"/>
          </p:cNvSpPr>
          <p:nvPr/>
        </p:nvSpPr>
        <p:spPr>
          <a:xfrm>
            <a:off x="6705600" y="3743325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755E591F-BA4D-4B93-A90D-72E3AE3E8554}"/>
              </a:ext>
            </a:extLst>
          </p:cNvPr>
          <p:cNvSpPr>
            <a:spLocks noGrp="1"/>
          </p:cNvSpPr>
          <p:nvPr/>
        </p:nvSpPr>
        <p:spPr>
          <a:xfrm>
            <a:off x="6819900" y="3541713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4290713A-88C9-4A69-B614-122035E67631}"/>
              </a:ext>
            </a:extLst>
          </p:cNvPr>
          <p:cNvSpPr>
            <a:spLocks noGrp="1"/>
          </p:cNvSpPr>
          <p:nvPr/>
        </p:nvSpPr>
        <p:spPr>
          <a:xfrm>
            <a:off x="6934200" y="3340100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01CB1E09-00FC-41B8-A566-0D8A28B776CA}"/>
              </a:ext>
            </a:extLst>
          </p:cNvPr>
          <p:cNvSpPr>
            <a:spLocks noGrp="1"/>
          </p:cNvSpPr>
          <p:nvPr/>
        </p:nvSpPr>
        <p:spPr>
          <a:xfrm>
            <a:off x="7048500" y="3138488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FAEA7E3F-E0F9-4968-BF78-83EBE999D513}"/>
              </a:ext>
            </a:extLst>
          </p:cNvPr>
          <p:cNvSpPr>
            <a:spLocks noGrp="1"/>
          </p:cNvSpPr>
          <p:nvPr/>
        </p:nvSpPr>
        <p:spPr>
          <a:xfrm>
            <a:off x="7162800" y="2936875"/>
            <a:ext cx="76200" cy="11985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B1EA92A9-A46F-4EAC-9EF8-C5E4D8B776DA}"/>
              </a:ext>
            </a:extLst>
          </p:cNvPr>
          <p:cNvSpPr>
            <a:spLocks noGrp="1"/>
          </p:cNvSpPr>
          <p:nvPr/>
        </p:nvSpPr>
        <p:spPr>
          <a:xfrm>
            <a:off x="6019800" y="4953000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D2EFC9F6-225F-4601-A4B0-BAD986DD1B5F}"/>
              </a:ext>
            </a:extLst>
          </p:cNvPr>
          <p:cNvSpPr>
            <a:spLocks noGrp="1"/>
          </p:cNvSpPr>
          <p:nvPr/>
        </p:nvSpPr>
        <p:spPr>
          <a:xfrm>
            <a:off x="6201335" y="4810685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870B9A77-0118-4627-94B0-6CAAE85FF79A}"/>
              </a:ext>
            </a:extLst>
          </p:cNvPr>
          <p:cNvSpPr>
            <a:spLocks noGrp="1"/>
          </p:cNvSpPr>
          <p:nvPr/>
        </p:nvSpPr>
        <p:spPr>
          <a:xfrm>
            <a:off x="6382871" y="4668371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31876A1E-B6C1-4AFA-8330-86858CEF500F}"/>
              </a:ext>
            </a:extLst>
          </p:cNvPr>
          <p:cNvSpPr>
            <a:spLocks noGrp="1"/>
          </p:cNvSpPr>
          <p:nvPr/>
        </p:nvSpPr>
        <p:spPr>
          <a:xfrm>
            <a:off x="6564406" y="4526056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D4D67CE5-7A69-4A52-8FB6-EECEE4CD192A}"/>
              </a:ext>
            </a:extLst>
          </p:cNvPr>
          <p:cNvSpPr>
            <a:spLocks noGrp="1"/>
          </p:cNvSpPr>
          <p:nvPr/>
        </p:nvSpPr>
        <p:spPr>
          <a:xfrm>
            <a:off x="6745941" y="4383741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5F8E201E-7342-4C71-AF8D-D2CC4DD006AA}"/>
              </a:ext>
            </a:extLst>
          </p:cNvPr>
          <p:cNvSpPr>
            <a:spLocks noGrp="1"/>
          </p:cNvSpPr>
          <p:nvPr/>
        </p:nvSpPr>
        <p:spPr>
          <a:xfrm>
            <a:off x="6927476" y="4241426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485F394D-DDB1-4546-9697-68006EF12D5A}"/>
              </a:ext>
            </a:extLst>
          </p:cNvPr>
          <p:cNvSpPr>
            <a:spLocks noGrp="1"/>
          </p:cNvSpPr>
          <p:nvPr/>
        </p:nvSpPr>
        <p:spPr>
          <a:xfrm>
            <a:off x="7109012" y="4099112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47A69BA0-AC70-4E18-86C1-4D68C0302E03}"/>
              </a:ext>
            </a:extLst>
          </p:cNvPr>
          <p:cNvSpPr>
            <a:spLocks noGrp="1"/>
          </p:cNvSpPr>
          <p:nvPr/>
        </p:nvSpPr>
        <p:spPr>
          <a:xfrm>
            <a:off x="7290547" y="3956797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5623A876-186E-42A4-9544-C527F0798EE0}"/>
              </a:ext>
            </a:extLst>
          </p:cNvPr>
          <p:cNvSpPr>
            <a:spLocks noGrp="1"/>
          </p:cNvSpPr>
          <p:nvPr/>
        </p:nvSpPr>
        <p:spPr>
          <a:xfrm>
            <a:off x="7472082" y="3814482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4A9CA228-93AF-413E-A605-CDD7CA484A91}"/>
              </a:ext>
            </a:extLst>
          </p:cNvPr>
          <p:cNvSpPr>
            <a:spLocks noGrp="1"/>
          </p:cNvSpPr>
          <p:nvPr/>
        </p:nvSpPr>
        <p:spPr>
          <a:xfrm>
            <a:off x="7653618" y="3672168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CA183BF8-B67F-4C88-B66D-DF8835FCF41D}"/>
              </a:ext>
            </a:extLst>
          </p:cNvPr>
          <p:cNvSpPr>
            <a:spLocks noGrp="1"/>
          </p:cNvSpPr>
          <p:nvPr/>
        </p:nvSpPr>
        <p:spPr>
          <a:xfrm>
            <a:off x="8198224" y="3245224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5FD02848-FAC5-4E3E-A394-D8A65D13B5B8}"/>
              </a:ext>
            </a:extLst>
          </p:cNvPr>
          <p:cNvSpPr>
            <a:spLocks noGrp="1"/>
          </p:cNvSpPr>
          <p:nvPr/>
        </p:nvSpPr>
        <p:spPr>
          <a:xfrm>
            <a:off x="8379759" y="3102909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B73BAB73-4E78-4B5C-86FF-C076B74A7417}"/>
              </a:ext>
            </a:extLst>
          </p:cNvPr>
          <p:cNvSpPr>
            <a:spLocks noGrp="1"/>
          </p:cNvSpPr>
          <p:nvPr/>
        </p:nvSpPr>
        <p:spPr>
          <a:xfrm>
            <a:off x="8561294" y="2960594"/>
            <a:ext cx="109818" cy="90207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F0968B3A-0BA3-49EF-91FF-DBF119B8D195}"/>
              </a:ext>
            </a:extLst>
          </p:cNvPr>
          <p:cNvSpPr>
            <a:spLocks noGrp="1"/>
          </p:cNvSpPr>
          <p:nvPr/>
        </p:nvSpPr>
        <p:spPr>
          <a:xfrm>
            <a:off x="6019800" y="4953000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Retângulo 95">
            <a:extLst>
              <a:ext uri="{FF2B5EF4-FFF2-40B4-BE49-F238E27FC236}">
                <a16:creationId xmlns:a16="http://schemas.microsoft.com/office/drawing/2014/main" id="{12B41943-0AEB-42FA-88B6-A6F5D1A5B2EB}"/>
              </a:ext>
            </a:extLst>
          </p:cNvPr>
          <p:cNvSpPr>
            <a:spLocks noGrp="1"/>
          </p:cNvSpPr>
          <p:nvPr/>
        </p:nvSpPr>
        <p:spPr>
          <a:xfrm>
            <a:off x="6224081" y="4850049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FB77D9FB-B2EC-4E38-9453-F86E7C98E5E9}"/>
              </a:ext>
            </a:extLst>
          </p:cNvPr>
          <p:cNvSpPr>
            <a:spLocks noGrp="1"/>
          </p:cNvSpPr>
          <p:nvPr/>
        </p:nvSpPr>
        <p:spPr>
          <a:xfrm>
            <a:off x="6428362" y="4747098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Retângulo 97">
            <a:extLst>
              <a:ext uri="{FF2B5EF4-FFF2-40B4-BE49-F238E27FC236}">
                <a16:creationId xmlns:a16="http://schemas.microsoft.com/office/drawing/2014/main" id="{D9B79D64-39C6-4EFE-8B28-3F9FE07B9E1B}"/>
              </a:ext>
            </a:extLst>
          </p:cNvPr>
          <p:cNvSpPr>
            <a:spLocks noGrp="1"/>
          </p:cNvSpPr>
          <p:nvPr/>
        </p:nvSpPr>
        <p:spPr>
          <a:xfrm>
            <a:off x="6632643" y="4644147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D1DEE3E3-F095-436A-94CC-69A209F8E5CB}"/>
              </a:ext>
            </a:extLst>
          </p:cNvPr>
          <p:cNvSpPr>
            <a:spLocks noGrp="1"/>
          </p:cNvSpPr>
          <p:nvPr/>
        </p:nvSpPr>
        <p:spPr>
          <a:xfrm>
            <a:off x="6836923" y="4541196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C3F46326-BE1C-4D33-BA1C-EAA97FD6011A}"/>
              </a:ext>
            </a:extLst>
          </p:cNvPr>
          <p:cNvSpPr>
            <a:spLocks noGrp="1"/>
          </p:cNvSpPr>
          <p:nvPr/>
        </p:nvSpPr>
        <p:spPr>
          <a:xfrm>
            <a:off x="7041204" y="4438245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87B56828-62DC-434B-9D77-9BF6266E9ABF}"/>
              </a:ext>
            </a:extLst>
          </p:cNvPr>
          <p:cNvSpPr>
            <a:spLocks noGrp="1"/>
          </p:cNvSpPr>
          <p:nvPr/>
        </p:nvSpPr>
        <p:spPr>
          <a:xfrm>
            <a:off x="7245485" y="4335294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Retângulo 101">
            <a:extLst>
              <a:ext uri="{FF2B5EF4-FFF2-40B4-BE49-F238E27FC236}">
                <a16:creationId xmlns:a16="http://schemas.microsoft.com/office/drawing/2014/main" id="{7A7C4585-BA1C-4787-B404-2E9FFB554EB7}"/>
              </a:ext>
            </a:extLst>
          </p:cNvPr>
          <p:cNvSpPr>
            <a:spLocks noGrp="1"/>
          </p:cNvSpPr>
          <p:nvPr/>
        </p:nvSpPr>
        <p:spPr>
          <a:xfrm>
            <a:off x="7449766" y="4232343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Retângulo 102">
            <a:extLst>
              <a:ext uri="{FF2B5EF4-FFF2-40B4-BE49-F238E27FC236}">
                <a16:creationId xmlns:a16="http://schemas.microsoft.com/office/drawing/2014/main" id="{C18F4B55-FAFA-4758-B0F6-72E088735E7A}"/>
              </a:ext>
            </a:extLst>
          </p:cNvPr>
          <p:cNvSpPr>
            <a:spLocks noGrp="1"/>
          </p:cNvSpPr>
          <p:nvPr/>
        </p:nvSpPr>
        <p:spPr>
          <a:xfrm>
            <a:off x="7654047" y="4129391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Retângulo 103">
            <a:extLst>
              <a:ext uri="{FF2B5EF4-FFF2-40B4-BE49-F238E27FC236}">
                <a16:creationId xmlns:a16="http://schemas.microsoft.com/office/drawing/2014/main" id="{CCC42106-6E91-4D9B-B744-AFE00BD8B88C}"/>
              </a:ext>
            </a:extLst>
          </p:cNvPr>
          <p:cNvSpPr>
            <a:spLocks noGrp="1"/>
          </p:cNvSpPr>
          <p:nvPr/>
        </p:nvSpPr>
        <p:spPr>
          <a:xfrm>
            <a:off x="7858328" y="4026440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Retângulo 107">
            <a:extLst>
              <a:ext uri="{FF2B5EF4-FFF2-40B4-BE49-F238E27FC236}">
                <a16:creationId xmlns:a16="http://schemas.microsoft.com/office/drawing/2014/main" id="{7275AF72-2D61-4C7A-AA26-5726152E9265}"/>
              </a:ext>
            </a:extLst>
          </p:cNvPr>
          <p:cNvSpPr>
            <a:spLocks noGrp="1"/>
          </p:cNvSpPr>
          <p:nvPr/>
        </p:nvSpPr>
        <p:spPr>
          <a:xfrm>
            <a:off x="8675451" y="3614636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Retângulo 108">
            <a:extLst>
              <a:ext uri="{FF2B5EF4-FFF2-40B4-BE49-F238E27FC236}">
                <a16:creationId xmlns:a16="http://schemas.microsoft.com/office/drawing/2014/main" id="{0308C7DF-0247-4546-9B1E-1FABDA97D4AC}"/>
              </a:ext>
            </a:extLst>
          </p:cNvPr>
          <p:cNvSpPr>
            <a:spLocks noGrp="1"/>
          </p:cNvSpPr>
          <p:nvPr/>
        </p:nvSpPr>
        <p:spPr>
          <a:xfrm>
            <a:off x="8879732" y="3511685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0" name="Retângulo 109">
            <a:extLst>
              <a:ext uri="{FF2B5EF4-FFF2-40B4-BE49-F238E27FC236}">
                <a16:creationId xmlns:a16="http://schemas.microsoft.com/office/drawing/2014/main" id="{A1B6910A-A5DB-4B9B-8B25-58C2F84D7DB0}"/>
              </a:ext>
            </a:extLst>
          </p:cNvPr>
          <p:cNvSpPr>
            <a:spLocks noGrp="1"/>
          </p:cNvSpPr>
          <p:nvPr/>
        </p:nvSpPr>
        <p:spPr>
          <a:xfrm>
            <a:off x="9084013" y="3408734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Retângulo 110">
            <a:extLst>
              <a:ext uri="{FF2B5EF4-FFF2-40B4-BE49-F238E27FC236}">
                <a16:creationId xmlns:a16="http://schemas.microsoft.com/office/drawing/2014/main" id="{EE8089FC-E68B-405D-BF69-2EFFBFDA4BEE}"/>
              </a:ext>
            </a:extLst>
          </p:cNvPr>
          <p:cNvSpPr>
            <a:spLocks noGrp="1"/>
          </p:cNvSpPr>
          <p:nvPr/>
        </p:nvSpPr>
        <p:spPr>
          <a:xfrm>
            <a:off x="9288294" y="3305783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2" name="Retângulo 111">
            <a:extLst>
              <a:ext uri="{FF2B5EF4-FFF2-40B4-BE49-F238E27FC236}">
                <a16:creationId xmlns:a16="http://schemas.microsoft.com/office/drawing/2014/main" id="{DA102542-0FE9-4EBD-9DC9-81E88A479973}"/>
              </a:ext>
            </a:extLst>
          </p:cNvPr>
          <p:cNvSpPr>
            <a:spLocks noGrp="1"/>
          </p:cNvSpPr>
          <p:nvPr/>
        </p:nvSpPr>
        <p:spPr>
          <a:xfrm>
            <a:off x="9492574" y="3202832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3" name="Retângulo 112">
            <a:extLst>
              <a:ext uri="{FF2B5EF4-FFF2-40B4-BE49-F238E27FC236}">
                <a16:creationId xmlns:a16="http://schemas.microsoft.com/office/drawing/2014/main" id="{70EBB007-48A1-41F5-853D-D076FAD2F641}"/>
              </a:ext>
            </a:extLst>
          </p:cNvPr>
          <p:cNvSpPr>
            <a:spLocks noGrp="1"/>
          </p:cNvSpPr>
          <p:nvPr/>
        </p:nvSpPr>
        <p:spPr>
          <a:xfrm>
            <a:off x="9696855" y="3099881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Retângulo 113">
            <a:extLst>
              <a:ext uri="{FF2B5EF4-FFF2-40B4-BE49-F238E27FC236}">
                <a16:creationId xmlns:a16="http://schemas.microsoft.com/office/drawing/2014/main" id="{17FDF8C5-6F93-4671-93F8-CF624DE07421}"/>
              </a:ext>
            </a:extLst>
          </p:cNvPr>
          <p:cNvSpPr>
            <a:spLocks noGrp="1"/>
          </p:cNvSpPr>
          <p:nvPr/>
        </p:nvSpPr>
        <p:spPr>
          <a:xfrm>
            <a:off x="9901136" y="2996930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5" name="Retângulo 114">
            <a:extLst>
              <a:ext uri="{FF2B5EF4-FFF2-40B4-BE49-F238E27FC236}">
                <a16:creationId xmlns:a16="http://schemas.microsoft.com/office/drawing/2014/main" id="{D27157F1-0122-4A54-AE09-37A3E8C93CDB}"/>
              </a:ext>
            </a:extLst>
          </p:cNvPr>
          <p:cNvSpPr>
            <a:spLocks noGrp="1"/>
          </p:cNvSpPr>
          <p:nvPr/>
        </p:nvSpPr>
        <p:spPr>
          <a:xfrm>
            <a:off x="10105417" y="2893979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6" name="Retângulo 115">
            <a:extLst>
              <a:ext uri="{FF2B5EF4-FFF2-40B4-BE49-F238E27FC236}">
                <a16:creationId xmlns:a16="http://schemas.microsoft.com/office/drawing/2014/main" id="{BBCEFBA7-3B92-4EA0-AFC8-170D75FCB2AF}"/>
              </a:ext>
            </a:extLst>
          </p:cNvPr>
          <p:cNvSpPr>
            <a:spLocks noGrp="1"/>
          </p:cNvSpPr>
          <p:nvPr/>
        </p:nvSpPr>
        <p:spPr>
          <a:xfrm>
            <a:off x="10309698" y="2791028"/>
            <a:ext cx="121190" cy="70526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9" name="Retângulo 118">
            <a:extLst>
              <a:ext uri="{FF2B5EF4-FFF2-40B4-BE49-F238E27FC236}">
                <a16:creationId xmlns:a16="http://schemas.microsoft.com/office/drawing/2014/main" id="{0D8571B9-FE72-497C-8DB3-8F2B60E732F9}"/>
              </a:ext>
            </a:extLst>
          </p:cNvPr>
          <p:cNvSpPr>
            <a:spLocks noGrp="1"/>
          </p:cNvSpPr>
          <p:nvPr/>
        </p:nvSpPr>
        <p:spPr>
          <a:xfrm>
            <a:off x="6019800" y="4953000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Retângulo 119">
            <a:extLst>
              <a:ext uri="{FF2B5EF4-FFF2-40B4-BE49-F238E27FC236}">
                <a16:creationId xmlns:a16="http://schemas.microsoft.com/office/drawing/2014/main" id="{D954C63B-6C7A-4301-BC4F-66262921CAE2}"/>
              </a:ext>
            </a:extLst>
          </p:cNvPr>
          <p:cNvSpPr>
            <a:spLocks noGrp="1"/>
          </p:cNvSpPr>
          <p:nvPr/>
        </p:nvSpPr>
        <p:spPr>
          <a:xfrm>
            <a:off x="6222423" y="4830041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1" name="Retângulo 120">
            <a:extLst>
              <a:ext uri="{FF2B5EF4-FFF2-40B4-BE49-F238E27FC236}">
                <a16:creationId xmlns:a16="http://schemas.microsoft.com/office/drawing/2014/main" id="{A878816A-4882-47C8-886F-0C8AF18B25DB}"/>
              </a:ext>
            </a:extLst>
          </p:cNvPr>
          <p:cNvSpPr>
            <a:spLocks noGrp="1"/>
          </p:cNvSpPr>
          <p:nvPr/>
        </p:nvSpPr>
        <p:spPr>
          <a:xfrm>
            <a:off x="6425045" y="4707082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2" name="Retângulo 121">
            <a:extLst>
              <a:ext uri="{FF2B5EF4-FFF2-40B4-BE49-F238E27FC236}">
                <a16:creationId xmlns:a16="http://schemas.microsoft.com/office/drawing/2014/main" id="{098A40C0-4EF2-4751-98B9-B44BBD705B67}"/>
              </a:ext>
            </a:extLst>
          </p:cNvPr>
          <p:cNvSpPr>
            <a:spLocks noGrp="1"/>
          </p:cNvSpPr>
          <p:nvPr/>
        </p:nvSpPr>
        <p:spPr>
          <a:xfrm>
            <a:off x="6627668" y="4584123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3" name="Retângulo 122">
            <a:extLst>
              <a:ext uri="{FF2B5EF4-FFF2-40B4-BE49-F238E27FC236}">
                <a16:creationId xmlns:a16="http://schemas.microsoft.com/office/drawing/2014/main" id="{CA3FA583-431A-454A-B640-59DAB7024645}"/>
              </a:ext>
            </a:extLst>
          </p:cNvPr>
          <p:cNvSpPr>
            <a:spLocks noGrp="1"/>
          </p:cNvSpPr>
          <p:nvPr/>
        </p:nvSpPr>
        <p:spPr>
          <a:xfrm>
            <a:off x="6830291" y="4461164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4" name="Retângulo 123">
            <a:extLst>
              <a:ext uri="{FF2B5EF4-FFF2-40B4-BE49-F238E27FC236}">
                <a16:creationId xmlns:a16="http://schemas.microsoft.com/office/drawing/2014/main" id="{9F4B3C81-D281-4C52-A524-A31587FF0D83}"/>
              </a:ext>
            </a:extLst>
          </p:cNvPr>
          <p:cNvSpPr>
            <a:spLocks noGrp="1"/>
          </p:cNvSpPr>
          <p:nvPr/>
        </p:nvSpPr>
        <p:spPr>
          <a:xfrm>
            <a:off x="7032914" y="4338205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5" name="Retângulo 124">
            <a:extLst>
              <a:ext uri="{FF2B5EF4-FFF2-40B4-BE49-F238E27FC236}">
                <a16:creationId xmlns:a16="http://schemas.microsoft.com/office/drawing/2014/main" id="{054FCB7D-2BA4-4A09-9F60-E2723DB3514D}"/>
              </a:ext>
            </a:extLst>
          </p:cNvPr>
          <p:cNvSpPr>
            <a:spLocks noGrp="1"/>
          </p:cNvSpPr>
          <p:nvPr/>
        </p:nvSpPr>
        <p:spPr>
          <a:xfrm>
            <a:off x="7235536" y="4215245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6" name="Retângulo 125">
            <a:extLst>
              <a:ext uri="{FF2B5EF4-FFF2-40B4-BE49-F238E27FC236}">
                <a16:creationId xmlns:a16="http://schemas.microsoft.com/office/drawing/2014/main" id="{84A93DD2-5D73-4966-A433-032E92D50E9E}"/>
              </a:ext>
            </a:extLst>
          </p:cNvPr>
          <p:cNvSpPr>
            <a:spLocks noGrp="1"/>
          </p:cNvSpPr>
          <p:nvPr/>
        </p:nvSpPr>
        <p:spPr>
          <a:xfrm>
            <a:off x="7438159" y="4092286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7" name="Retângulo 126">
            <a:extLst>
              <a:ext uri="{FF2B5EF4-FFF2-40B4-BE49-F238E27FC236}">
                <a16:creationId xmlns:a16="http://schemas.microsoft.com/office/drawing/2014/main" id="{2C2D2CDE-B1ED-4496-8E13-2EBDDB0420C9}"/>
              </a:ext>
            </a:extLst>
          </p:cNvPr>
          <p:cNvSpPr>
            <a:spLocks noGrp="1"/>
          </p:cNvSpPr>
          <p:nvPr/>
        </p:nvSpPr>
        <p:spPr>
          <a:xfrm>
            <a:off x="7640782" y="3969327"/>
            <a:ext cx="120361" cy="80530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0" name="Retângulo 129">
            <a:extLst>
              <a:ext uri="{FF2B5EF4-FFF2-40B4-BE49-F238E27FC236}">
                <a16:creationId xmlns:a16="http://schemas.microsoft.com/office/drawing/2014/main" id="{A0E82138-1CC4-44F6-A7D3-DAFC97E3661E}"/>
              </a:ext>
            </a:extLst>
          </p:cNvPr>
          <p:cNvSpPr>
            <a:spLocks noGrp="1"/>
          </p:cNvSpPr>
          <p:nvPr/>
        </p:nvSpPr>
        <p:spPr>
          <a:xfrm>
            <a:off x="6019800" y="4953000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1" name="Retângulo 130">
            <a:extLst>
              <a:ext uri="{FF2B5EF4-FFF2-40B4-BE49-F238E27FC236}">
                <a16:creationId xmlns:a16="http://schemas.microsoft.com/office/drawing/2014/main" id="{03B106EC-ACE0-404F-86C2-BF3D271A1681}"/>
              </a:ext>
            </a:extLst>
          </p:cNvPr>
          <p:cNvSpPr>
            <a:spLocks noGrp="1"/>
          </p:cNvSpPr>
          <p:nvPr/>
        </p:nvSpPr>
        <p:spPr>
          <a:xfrm>
            <a:off x="6238875" y="4877858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2" name="Retângulo 131">
            <a:extLst>
              <a:ext uri="{FF2B5EF4-FFF2-40B4-BE49-F238E27FC236}">
                <a16:creationId xmlns:a16="http://schemas.microsoft.com/office/drawing/2014/main" id="{6E54E91B-2CB4-4D8B-9C2A-5466B72F9C45}"/>
              </a:ext>
            </a:extLst>
          </p:cNvPr>
          <p:cNvSpPr>
            <a:spLocks noGrp="1"/>
          </p:cNvSpPr>
          <p:nvPr/>
        </p:nvSpPr>
        <p:spPr>
          <a:xfrm>
            <a:off x="6457950" y="4802717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Retângulo 132">
            <a:extLst>
              <a:ext uri="{FF2B5EF4-FFF2-40B4-BE49-F238E27FC236}">
                <a16:creationId xmlns:a16="http://schemas.microsoft.com/office/drawing/2014/main" id="{C317F8E0-A872-4C45-90E7-593223E4CFEB}"/>
              </a:ext>
            </a:extLst>
          </p:cNvPr>
          <p:cNvSpPr>
            <a:spLocks noGrp="1"/>
          </p:cNvSpPr>
          <p:nvPr/>
        </p:nvSpPr>
        <p:spPr>
          <a:xfrm>
            <a:off x="6677025" y="4727575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4" name="Retângulo 133">
            <a:extLst>
              <a:ext uri="{FF2B5EF4-FFF2-40B4-BE49-F238E27FC236}">
                <a16:creationId xmlns:a16="http://schemas.microsoft.com/office/drawing/2014/main" id="{BAF02A98-E5E4-4431-A6BA-A07F1BA3CF26}"/>
              </a:ext>
            </a:extLst>
          </p:cNvPr>
          <p:cNvSpPr>
            <a:spLocks noGrp="1"/>
          </p:cNvSpPr>
          <p:nvPr/>
        </p:nvSpPr>
        <p:spPr>
          <a:xfrm>
            <a:off x="6896100" y="4652433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5" name="Retângulo 134">
            <a:extLst>
              <a:ext uri="{FF2B5EF4-FFF2-40B4-BE49-F238E27FC236}">
                <a16:creationId xmlns:a16="http://schemas.microsoft.com/office/drawing/2014/main" id="{5E8B7EC4-BAEC-4F7B-AF02-53C9F5AD8E7A}"/>
              </a:ext>
            </a:extLst>
          </p:cNvPr>
          <p:cNvSpPr>
            <a:spLocks noGrp="1"/>
          </p:cNvSpPr>
          <p:nvPr/>
        </p:nvSpPr>
        <p:spPr>
          <a:xfrm>
            <a:off x="7115175" y="4577292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6" name="Retângulo 135">
            <a:extLst>
              <a:ext uri="{FF2B5EF4-FFF2-40B4-BE49-F238E27FC236}">
                <a16:creationId xmlns:a16="http://schemas.microsoft.com/office/drawing/2014/main" id="{B6E8B102-435C-420B-8225-08538B8A1A4D}"/>
              </a:ext>
            </a:extLst>
          </p:cNvPr>
          <p:cNvSpPr>
            <a:spLocks noGrp="1"/>
          </p:cNvSpPr>
          <p:nvPr/>
        </p:nvSpPr>
        <p:spPr>
          <a:xfrm>
            <a:off x="7334250" y="4502150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7" name="Retângulo 136">
            <a:extLst>
              <a:ext uri="{FF2B5EF4-FFF2-40B4-BE49-F238E27FC236}">
                <a16:creationId xmlns:a16="http://schemas.microsoft.com/office/drawing/2014/main" id="{99306624-C239-48B7-BEC8-45D703CDBC87}"/>
              </a:ext>
            </a:extLst>
          </p:cNvPr>
          <p:cNvSpPr>
            <a:spLocks noGrp="1"/>
          </p:cNvSpPr>
          <p:nvPr/>
        </p:nvSpPr>
        <p:spPr>
          <a:xfrm>
            <a:off x="7553325" y="4427008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8" name="Retângulo 137">
            <a:extLst>
              <a:ext uri="{FF2B5EF4-FFF2-40B4-BE49-F238E27FC236}">
                <a16:creationId xmlns:a16="http://schemas.microsoft.com/office/drawing/2014/main" id="{FFE5461D-D388-400A-B4B6-99DE20B91F2E}"/>
              </a:ext>
            </a:extLst>
          </p:cNvPr>
          <p:cNvSpPr>
            <a:spLocks noGrp="1"/>
          </p:cNvSpPr>
          <p:nvPr/>
        </p:nvSpPr>
        <p:spPr>
          <a:xfrm>
            <a:off x="7772400" y="4351867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9" name="Retângulo 138">
            <a:extLst>
              <a:ext uri="{FF2B5EF4-FFF2-40B4-BE49-F238E27FC236}">
                <a16:creationId xmlns:a16="http://schemas.microsoft.com/office/drawing/2014/main" id="{EFD1B294-2C6E-4E99-9591-47A1E4C57851}"/>
              </a:ext>
            </a:extLst>
          </p:cNvPr>
          <p:cNvSpPr>
            <a:spLocks noGrp="1"/>
          </p:cNvSpPr>
          <p:nvPr/>
        </p:nvSpPr>
        <p:spPr>
          <a:xfrm>
            <a:off x="7991475" y="4276725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0" name="Retângulo 139">
            <a:extLst>
              <a:ext uri="{FF2B5EF4-FFF2-40B4-BE49-F238E27FC236}">
                <a16:creationId xmlns:a16="http://schemas.microsoft.com/office/drawing/2014/main" id="{42F16FDD-13B7-4A59-957E-D2BDC531C0F2}"/>
              </a:ext>
            </a:extLst>
          </p:cNvPr>
          <p:cNvSpPr>
            <a:spLocks noGrp="1"/>
          </p:cNvSpPr>
          <p:nvPr/>
        </p:nvSpPr>
        <p:spPr>
          <a:xfrm>
            <a:off x="8210550" y="4201583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1" name="Retângulo 140">
            <a:extLst>
              <a:ext uri="{FF2B5EF4-FFF2-40B4-BE49-F238E27FC236}">
                <a16:creationId xmlns:a16="http://schemas.microsoft.com/office/drawing/2014/main" id="{F806ACFE-45F9-403B-9D28-72CCECC8E258}"/>
              </a:ext>
            </a:extLst>
          </p:cNvPr>
          <p:cNvSpPr>
            <a:spLocks noGrp="1"/>
          </p:cNvSpPr>
          <p:nvPr/>
        </p:nvSpPr>
        <p:spPr>
          <a:xfrm>
            <a:off x="8429625" y="4126442"/>
            <a:ext cx="128587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2" name="Retângulo 141">
            <a:extLst>
              <a:ext uri="{FF2B5EF4-FFF2-40B4-BE49-F238E27FC236}">
                <a16:creationId xmlns:a16="http://schemas.microsoft.com/office/drawing/2014/main" id="{EF240F42-81CD-4F1F-8C8A-C6A5644DF7A5}"/>
              </a:ext>
            </a:extLst>
          </p:cNvPr>
          <p:cNvSpPr>
            <a:spLocks noGrp="1"/>
          </p:cNvSpPr>
          <p:nvPr/>
        </p:nvSpPr>
        <p:spPr>
          <a:xfrm>
            <a:off x="8648700" y="4051300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3" name="Retângulo 142">
            <a:extLst>
              <a:ext uri="{FF2B5EF4-FFF2-40B4-BE49-F238E27FC236}">
                <a16:creationId xmlns:a16="http://schemas.microsoft.com/office/drawing/2014/main" id="{AA8644A0-021B-4EE4-B0AB-244FF2528394}"/>
              </a:ext>
            </a:extLst>
          </p:cNvPr>
          <p:cNvSpPr>
            <a:spLocks noGrp="1"/>
          </p:cNvSpPr>
          <p:nvPr/>
        </p:nvSpPr>
        <p:spPr>
          <a:xfrm>
            <a:off x="8867775" y="3976158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4" name="Retângulo 143">
            <a:extLst>
              <a:ext uri="{FF2B5EF4-FFF2-40B4-BE49-F238E27FC236}">
                <a16:creationId xmlns:a16="http://schemas.microsoft.com/office/drawing/2014/main" id="{CEB9DCDB-8203-4339-8022-9F927EE0F4F3}"/>
              </a:ext>
            </a:extLst>
          </p:cNvPr>
          <p:cNvSpPr>
            <a:spLocks noGrp="1"/>
          </p:cNvSpPr>
          <p:nvPr/>
        </p:nvSpPr>
        <p:spPr>
          <a:xfrm>
            <a:off x="9086850" y="3901017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5" name="Retângulo 144">
            <a:extLst>
              <a:ext uri="{FF2B5EF4-FFF2-40B4-BE49-F238E27FC236}">
                <a16:creationId xmlns:a16="http://schemas.microsoft.com/office/drawing/2014/main" id="{EFD23674-8608-4F0D-9686-6221EDF29AD3}"/>
              </a:ext>
            </a:extLst>
          </p:cNvPr>
          <p:cNvSpPr>
            <a:spLocks noGrp="1"/>
          </p:cNvSpPr>
          <p:nvPr/>
        </p:nvSpPr>
        <p:spPr>
          <a:xfrm>
            <a:off x="9305925" y="3825875"/>
            <a:ext cx="128588" cy="56621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8" name="Retângulo Arredondado 147">
            <a:extLst>
              <a:ext uri="{FF2B5EF4-FFF2-40B4-BE49-F238E27FC236}">
                <a16:creationId xmlns:a16="http://schemas.microsoft.com/office/drawing/2014/main" id="{CC53956A-93D1-4060-9D73-AD93A6788D74}"/>
              </a:ext>
            </a:extLst>
          </p:cNvPr>
          <p:cNvSpPr>
            <a:spLocks noGrp="1"/>
          </p:cNvSpPr>
          <p:nvPr/>
        </p:nvSpPr>
        <p:spPr>
          <a:xfrm>
            <a:off x="6419850" y="4686300"/>
            <a:ext cx="5400675" cy="120015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9" name="Retângulo 148">
            <a:extLst>
              <a:ext uri="{FF2B5EF4-FFF2-40B4-BE49-F238E27FC236}">
                <a16:creationId xmlns:a16="http://schemas.microsoft.com/office/drawing/2014/main" id="{704D17C2-4D20-49A5-9A24-7FACF36A2E70}"/>
              </a:ext>
            </a:extLst>
          </p:cNvPr>
          <p:cNvSpPr>
            <a:spLocks noGrp="1"/>
          </p:cNvSpPr>
          <p:nvPr/>
        </p:nvSpPr>
        <p:spPr>
          <a:xfrm>
            <a:off x="6553200" y="4781550"/>
            <a:ext cx="51339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5B0"/>
                </a:solidFill>
              </a:defRPr>
            </a:pPr>
            <a:r>
              <a:rPr sz="1200" b="1">
                <a:solidFill>
                  <a:srgbClr val="2F65B0"/>
                </a:solidFill>
              </a:rPr>
              <a:t>Query / Read</a:t>
            </a:r>
          </a:p>
        </p:txBody>
      </p:sp>
      <p:sp>
        <p:nvSpPr>
          <p:cNvPr id="150" name="Retângulo 149">
            <a:extLst>
              <a:ext uri="{FF2B5EF4-FFF2-40B4-BE49-F238E27FC236}">
                <a16:creationId xmlns:a16="http://schemas.microsoft.com/office/drawing/2014/main" id="{8F6AABBE-A56E-44F3-BC15-EC05199A71DB}"/>
              </a:ext>
            </a:extLst>
          </p:cNvPr>
          <p:cNvSpPr>
            <a:spLocks noGrp="1"/>
          </p:cNvSpPr>
          <p:nvPr/>
        </p:nvSpPr>
        <p:spPr>
          <a:xfrm>
            <a:off x="6553200" y="4946650"/>
            <a:ext cx="51339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Fluxo</a:t>
            </a:r>
            <a:r>
              <a:rPr sz="825" b="0" dirty="0">
                <a:solidFill>
                  <a:srgbClr val="655F5A"/>
                </a:solidFill>
              </a:rPr>
              <a:t> </a:t>
            </a:r>
            <a:r>
              <a:rPr sz="825" b="0" dirty="0" err="1">
                <a:solidFill>
                  <a:srgbClr val="655F5A"/>
                </a:solidFill>
              </a:rPr>
              <a:t>síncrono</a:t>
            </a:r>
            <a:r>
              <a:rPr sz="825" b="0" dirty="0">
                <a:solidFill>
                  <a:srgbClr val="655F5A"/>
                </a:solidFill>
              </a:rPr>
              <a:t> para consulta</a:t>
            </a:r>
          </a:p>
        </p:txBody>
      </p:sp>
      <p:sp>
        <p:nvSpPr>
          <p:cNvPr id="151" name="Retângulo Arredondado 150">
            <a:extLst>
              <a:ext uri="{FF2B5EF4-FFF2-40B4-BE49-F238E27FC236}">
                <a16:creationId xmlns:a16="http://schemas.microsoft.com/office/drawing/2014/main" id="{9B9681E0-95F4-41BB-B7CF-6731EE0E8753}"/>
              </a:ext>
            </a:extLst>
          </p:cNvPr>
          <p:cNvSpPr>
            <a:spLocks noGrp="1"/>
          </p:cNvSpPr>
          <p:nvPr/>
        </p:nvSpPr>
        <p:spPr>
          <a:xfrm>
            <a:off x="6667500" y="5124449"/>
            <a:ext cx="1295400" cy="657225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2" name="Retângulo 151">
            <a:extLst>
              <a:ext uri="{FF2B5EF4-FFF2-40B4-BE49-F238E27FC236}">
                <a16:creationId xmlns:a16="http://schemas.microsoft.com/office/drawing/2014/main" id="{C3FB49BE-B9FB-4B86-902D-6D6055380067}"/>
              </a:ext>
            </a:extLst>
          </p:cNvPr>
          <p:cNvSpPr>
            <a:spLocks noGrp="1"/>
          </p:cNvSpPr>
          <p:nvPr/>
        </p:nvSpPr>
        <p:spPr>
          <a:xfrm>
            <a:off x="6667500" y="5124450"/>
            <a:ext cx="129540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3" name="Retângulo 152">
            <a:extLst>
              <a:ext uri="{FF2B5EF4-FFF2-40B4-BE49-F238E27FC236}">
                <a16:creationId xmlns:a16="http://schemas.microsoft.com/office/drawing/2014/main" id="{671741AC-90F4-4BB3-BA51-0F755BF76303}"/>
              </a:ext>
            </a:extLst>
          </p:cNvPr>
          <p:cNvSpPr>
            <a:spLocks noGrp="1"/>
          </p:cNvSpPr>
          <p:nvPr/>
        </p:nvSpPr>
        <p:spPr>
          <a:xfrm>
            <a:off x="6743700" y="5267325"/>
            <a:ext cx="1104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 dirty="0">
                <a:solidFill>
                  <a:srgbClr val="29272A"/>
                </a:solidFill>
              </a:rPr>
              <a:t>Order Query API</a:t>
            </a:r>
          </a:p>
        </p:txBody>
      </p:sp>
      <p:sp>
        <p:nvSpPr>
          <p:cNvPr id="154" name="Retângulo 153">
            <a:extLst>
              <a:ext uri="{FF2B5EF4-FFF2-40B4-BE49-F238E27FC236}">
                <a16:creationId xmlns:a16="http://schemas.microsoft.com/office/drawing/2014/main" id="{F1849DDA-D6A9-45A5-9F8A-D4BE066EE332}"/>
              </a:ext>
            </a:extLst>
          </p:cNvPr>
          <p:cNvSpPr>
            <a:spLocks noGrp="1"/>
          </p:cNvSpPr>
          <p:nvPr/>
        </p:nvSpPr>
        <p:spPr>
          <a:xfrm>
            <a:off x="6781800" y="5429250"/>
            <a:ext cx="106680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OCI Function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GET /orders/{id}</a:t>
            </a:r>
          </a:p>
        </p:txBody>
      </p:sp>
      <p:sp>
        <p:nvSpPr>
          <p:cNvPr id="155" name="Seta para a Direita 154">
            <a:extLst>
              <a:ext uri="{FF2B5EF4-FFF2-40B4-BE49-F238E27FC236}">
                <a16:creationId xmlns:a16="http://schemas.microsoft.com/office/drawing/2014/main" id="{ACF099BD-EE3A-4935-AC56-FA33BB8CD9EF}"/>
              </a:ext>
            </a:extLst>
          </p:cNvPr>
          <p:cNvSpPr>
            <a:spLocks noGrp="1"/>
          </p:cNvSpPr>
          <p:nvPr/>
        </p:nvSpPr>
        <p:spPr>
          <a:xfrm>
            <a:off x="7981950" y="5334000"/>
            <a:ext cx="33337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6" name="Retângulo 155">
            <a:extLst>
              <a:ext uri="{FF2B5EF4-FFF2-40B4-BE49-F238E27FC236}">
                <a16:creationId xmlns:a16="http://schemas.microsoft.com/office/drawing/2014/main" id="{9EE77609-25AD-4889-9394-E578B9D43068}"/>
              </a:ext>
            </a:extLst>
          </p:cNvPr>
          <p:cNvSpPr>
            <a:spLocks noGrp="1"/>
          </p:cNvSpPr>
          <p:nvPr/>
        </p:nvSpPr>
        <p:spPr>
          <a:xfrm>
            <a:off x="7915275" y="5143500"/>
            <a:ext cx="4667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lê</a:t>
            </a:r>
          </a:p>
        </p:txBody>
      </p:sp>
      <p:sp>
        <p:nvSpPr>
          <p:cNvPr id="157" name="Retângulo Arredondado 156">
            <a:extLst>
              <a:ext uri="{FF2B5EF4-FFF2-40B4-BE49-F238E27FC236}">
                <a16:creationId xmlns:a16="http://schemas.microsoft.com/office/drawing/2014/main" id="{506A8894-7ACD-4367-A432-BA4BC1D53B01}"/>
              </a:ext>
            </a:extLst>
          </p:cNvPr>
          <p:cNvSpPr>
            <a:spLocks noGrp="1"/>
          </p:cNvSpPr>
          <p:nvPr/>
        </p:nvSpPr>
        <p:spPr>
          <a:xfrm>
            <a:off x="8334375" y="5048249"/>
            <a:ext cx="1285875" cy="733425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8" name="Retângulo 157">
            <a:extLst>
              <a:ext uri="{FF2B5EF4-FFF2-40B4-BE49-F238E27FC236}">
                <a16:creationId xmlns:a16="http://schemas.microsoft.com/office/drawing/2014/main" id="{7C5816A4-6388-4CC8-BE1F-CB8442FB17AB}"/>
              </a:ext>
            </a:extLst>
          </p:cNvPr>
          <p:cNvSpPr>
            <a:spLocks noGrp="1"/>
          </p:cNvSpPr>
          <p:nvPr/>
        </p:nvSpPr>
        <p:spPr>
          <a:xfrm>
            <a:off x="8334375" y="5048250"/>
            <a:ext cx="1285875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9" name="Retângulo 158">
            <a:extLst>
              <a:ext uri="{FF2B5EF4-FFF2-40B4-BE49-F238E27FC236}">
                <a16:creationId xmlns:a16="http://schemas.microsoft.com/office/drawing/2014/main" id="{731067F4-B627-496F-AF94-9077BD3D525E}"/>
              </a:ext>
            </a:extLst>
          </p:cNvPr>
          <p:cNvSpPr>
            <a:spLocks noGrp="1"/>
          </p:cNvSpPr>
          <p:nvPr/>
        </p:nvSpPr>
        <p:spPr>
          <a:xfrm>
            <a:off x="8448675" y="5191125"/>
            <a:ext cx="10572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Oracle NoSQL</a:t>
            </a:r>
          </a:p>
        </p:txBody>
      </p:sp>
      <p:sp>
        <p:nvSpPr>
          <p:cNvPr id="160" name="Retângulo 159">
            <a:extLst>
              <a:ext uri="{FF2B5EF4-FFF2-40B4-BE49-F238E27FC236}">
                <a16:creationId xmlns:a16="http://schemas.microsoft.com/office/drawing/2014/main" id="{04F4E006-10C5-49BB-A7DF-222CAB5902DB}"/>
              </a:ext>
            </a:extLst>
          </p:cNvPr>
          <p:cNvSpPr>
            <a:spLocks noGrp="1"/>
          </p:cNvSpPr>
          <p:nvPr/>
        </p:nvSpPr>
        <p:spPr>
          <a:xfrm>
            <a:off x="8443096" y="5421312"/>
            <a:ext cx="105727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read model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status do </a:t>
            </a:r>
            <a:r>
              <a:rPr sz="825" b="0" dirty="0" err="1">
                <a:solidFill>
                  <a:srgbClr val="655F5A"/>
                </a:solidFill>
              </a:rPr>
              <a:t>pedido</a:t>
            </a:r>
            <a:endParaRPr sz="825" b="0" dirty="0">
              <a:solidFill>
                <a:srgbClr val="655F5A"/>
              </a:solidFill>
            </a:endParaRPr>
          </a:p>
        </p:txBody>
      </p:sp>
      <p:sp>
        <p:nvSpPr>
          <p:cNvPr id="161" name="Seta para a Direita 160">
            <a:extLst>
              <a:ext uri="{FF2B5EF4-FFF2-40B4-BE49-F238E27FC236}">
                <a16:creationId xmlns:a16="http://schemas.microsoft.com/office/drawing/2014/main" id="{277B4009-EE22-4740-8700-E3AA9E126856}"/>
              </a:ext>
            </a:extLst>
          </p:cNvPr>
          <p:cNvSpPr>
            <a:spLocks noGrp="1"/>
          </p:cNvSpPr>
          <p:nvPr/>
        </p:nvSpPr>
        <p:spPr>
          <a:xfrm>
            <a:off x="9639300" y="5334000"/>
            <a:ext cx="34290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2" name="Retângulo 161">
            <a:extLst>
              <a:ext uri="{FF2B5EF4-FFF2-40B4-BE49-F238E27FC236}">
                <a16:creationId xmlns:a16="http://schemas.microsoft.com/office/drawing/2014/main" id="{23B9C21E-92B1-4CB8-A79C-FDA5C260D42E}"/>
              </a:ext>
            </a:extLst>
          </p:cNvPr>
          <p:cNvSpPr>
            <a:spLocks noGrp="1"/>
          </p:cNvSpPr>
          <p:nvPr/>
        </p:nvSpPr>
        <p:spPr>
          <a:xfrm>
            <a:off x="9582150" y="5067300"/>
            <a:ext cx="47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 dirty="0">
                <a:solidFill>
                  <a:srgbClr val="655F5A"/>
                </a:solidFill>
              </a:rPr>
              <a:t>HTTP 200</a:t>
            </a:r>
          </a:p>
        </p:txBody>
      </p:sp>
      <p:sp>
        <p:nvSpPr>
          <p:cNvPr id="163" name="Retângulo Arredondado 162">
            <a:extLst>
              <a:ext uri="{FF2B5EF4-FFF2-40B4-BE49-F238E27FC236}">
                <a16:creationId xmlns:a16="http://schemas.microsoft.com/office/drawing/2014/main" id="{94F6458B-F390-4273-9534-DCE7CC0C73C9}"/>
              </a:ext>
            </a:extLst>
          </p:cNvPr>
          <p:cNvSpPr>
            <a:spLocks noGrp="1"/>
          </p:cNvSpPr>
          <p:nvPr/>
        </p:nvSpPr>
        <p:spPr>
          <a:xfrm>
            <a:off x="10001250" y="5069365"/>
            <a:ext cx="1581150" cy="723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4" name="Retângulo 163">
            <a:extLst>
              <a:ext uri="{FF2B5EF4-FFF2-40B4-BE49-F238E27FC236}">
                <a16:creationId xmlns:a16="http://schemas.microsoft.com/office/drawing/2014/main" id="{7AAD301C-EB0F-4411-803E-29C6690F01C3}"/>
              </a:ext>
            </a:extLst>
          </p:cNvPr>
          <p:cNvSpPr>
            <a:spLocks noGrp="1"/>
          </p:cNvSpPr>
          <p:nvPr/>
        </p:nvSpPr>
        <p:spPr>
          <a:xfrm>
            <a:off x="10001250" y="5080382"/>
            <a:ext cx="1581150" cy="47625"/>
          </a:xfrm>
          <a:prstGeom prst="rect">
            <a:avLst/>
          </a:prstGeom>
          <a:solidFill>
            <a:srgbClr val="176875"/>
          </a:solidFill>
          <a:ln w="0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5" name="Retângulo 164">
            <a:extLst>
              <a:ext uri="{FF2B5EF4-FFF2-40B4-BE49-F238E27FC236}">
                <a16:creationId xmlns:a16="http://schemas.microsoft.com/office/drawing/2014/main" id="{87A783DA-1862-4FA7-B459-60C481CFB3EA}"/>
              </a:ext>
            </a:extLst>
          </p:cNvPr>
          <p:cNvSpPr>
            <a:spLocks noGrp="1"/>
          </p:cNvSpPr>
          <p:nvPr/>
        </p:nvSpPr>
        <p:spPr>
          <a:xfrm>
            <a:off x="10115550" y="5267325"/>
            <a:ext cx="1352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Cliente recebe status</a:t>
            </a:r>
          </a:p>
        </p:txBody>
      </p:sp>
      <p:sp>
        <p:nvSpPr>
          <p:cNvPr id="166" name="Retângulo 165">
            <a:extLst>
              <a:ext uri="{FF2B5EF4-FFF2-40B4-BE49-F238E27FC236}">
                <a16:creationId xmlns:a16="http://schemas.microsoft.com/office/drawing/2014/main" id="{B6DE0CCD-A576-4E33-ADD3-E6AA4D07155D}"/>
              </a:ext>
            </a:extLst>
          </p:cNvPr>
          <p:cNvSpPr>
            <a:spLocks noGrp="1"/>
          </p:cNvSpPr>
          <p:nvPr/>
        </p:nvSpPr>
        <p:spPr>
          <a:xfrm>
            <a:off x="10107058" y="5477257"/>
            <a:ext cx="13525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PENDING • PAID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SHIPPED • DELIVERED</a:t>
            </a:r>
          </a:p>
        </p:txBody>
      </p:sp>
      <p:sp>
        <p:nvSpPr>
          <p:cNvPr id="168" name="Retângulo 167">
            <a:extLst>
              <a:ext uri="{FF2B5EF4-FFF2-40B4-BE49-F238E27FC236}">
                <a16:creationId xmlns:a16="http://schemas.microsoft.com/office/drawing/2014/main" id="{8C91E8F5-2649-4CF7-9A69-AC5A78E3B8BB}"/>
              </a:ext>
            </a:extLst>
          </p:cNvPr>
          <p:cNvSpPr>
            <a:spLocks noGrp="1"/>
          </p:cNvSpPr>
          <p:nvPr/>
        </p:nvSpPr>
        <p:spPr>
          <a:xfrm>
            <a:off x="9799638" y="4127500"/>
            <a:ext cx="100806" cy="1111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9" name="Retângulo 168">
            <a:extLst>
              <a:ext uri="{FF2B5EF4-FFF2-40B4-BE49-F238E27FC236}">
                <a16:creationId xmlns:a16="http://schemas.microsoft.com/office/drawing/2014/main" id="{4755F576-6DA2-438D-A4FB-3A23B0B4E8EE}"/>
              </a:ext>
            </a:extLst>
          </p:cNvPr>
          <p:cNvSpPr>
            <a:spLocks noGrp="1"/>
          </p:cNvSpPr>
          <p:nvPr/>
        </p:nvSpPr>
        <p:spPr>
          <a:xfrm>
            <a:off x="9636125" y="4311650"/>
            <a:ext cx="100806" cy="1111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0" name="Retângulo 169">
            <a:extLst>
              <a:ext uri="{FF2B5EF4-FFF2-40B4-BE49-F238E27FC236}">
                <a16:creationId xmlns:a16="http://schemas.microsoft.com/office/drawing/2014/main" id="{8683ECD4-25CE-4949-B1CF-9AD466DBB1F6}"/>
              </a:ext>
            </a:extLst>
          </p:cNvPr>
          <p:cNvSpPr>
            <a:spLocks noGrp="1"/>
          </p:cNvSpPr>
          <p:nvPr/>
        </p:nvSpPr>
        <p:spPr>
          <a:xfrm>
            <a:off x="9472613" y="4495800"/>
            <a:ext cx="100806" cy="1111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1" name="Retângulo 170">
            <a:extLst>
              <a:ext uri="{FF2B5EF4-FFF2-40B4-BE49-F238E27FC236}">
                <a16:creationId xmlns:a16="http://schemas.microsoft.com/office/drawing/2014/main" id="{3A6E525A-90C5-4E05-A058-5A144201830C}"/>
              </a:ext>
            </a:extLst>
          </p:cNvPr>
          <p:cNvSpPr>
            <a:spLocks noGrp="1"/>
          </p:cNvSpPr>
          <p:nvPr/>
        </p:nvSpPr>
        <p:spPr>
          <a:xfrm>
            <a:off x="9309100" y="4679950"/>
            <a:ext cx="100806" cy="1111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2" name="Retângulo 171">
            <a:extLst>
              <a:ext uri="{FF2B5EF4-FFF2-40B4-BE49-F238E27FC236}">
                <a16:creationId xmlns:a16="http://schemas.microsoft.com/office/drawing/2014/main" id="{34DA2AE8-060D-40AD-8E61-58CA10878507}"/>
              </a:ext>
            </a:extLst>
          </p:cNvPr>
          <p:cNvSpPr>
            <a:spLocks noGrp="1"/>
          </p:cNvSpPr>
          <p:nvPr/>
        </p:nvSpPr>
        <p:spPr>
          <a:xfrm>
            <a:off x="9145588" y="4864100"/>
            <a:ext cx="100806" cy="1111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3" name="Retângulo Arredondado 172">
            <a:extLst>
              <a:ext uri="{FF2B5EF4-FFF2-40B4-BE49-F238E27FC236}">
                <a16:creationId xmlns:a16="http://schemas.microsoft.com/office/drawing/2014/main" id="{8CCDEB17-33FB-48CA-8267-EA699567D6A4}"/>
              </a:ext>
            </a:extLst>
          </p:cNvPr>
          <p:cNvSpPr>
            <a:spLocks noGrp="1"/>
          </p:cNvSpPr>
          <p:nvPr/>
        </p:nvSpPr>
        <p:spPr>
          <a:xfrm>
            <a:off x="1952625" y="6076950"/>
            <a:ext cx="9867900" cy="361950"/>
          </a:xfrm>
          <a:prstGeom prst="roundRect">
            <a:avLst>
              <a:gd name="adj" fmla="val 10526"/>
            </a:avLst>
          </a:prstGeom>
          <a:solidFill>
            <a:srgbClr val="F4F8FC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4" name="Retângulo 173">
            <a:extLst>
              <a:ext uri="{FF2B5EF4-FFF2-40B4-BE49-F238E27FC236}">
                <a16:creationId xmlns:a16="http://schemas.microsoft.com/office/drawing/2014/main" id="{A84EA64A-70A3-4C70-9EC4-3B3EE7B46A4C}"/>
              </a:ext>
            </a:extLst>
          </p:cNvPr>
          <p:cNvSpPr>
            <a:spLocks noGrp="1"/>
          </p:cNvSpPr>
          <p:nvPr/>
        </p:nvSpPr>
        <p:spPr>
          <a:xfrm>
            <a:off x="2143125" y="6181725"/>
            <a:ext cx="9486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29272A"/>
                </a:solidFill>
              </a:defRPr>
            </a:pPr>
            <a:r>
              <a:rPr sz="900" b="1">
                <a:solidFill>
                  <a:srgbClr val="29272A"/>
                </a:solidFill>
              </a:rPr>
              <a:t>Garantias: outbox transacional • Kafka at-least-once • consumidores idempotentes • offset após sucesso • retry com backoff • DLT</a:t>
            </a:r>
          </a:p>
        </p:txBody>
      </p:sp>
      <p:sp>
        <p:nvSpPr>
          <p:cNvPr id="175" name="Seta para a Direita 174">
            <a:extLst>
              <a:ext uri="{FF2B5EF4-FFF2-40B4-BE49-F238E27FC236}">
                <a16:creationId xmlns:a16="http://schemas.microsoft.com/office/drawing/2014/main" id="{146A6C1F-7A54-4A88-A773-CD39D63C2D42}"/>
              </a:ext>
            </a:extLst>
          </p:cNvPr>
          <p:cNvSpPr>
            <a:spLocks noGrp="1"/>
          </p:cNvSpPr>
          <p:nvPr/>
        </p:nvSpPr>
        <p:spPr>
          <a:xfrm>
            <a:off x="381000" y="619125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6" name="Retângulo 175">
            <a:extLst>
              <a:ext uri="{FF2B5EF4-FFF2-40B4-BE49-F238E27FC236}">
                <a16:creationId xmlns:a16="http://schemas.microsoft.com/office/drawing/2014/main" id="{6680373A-C658-4F9B-A528-ECDAE445F990}"/>
              </a:ext>
            </a:extLst>
          </p:cNvPr>
          <p:cNvSpPr>
            <a:spLocks noGrp="1"/>
          </p:cNvSpPr>
          <p:nvPr/>
        </p:nvSpPr>
        <p:spPr>
          <a:xfrm>
            <a:off x="876300" y="616267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177" name="Retângulo 176">
            <a:extLst>
              <a:ext uri="{FF2B5EF4-FFF2-40B4-BE49-F238E27FC236}">
                <a16:creationId xmlns:a16="http://schemas.microsoft.com/office/drawing/2014/main" id="{25DAAC3C-69B7-487D-81A3-126A46CE53B6}"/>
              </a:ext>
            </a:extLst>
          </p:cNvPr>
          <p:cNvSpPr>
            <a:spLocks noGrp="1"/>
          </p:cNvSpPr>
          <p:nvPr/>
        </p:nvSpPr>
        <p:spPr>
          <a:xfrm>
            <a:off x="381000" y="642937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8" name="Retângulo 177">
            <a:extLst>
              <a:ext uri="{FF2B5EF4-FFF2-40B4-BE49-F238E27FC236}">
                <a16:creationId xmlns:a16="http://schemas.microsoft.com/office/drawing/2014/main" id="{662FE721-F239-4AF7-A7C4-859E47B82228}"/>
              </a:ext>
            </a:extLst>
          </p:cNvPr>
          <p:cNvSpPr>
            <a:spLocks noGrp="1"/>
          </p:cNvSpPr>
          <p:nvPr/>
        </p:nvSpPr>
        <p:spPr>
          <a:xfrm>
            <a:off x="635000" y="642937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9" name="Retângulo 178">
            <a:extLst>
              <a:ext uri="{FF2B5EF4-FFF2-40B4-BE49-F238E27FC236}">
                <a16:creationId xmlns:a16="http://schemas.microsoft.com/office/drawing/2014/main" id="{3CF4AE4B-295E-49F4-8D1A-6F2B88A20E41}"/>
              </a:ext>
            </a:extLst>
          </p:cNvPr>
          <p:cNvSpPr>
            <a:spLocks noGrp="1"/>
          </p:cNvSpPr>
          <p:nvPr/>
        </p:nvSpPr>
        <p:spPr>
          <a:xfrm>
            <a:off x="876300" y="635317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</p:spTree>
    <p:extLst>
      <p:ext uri="{BB962C8B-B14F-4D97-AF65-F5344CB8AC3E}">
        <p14:creationId xmlns:p14="http://schemas.microsoft.com/office/powerpoint/2010/main" val="13490301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c76ce46-357f-46de-88d6-77b9bbb83c46}" enabled="1" method="Privileged" siteId="{4e2c6054-71cb-48f1-bd6c-3a9705aca71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732</Words>
  <Application>Microsoft Macintosh PowerPoint</Application>
  <DocSecurity>0</DocSecurity>
  <PresentationFormat>Widescreen</PresentationFormat>
  <Paragraphs>204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6" baseType="lpstr">
      <vt:lpstr>Calibri</vt:lpstr>
      <vt:lpstr>ChatGPT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Silvio Da Silva</cp:lastModifiedBy>
  <cp:revision>2</cp:revision>
  <dcterms:created xsi:type="dcterms:W3CDTF">2026-07-28T03:32:20Z</dcterms:created>
  <dcterms:modified xsi:type="dcterms:W3CDTF">2026-07-28T03:48:16Z</dcterms:modified>
</cp:coreProperties>
</file>