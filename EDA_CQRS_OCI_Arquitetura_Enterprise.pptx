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4"/>
    <p:restoredTop sz="94637"/>
  </p:normalViewPr>
  <p:slideViewPr>
    <p:cSldViewPr snapToGrid="0">
      <p:cViewPr varScale="1">
        <p:scale>
          <a:sx n="147" d="100"/>
          <a:sy n="147" d="100"/>
        </p:scale>
        <p:origin x="22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CDB40C2-6FB7-775D-315C-BDDA6687187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4AB99AD-852E-E1B3-B527-6AD3120B6C4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27098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pt-BR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Confidential - Oracle Restricted \Employees Only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Retângulo 103">
            <a:extLst>
              <a:ext uri="{FF2B5EF4-FFF2-40B4-BE49-F238E27FC236}">
                <a16:creationId xmlns:a16="http://schemas.microsoft.com/office/drawing/2014/main" id="{AEF50F91-E0DB-40E3-B6E3-AF358A35364F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 dirty="0" err="1">
                <a:solidFill>
                  <a:srgbClr val="29272A"/>
                </a:solidFill>
              </a:rPr>
              <a:t>Arquitetura</a:t>
            </a:r>
            <a:r>
              <a:rPr sz="2100" b="1" dirty="0">
                <a:solidFill>
                  <a:srgbClr val="29272A"/>
                </a:solidFill>
              </a:rPr>
              <a:t> high level — EDA + CQRS </a:t>
            </a:r>
            <a:r>
              <a:rPr sz="2100" b="1" dirty="0" err="1">
                <a:solidFill>
                  <a:srgbClr val="29272A"/>
                </a:solidFill>
              </a:rPr>
              <a:t>na</a:t>
            </a:r>
            <a:r>
              <a:rPr sz="2100" b="1" dirty="0">
                <a:solidFill>
                  <a:srgbClr val="29272A"/>
                </a:solidFill>
              </a:rPr>
              <a:t> OCI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EA02369-BC0F-4769-A880-0737BE1DEDFC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Pedidos omnicanal com Command/Write e Query/Read explicitamente segregados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CF22C86-2A76-4469-878F-FC181B9FD53D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B563BE70-A8EA-40BE-AE3E-A4C626F0AEA4}"/>
              </a:ext>
            </a:extLst>
          </p:cNvPr>
          <p:cNvSpPr>
            <a:spLocks noGrp="1"/>
          </p:cNvSpPr>
          <p:nvPr/>
        </p:nvSpPr>
        <p:spPr>
          <a:xfrm>
            <a:off x="361950" y="1390650"/>
            <a:ext cx="1571625" cy="4333875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EA2FE66-9C98-4B46-99C8-C4B90909E6FD}"/>
              </a:ext>
            </a:extLst>
          </p:cNvPr>
          <p:cNvSpPr>
            <a:spLocks noGrp="1"/>
          </p:cNvSpPr>
          <p:nvPr/>
        </p:nvSpPr>
        <p:spPr>
          <a:xfrm>
            <a:off x="495300" y="1485900"/>
            <a:ext cx="13049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Canais clientes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34C2E5B6-3E14-4D01-A4EC-86CE5827EF40}"/>
              </a:ext>
            </a:extLst>
          </p:cNvPr>
          <p:cNvSpPr>
            <a:spLocks noGrp="1"/>
          </p:cNvSpPr>
          <p:nvPr/>
        </p:nvSpPr>
        <p:spPr>
          <a:xfrm>
            <a:off x="495300" y="1714500"/>
            <a:ext cx="13049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Consumidores e parceiros</a:t>
            </a:r>
          </a:p>
        </p:txBody>
      </p:sp>
      <p:pic>
        <p:nvPicPr>
          <p:cNvPr id="110" name="Imagem 10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23925" y="2136065"/>
            <a:ext cx="419100" cy="414169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9D99D870-4584-43C5-8FBF-E8366887C703}"/>
              </a:ext>
            </a:extLst>
          </p:cNvPr>
          <p:cNvSpPr>
            <a:spLocks noGrp="1"/>
          </p:cNvSpPr>
          <p:nvPr/>
        </p:nvSpPr>
        <p:spPr>
          <a:xfrm>
            <a:off x="590550" y="2714625"/>
            <a:ext cx="109537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Web • Mobile</a:t>
            </a:r>
          </a:p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Marketplace • ERP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86E88DFB-4AC5-43DD-88BE-EEE977B65D27}"/>
              </a:ext>
            </a:extLst>
          </p:cNvPr>
          <p:cNvSpPr>
            <a:spLocks noGrp="1"/>
          </p:cNvSpPr>
          <p:nvPr/>
        </p:nvSpPr>
        <p:spPr>
          <a:xfrm>
            <a:off x="2095500" y="1390650"/>
            <a:ext cx="9734550" cy="4333875"/>
          </a:xfrm>
          <a:prstGeom prst="roundRect">
            <a:avLst>
              <a:gd name="adj" fmla="val 879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6495723-D95D-404C-AC9D-6BC967969155}"/>
              </a:ext>
            </a:extLst>
          </p:cNvPr>
          <p:cNvSpPr>
            <a:spLocks noGrp="1"/>
          </p:cNvSpPr>
          <p:nvPr/>
        </p:nvSpPr>
        <p:spPr>
          <a:xfrm>
            <a:off x="2228850" y="1485900"/>
            <a:ext cx="9467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OCI — região ativa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59A060A-A49A-4A91-8727-A23D69D050C6}"/>
              </a:ext>
            </a:extLst>
          </p:cNvPr>
          <p:cNvSpPr>
            <a:spLocks noGrp="1"/>
          </p:cNvSpPr>
          <p:nvPr/>
        </p:nvSpPr>
        <p:spPr>
          <a:xfrm>
            <a:off x="2228850" y="1714500"/>
            <a:ext cx="94678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Produção privada • separação de responsabilidades por padrão CQRS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647E5379-C80F-4D35-A03F-50E0BE539F17}"/>
              </a:ext>
            </a:extLst>
          </p:cNvPr>
          <p:cNvSpPr>
            <a:spLocks noGrp="1"/>
          </p:cNvSpPr>
          <p:nvPr/>
        </p:nvSpPr>
        <p:spPr>
          <a:xfrm>
            <a:off x="2400300" y="1809750"/>
            <a:ext cx="6667500" cy="3181351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6782A78-54CA-418D-890A-543C6F92DE9E}"/>
              </a:ext>
            </a:extLst>
          </p:cNvPr>
          <p:cNvSpPr>
            <a:spLocks noGrp="1"/>
          </p:cNvSpPr>
          <p:nvPr/>
        </p:nvSpPr>
        <p:spPr>
          <a:xfrm>
            <a:off x="2533650" y="1905000"/>
            <a:ext cx="6400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5B0"/>
                </a:solidFill>
              </a:defRPr>
            </a:pPr>
            <a:r>
              <a:rPr sz="1200" b="1">
                <a:solidFill>
                  <a:srgbClr val="2F65B0"/>
                </a:solidFill>
              </a:rPr>
              <a:t>CQRS — Command / Write  |  Query / Read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29036E8-E794-4196-9B7C-222F5658BC9C}"/>
              </a:ext>
            </a:extLst>
          </p:cNvPr>
          <p:cNvSpPr>
            <a:spLocks noGrp="1"/>
          </p:cNvSpPr>
          <p:nvPr/>
        </p:nvSpPr>
        <p:spPr>
          <a:xfrm>
            <a:off x="2533650" y="2133600"/>
            <a:ext cx="6400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Modelos independentes; o evento é a fronteira de desacoplamento</a:t>
            </a:r>
          </a:p>
        </p:txBody>
      </p:sp>
      <p:sp>
        <p:nvSpPr>
          <p:cNvPr id="15" name="Retângulo Arredondado 14">
            <a:extLst>
              <a:ext uri="{FF2B5EF4-FFF2-40B4-BE49-F238E27FC236}">
                <a16:creationId xmlns:a16="http://schemas.microsoft.com/office/drawing/2014/main" id="{EE04B74A-211C-4EC0-8C19-8595B316A9B3}"/>
              </a:ext>
            </a:extLst>
          </p:cNvPr>
          <p:cNvSpPr>
            <a:spLocks noGrp="1"/>
          </p:cNvSpPr>
          <p:nvPr/>
        </p:nvSpPr>
        <p:spPr>
          <a:xfrm>
            <a:off x="2571750" y="2324099"/>
            <a:ext cx="2000250" cy="2474323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86B523D7-C0B6-496D-A9CD-A313F0AB1F69}"/>
              </a:ext>
            </a:extLst>
          </p:cNvPr>
          <p:cNvSpPr>
            <a:spLocks noGrp="1"/>
          </p:cNvSpPr>
          <p:nvPr/>
        </p:nvSpPr>
        <p:spPr>
          <a:xfrm>
            <a:off x="2705100" y="2419350"/>
            <a:ext cx="1733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C74634"/>
                </a:solidFill>
              </a:defRPr>
            </a:pPr>
            <a:r>
              <a:rPr sz="1200" b="1">
                <a:solidFill>
                  <a:srgbClr val="C74634"/>
                </a:solidFill>
              </a:rPr>
              <a:t>Command side — write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4569DF8-8AE3-4F05-81E0-A6E3D96B29C0}"/>
              </a:ext>
            </a:extLst>
          </p:cNvPr>
          <p:cNvSpPr>
            <a:spLocks noGrp="1"/>
          </p:cNvSpPr>
          <p:nvPr/>
        </p:nvSpPr>
        <p:spPr>
          <a:xfrm>
            <a:off x="2705100" y="2647950"/>
            <a:ext cx="1733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Consistência do domínio</a:t>
            </a:r>
          </a:p>
        </p:txBody>
      </p:sp>
      <p:sp>
        <p:nvSpPr>
          <p:cNvPr id="18" name="Retângulo Arredondado 17">
            <a:extLst>
              <a:ext uri="{FF2B5EF4-FFF2-40B4-BE49-F238E27FC236}">
                <a16:creationId xmlns:a16="http://schemas.microsoft.com/office/drawing/2014/main" id="{5E1896E3-6522-45CA-85A4-BA32AD730F83}"/>
              </a:ext>
            </a:extLst>
          </p:cNvPr>
          <p:cNvSpPr>
            <a:spLocks noGrp="1"/>
          </p:cNvSpPr>
          <p:nvPr/>
        </p:nvSpPr>
        <p:spPr>
          <a:xfrm>
            <a:off x="2724150" y="2762250"/>
            <a:ext cx="169545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A8CBA0-1B38-4FC1-85CB-CB9EE1D22E8F}"/>
              </a:ext>
            </a:extLst>
          </p:cNvPr>
          <p:cNvSpPr>
            <a:spLocks noGrp="1"/>
          </p:cNvSpPr>
          <p:nvPr/>
        </p:nvSpPr>
        <p:spPr>
          <a:xfrm>
            <a:off x="2724150" y="2762250"/>
            <a:ext cx="16954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3BD3D57-584E-4B32-84E3-0AEAF15AD6D8}"/>
              </a:ext>
            </a:extLst>
          </p:cNvPr>
          <p:cNvSpPr>
            <a:spLocks noGrp="1"/>
          </p:cNvSpPr>
          <p:nvPr/>
        </p:nvSpPr>
        <p:spPr>
          <a:xfrm>
            <a:off x="2838450" y="2905125"/>
            <a:ext cx="1466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Gateway privado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6005ABD7-6AB8-4FA2-8D1D-31E482868AAD}"/>
              </a:ext>
            </a:extLst>
          </p:cNvPr>
          <p:cNvSpPr>
            <a:spLocks noGrp="1"/>
          </p:cNvSpPr>
          <p:nvPr/>
        </p:nvSpPr>
        <p:spPr>
          <a:xfrm>
            <a:off x="2838450" y="3257550"/>
            <a:ext cx="1466850" cy="104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JWT • rate limit</a:t>
            </a:r>
          </a:p>
        </p:txBody>
      </p:sp>
      <p:pic>
        <p:nvPicPr>
          <p:cNvPr id="125" name="Imagem 1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819400" y="3533537"/>
            <a:ext cx="323850" cy="267176"/>
          </a:xfrm>
          <a:prstGeom prst="rect">
            <a:avLst/>
          </a:prstGeom>
        </p:spPr>
      </p:pic>
      <p:sp>
        <p:nvSpPr>
          <p:cNvPr id="23" name="Retângulo Arredondado 22">
            <a:extLst>
              <a:ext uri="{FF2B5EF4-FFF2-40B4-BE49-F238E27FC236}">
                <a16:creationId xmlns:a16="http://schemas.microsoft.com/office/drawing/2014/main" id="{0E981679-96D8-4F26-8CC5-36EB7B33260D}"/>
              </a:ext>
            </a:extLst>
          </p:cNvPr>
          <p:cNvSpPr>
            <a:spLocks noGrp="1"/>
          </p:cNvSpPr>
          <p:nvPr/>
        </p:nvSpPr>
        <p:spPr>
          <a:xfrm>
            <a:off x="2724150" y="3848100"/>
            <a:ext cx="1695450" cy="5905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ECEDB238-A65F-4CFC-9FCE-D2F9319F54C5}"/>
              </a:ext>
            </a:extLst>
          </p:cNvPr>
          <p:cNvSpPr>
            <a:spLocks noGrp="1"/>
          </p:cNvSpPr>
          <p:nvPr/>
        </p:nvSpPr>
        <p:spPr>
          <a:xfrm>
            <a:off x="2724150" y="3848100"/>
            <a:ext cx="16954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9AFDD251-DFA2-4372-ACD1-188A2F273092}"/>
              </a:ext>
            </a:extLst>
          </p:cNvPr>
          <p:cNvSpPr>
            <a:spLocks noGrp="1"/>
          </p:cNvSpPr>
          <p:nvPr/>
        </p:nvSpPr>
        <p:spPr>
          <a:xfrm>
            <a:off x="2838450" y="3990975"/>
            <a:ext cx="1466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Command service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6A575FE0-9903-4844-8BC2-4BD4F9E16AD6}"/>
              </a:ext>
            </a:extLst>
          </p:cNvPr>
          <p:cNvSpPr>
            <a:spLocks noGrp="1"/>
          </p:cNvSpPr>
          <p:nvPr/>
        </p:nvSpPr>
        <p:spPr>
          <a:xfrm>
            <a:off x="2838450" y="4343400"/>
            <a:ext cx="1466850" cy="28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endParaRPr lang="pt-BR" sz="825" b="0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Functions /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ADB + outbox</a:t>
            </a:r>
          </a:p>
        </p:txBody>
      </p:sp>
      <p:sp>
        <p:nvSpPr>
          <p:cNvPr id="27" name="Seta para Baixo 26">
            <a:extLst>
              <a:ext uri="{FF2B5EF4-FFF2-40B4-BE49-F238E27FC236}">
                <a16:creationId xmlns:a16="http://schemas.microsoft.com/office/drawing/2014/main" id="{0E26553C-5467-4034-9301-A1608A331A2D}"/>
              </a:ext>
            </a:extLst>
          </p:cNvPr>
          <p:cNvSpPr>
            <a:spLocks noGrp="1"/>
          </p:cNvSpPr>
          <p:nvPr/>
        </p:nvSpPr>
        <p:spPr>
          <a:xfrm>
            <a:off x="3524250" y="3429000"/>
            <a:ext cx="123825" cy="371475"/>
          </a:xfrm>
          <a:prstGeom prst="downArrow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Retângulo 27">
            <a:extLst>
              <a:ext uri="{FF2B5EF4-FFF2-40B4-BE49-F238E27FC236}">
                <a16:creationId xmlns:a16="http://schemas.microsoft.com/office/drawing/2014/main" id="{982338EC-203A-4C60-9570-5130BCBB1033}"/>
              </a:ext>
            </a:extLst>
          </p:cNvPr>
          <p:cNvSpPr>
            <a:spLocks noGrp="1"/>
          </p:cNvSpPr>
          <p:nvPr/>
        </p:nvSpPr>
        <p:spPr>
          <a:xfrm>
            <a:off x="3657600" y="3548063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commit</a:t>
            </a:r>
          </a:p>
        </p:txBody>
      </p:sp>
      <p:sp>
        <p:nvSpPr>
          <p:cNvPr id="29" name="Seta para a Direita 28">
            <a:extLst>
              <a:ext uri="{FF2B5EF4-FFF2-40B4-BE49-F238E27FC236}">
                <a16:creationId xmlns:a16="http://schemas.microsoft.com/office/drawing/2014/main" id="{264CF6F9-0F0B-4829-B523-C29AF0426C86}"/>
              </a:ext>
            </a:extLst>
          </p:cNvPr>
          <p:cNvSpPr>
            <a:spLocks noGrp="1"/>
          </p:cNvSpPr>
          <p:nvPr/>
        </p:nvSpPr>
        <p:spPr>
          <a:xfrm>
            <a:off x="4429125" y="3086100"/>
            <a:ext cx="4286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7181176E-8E9C-44D3-B547-1514F1DC1ED7}"/>
              </a:ext>
            </a:extLst>
          </p:cNvPr>
          <p:cNvSpPr>
            <a:spLocks noGrp="1"/>
          </p:cNvSpPr>
          <p:nvPr/>
        </p:nvSpPr>
        <p:spPr>
          <a:xfrm>
            <a:off x="4362450" y="2895600"/>
            <a:ext cx="5619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comando</a:t>
            </a:r>
          </a:p>
        </p:txBody>
      </p:sp>
      <p:sp>
        <p:nvSpPr>
          <p:cNvPr id="31" name="Retângulo Arredondado 30">
            <a:extLst>
              <a:ext uri="{FF2B5EF4-FFF2-40B4-BE49-F238E27FC236}">
                <a16:creationId xmlns:a16="http://schemas.microsoft.com/office/drawing/2014/main" id="{E08975E7-64C8-4E20-BFF8-C4D21DBCB360}"/>
              </a:ext>
            </a:extLst>
          </p:cNvPr>
          <p:cNvSpPr>
            <a:spLocks noGrp="1"/>
          </p:cNvSpPr>
          <p:nvPr/>
        </p:nvSpPr>
        <p:spPr>
          <a:xfrm>
            <a:off x="4953000" y="2324100"/>
            <a:ext cx="1714500" cy="22669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60A5B746-4C85-47CA-AF72-B8F111C3F8DF}"/>
              </a:ext>
            </a:extLst>
          </p:cNvPr>
          <p:cNvSpPr>
            <a:spLocks noGrp="1"/>
          </p:cNvSpPr>
          <p:nvPr/>
        </p:nvSpPr>
        <p:spPr>
          <a:xfrm>
            <a:off x="5086350" y="24193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6E3A8F"/>
                </a:solidFill>
              </a:defRPr>
            </a:pPr>
            <a:r>
              <a:rPr sz="1200" b="1">
                <a:solidFill>
                  <a:srgbClr val="6E3A8F"/>
                </a:solidFill>
              </a:rPr>
              <a:t>EDA backbone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E1996505-937E-48BF-956F-032437FDD007}"/>
              </a:ext>
            </a:extLst>
          </p:cNvPr>
          <p:cNvSpPr>
            <a:spLocks noGrp="1"/>
          </p:cNvSpPr>
          <p:nvPr/>
        </p:nvSpPr>
        <p:spPr>
          <a:xfrm>
            <a:off x="5086350" y="26479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Eventos versionados</a:t>
            </a:r>
          </a:p>
        </p:txBody>
      </p:sp>
      <p:sp>
        <p:nvSpPr>
          <p:cNvPr id="34" name="Retângulo Arredondado 33">
            <a:extLst>
              <a:ext uri="{FF2B5EF4-FFF2-40B4-BE49-F238E27FC236}">
                <a16:creationId xmlns:a16="http://schemas.microsoft.com/office/drawing/2014/main" id="{32D3C1B8-A4D5-40B6-A68B-82107532F0CA}"/>
              </a:ext>
            </a:extLst>
          </p:cNvPr>
          <p:cNvSpPr>
            <a:spLocks noGrp="1"/>
          </p:cNvSpPr>
          <p:nvPr/>
        </p:nvSpPr>
        <p:spPr>
          <a:xfrm>
            <a:off x="5086350" y="3028950"/>
            <a:ext cx="1447800" cy="8572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16246487-1BD8-4E20-A85F-E8FEFAD7DE4B}"/>
              </a:ext>
            </a:extLst>
          </p:cNvPr>
          <p:cNvSpPr>
            <a:spLocks noGrp="1"/>
          </p:cNvSpPr>
          <p:nvPr/>
        </p:nvSpPr>
        <p:spPr>
          <a:xfrm>
            <a:off x="5086350" y="3028950"/>
            <a:ext cx="144780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8FCB86BB-80F0-4706-8EC7-1B99F7194348}"/>
              </a:ext>
            </a:extLst>
          </p:cNvPr>
          <p:cNvSpPr>
            <a:spLocks noGrp="1"/>
          </p:cNvSpPr>
          <p:nvPr/>
        </p:nvSpPr>
        <p:spPr>
          <a:xfrm>
            <a:off x="5200650" y="31718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Streaming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with Apache Kafka</a:t>
            </a:r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E424468E-9FAF-4F69-9ED1-66B09E12F9B7}"/>
              </a:ext>
            </a:extLst>
          </p:cNvPr>
          <p:cNvSpPr>
            <a:spLocks noGrp="1"/>
          </p:cNvSpPr>
          <p:nvPr/>
        </p:nvSpPr>
        <p:spPr>
          <a:xfrm>
            <a:off x="5200650" y="3524250"/>
            <a:ext cx="12192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SASL/SCRAM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ACL + retenção</a:t>
            </a:r>
          </a:p>
        </p:txBody>
      </p:sp>
      <p:sp>
        <p:nvSpPr>
          <p:cNvPr id="38" name="Seta para a Direita 37">
            <a:extLst>
              <a:ext uri="{FF2B5EF4-FFF2-40B4-BE49-F238E27FC236}">
                <a16:creationId xmlns:a16="http://schemas.microsoft.com/office/drawing/2014/main" id="{87F89E5D-A7C2-4AA2-825E-33B4E2920142}"/>
              </a:ext>
            </a:extLst>
          </p:cNvPr>
          <p:cNvSpPr>
            <a:spLocks noGrp="1"/>
          </p:cNvSpPr>
          <p:nvPr/>
        </p:nvSpPr>
        <p:spPr>
          <a:xfrm>
            <a:off x="6667500" y="3381375"/>
            <a:ext cx="333375" cy="123825"/>
          </a:xfrm>
          <a:prstGeom prst="right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E1C41A6D-EFEE-4914-B4D1-16EAE19919E2}"/>
              </a:ext>
            </a:extLst>
          </p:cNvPr>
          <p:cNvSpPr>
            <a:spLocks noGrp="1"/>
          </p:cNvSpPr>
          <p:nvPr/>
        </p:nvSpPr>
        <p:spPr>
          <a:xfrm>
            <a:off x="6600825" y="3190875"/>
            <a:ext cx="4667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eventos</a:t>
            </a:r>
          </a:p>
        </p:txBody>
      </p:sp>
      <p:sp>
        <p:nvSpPr>
          <p:cNvPr id="40" name="Retângulo Arredondado 39">
            <a:extLst>
              <a:ext uri="{FF2B5EF4-FFF2-40B4-BE49-F238E27FC236}">
                <a16:creationId xmlns:a16="http://schemas.microsoft.com/office/drawing/2014/main" id="{01F98D5A-08CA-4630-8C8A-E958E6E4DCED}"/>
              </a:ext>
            </a:extLst>
          </p:cNvPr>
          <p:cNvSpPr>
            <a:spLocks noGrp="1"/>
          </p:cNvSpPr>
          <p:nvPr/>
        </p:nvSpPr>
        <p:spPr>
          <a:xfrm>
            <a:off x="7124700" y="2324099"/>
            <a:ext cx="1790700" cy="2522362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FF1E86FD-1BB0-488E-928A-818B45AEA65D}"/>
              </a:ext>
            </a:extLst>
          </p:cNvPr>
          <p:cNvSpPr>
            <a:spLocks noGrp="1"/>
          </p:cNvSpPr>
          <p:nvPr/>
        </p:nvSpPr>
        <p:spPr>
          <a:xfrm>
            <a:off x="7258050" y="241935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4D8155"/>
                </a:solidFill>
              </a:defRPr>
            </a:pPr>
            <a:r>
              <a:rPr sz="1200" b="1" dirty="0">
                <a:solidFill>
                  <a:srgbClr val="4D8155"/>
                </a:solidFill>
              </a:rPr>
              <a:t>Query side — read</a:t>
            </a:r>
          </a:p>
        </p:txBody>
      </p:sp>
      <p:sp>
        <p:nvSpPr>
          <p:cNvPr id="42" name="Retângulo 41">
            <a:extLst>
              <a:ext uri="{FF2B5EF4-FFF2-40B4-BE49-F238E27FC236}">
                <a16:creationId xmlns:a16="http://schemas.microsoft.com/office/drawing/2014/main" id="{9D06B7B0-A0AE-421F-8A2C-118DD6476852}"/>
              </a:ext>
            </a:extLst>
          </p:cNvPr>
          <p:cNvSpPr>
            <a:spLocks noGrp="1"/>
          </p:cNvSpPr>
          <p:nvPr/>
        </p:nvSpPr>
        <p:spPr>
          <a:xfrm>
            <a:off x="7248525" y="2578723"/>
            <a:ext cx="15240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 dirty="0" err="1">
                <a:solidFill>
                  <a:srgbClr val="655F5A"/>
                </a:solidFill>
              </a:rPr>
              <a:t>Projeções</a:t>
            </a:r>
            <a:r>
              <a:rPr sz="825" b="0" dirty="0">
                <a:solidFill>
                  <a:srgbClr val="655F5A"/>
                </a:solidFill>
              </a:rPr>
              <a:t> de consulta</a:t>
            </a:r>
          </a:p>
        </p:txBody>
      </p:sp>
      <p:sp>
        <p:nvSpPr>
          <p:cNvPr id="43" name="Retângulo Arredondado 42">
            <a:extLst>
              <a:ext uri="{FF2B5EF4-FFF2-40B4-BE49-F238E27FC236}">
                <a16:creationId xmlns:a16="http://schemas.microsoft.com/office/drawing/2014/main" id="{4DA24F92-33AE-4A46-B0F5-4D4D4FD772DA}"/>
              </a:ext>
            </a:extLst>
          </p:cNvPr>
          <p:cNvSpPr>
            <a:spLocks noGrp="1"/>
          </p:cNvSpPr>
          <p:nvPr/>
        </p:nvSpPr>
        <p:spPr>
          <a:xfrm>
            <a:off x="7258050" y="2762250"/>
            <a:ext cx="1524000" cy="6667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488EF234-18CE-4646-AEE2-694FBA1D08F6}"/>
              </a:ext>
            </a:extLst>
          </p:cNvPr>
          <p:cNvSpPr>
            <a:spLocks noGrp="1"/>
          </p:cNvSpPr>
          <p:nvPr/>
        </p:nvSpPr>
        <p:spPr>
          <a:xfrm>
            <a:off x="7258050" y="2762250"/>
            <a:ext cx="15240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568D3211-94F0-46C0-84C6-DFA7F1CD5A7A}"/>
              </a:ext>
            </a:extLst>
          </p:cNvPr>
          <p:cNvSpPr>
            <a:spLocks noGrp="1"/>
          </p:cNvSpPr>
          <p:nvPr/>
        </p:nvSpPr>
        <p:spPr>
          <a:xfrm>
            <a:off x="7372350" y="2905125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 dirty="0">
                <a:solidFill>
                  <a:srgbClr val="29272A"/>
                </a:solidFill>
              </a:rPr>
              <a:t>Projection workers</a:t>
            </a:r>
          </a:p>
        </p:txBody>
      </p:sp>
      <p:sp>
        <p:nvSpPr>
          <p:cNvPr id="46" name="Retângulo 45">
            <a:extLst>
              <a:ext uri="{FF2B5EF4-FFF2-40B4-BE49-F238E27FC236}">
                <a16:creationId xmlns:a16="http://schemas.microsoft.com/office/drawing/2014/main" id="{933A7A0A-20CC-4D0F-9A03-CF1DCD827BCC}"/>
              </a:ext>
            </a:extLst>
          </p:cNvPr>
          <p:cNvSpPr>
            <a:spLocks noGrp="1"/>
          </p:cNvSpPr>
          <p:nvPr/>
        </p:nvSpPr>
        <p:spPr>
          <a:xfrm>
            <a:off x="7372350" y="3257550"/>
            <a:ext cx="1295400" cy="104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endParaRPr lang="pt-BR" sz="825" b="0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endParaRPr lang="pt-BR" sz="825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endParaRPr lang="pt-BR" sz="825" b="0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OKE consumer groups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retry + </a:t>
            </a:r>
            <a:r>
              <a:rPr sz="825" b="0" dirty="0" err="1">
                <a:solidFill>
                  <a:srgbClr val="655F5A"/>
                </a:solidFill>
              </a:rPr>
              <a:t>idempotência</a:t>
            </a:r>
            <a:endParaRPr sz="825" b="0" dirty="0">
              <a:solidFill>
                <a:srgbClr val="655F5A"/>
              </a:solidFill>
            </a:endParaRPr>
          </a:p>
        </p:txBody>
      </p:sp>
      <p:sp>
        <p:nvSpPr>
          <p:cNvPr id="47" name="Seta para Baixo 46">
            <a:extLst>
              <a:ext uri="{FF2B5EF4-FFF2-40B4-BE49-F238E27FC236}">
                <a16:creationId xmlns:a16="http://schemas.microsoft.com/office/drawing/2014/main" id="{694B3AA5-4A2D-4D94-8324-4B3F8317862D}"/>
              </a:ext>
            </a:extLst>
          </p:cNvPr>
          <p:cNvSpPr>
            <a:spLocks noGrp="1"/>
          </p:cNvSpPr>
          <p:nvPr/>
        </p:nvSpPr>
        <p:spPr>
          <a:xfrm>
            <a:off x="7962900" y="3429000"/>
            <a:ext cx="133350" cy="297744"/>
          </a:xfrm>
          <a:prstGeom prst="downArrow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1B328C4B-80D7-4190-AFC2-93C028C3F328}"/>
              </a:ext>
            </a:extLst>
          </p:cNvPr>
          <p:cNvSpPr>
            <a:spLocks noGrp="1"/>
          </p:cNvSpPr>
          <p:nvPr/>
        </p:nvSpPr>
        <p:spPr>
          <a:xfrm>
            <a:off x="8096250" y="3552825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 dirty="0" err="1">
                <a:solidFill>
                  <a:srgbClr val="655F5A"/>
                </a:solidFill>
              </a:rPr>
              <a:t>upsert</a:t>
            </a:r>
            <a:endParaRPr sz="750" b="0" dirty="0">
              <a:solidFill>
                <a:srgbClr val="655F5A"/>
              </a:solidFill>
            </a:endParaRPr>
          </a:p>
        </p:txBody>
      </p:sp>
      <p:sp>
        <p:nvSpPr>
          <p:cNvPr id="49" name="Retângulo Arredondado 48">
            <a:extLst>
              <a:ext uri="{FF2B5EF4-FFF2-40B4-BE49-F238E27FC236}">
                <a16:creationId xmlns:a16="http://schemas.microsoft.com/office/drawing/2014/main" id="{A73E230A-116E-454C-98E4-0EAB61FFCB80}"/>
              </a:ext>
            </a:extLst>
          </p:cNvPr>
          <p:cNvSpPr>
            <a:spLocks noGrp="1"/>
          </p:cNvSpPr>
          <p:nvPr/>
        </p:nvSpPr>
        <p:spPr>
          <a:xfrm>
            <a:off x="7258050" y="3952605"/>
            <a:ext cx="1524000" cy="5905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7152659D-5B43-4FF0-828C-172898992BD5}"/>
              </a:ext>
            </a:extLst>
          </p:cNvPr>
          <p:cNvSpPr>
            <a:spLocks noGrp="1"/>
          </p:cNvSpPr>
          <p:nvPr/>
        </p:nvSpPr>
        <p:spPr>
          <a:xfrm>
            <a:off x="7258050" y="3952605"/>
            <a:ext cx="152400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8D0AA4C9-1F52-45B2-8486-F0418340892E}"/>
              </a:ext>
            </a:extLst>
          </p:cNvPr>
          <p:cNvSpPr>
            <a:spLocks noGrp="1"/>
          </p:cNvSpPr>
          <p:nvPr/>
        </p:nvSpPr>
        <p:spPr>
          <a:xfrm>
            <a:off x="7372350" y="4095480"/>
            <a:ext cx="1295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Read model</a:t>
            </a:r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2DBED838-00CD-4BA9-8C1E-DE3290A33028}"/>
              </a:ext>
            </a:extLst>
          </p:cNvPr>
          <p:cNvSpPr>
            <a:spLocks noGrp="1"/>
          </p:cNvSpPr>
          <p:nvPr/>
        </p:nvSpPr>
        <p:spPr>
          <a:xfrm>
            <a:off x="7372350" y="4447905"/>
            <a:ext cx="1295400" cy="28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endParaRPr lang="pt-BR" sz="825" b="0" dirty="0">
              <a:solidFill>
                <a:srgbClr val="655F5A"/>
              </a:solidFill>
            </a:endParaRP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Oracle NoSQL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 dirty="0">
                <a:solidFill>
                  <a:srgbClr val="655F5A"/>
                </a:solidFill>
              </a:rPr>
              <a:t>GET /orders</a:t>
            </a:r>
          </a:p>
        </p:txBody>
      </p:sp>
      <p:sp>
        <p:nvSpPr>
          <p:cNvPr id="53" name="Seta para a Direita 52">
            <a:extLst>
              <a:ext uri="{FF2B5EF4-FFF2-40B4-BE49-F238E27FC236}">
                <a16:creationId xmlns:a16="http://schemas.microsoft.com/office/drawing/2014/main" id="{86B9A6F1-E828-4817-ABF6-2678DA70D78C}"/>
              </a:ext>
            </a:extLst>
          </p:cNvPr>
          <p:cNvSpPr>
            <a:spLocks noGrp="1"/>
          </p:cNvSpPr>
          <p:nvPr/>
        </p:nvSpPr>
        <p:spPr>
          <a:xfrm>
            <a:off x="1924050" y="3238500"/>
            <a:ext cx="6191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79DBAED3-6959-463F-BFD5-D8F0EEAA4049}"/>
              </a:ext>
            </a:extLst>
          </p:cNvPr>
          <p:cNvSpPr>
            <a:spLocks noGrp="1"/>
          </p:cNvSpPr>
          <p:nvPr/>
        </p:nvSpPr>
        <p:spPr>
          <a:xfrm>
            <a:off x="1857375" y="3048000"/>
            <a:ext cx="7524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HTTPS</a:t>
            </a:r>
          </a:p>
        </p:txBody>
      </p:sp>
      <p:sp>
        <p:nvSpPr>
          <p:cNvPr id="55" name="Seta para a Direita 54">
            <a:extLst>
              <a:ext uri="{FF2B5EF4-FFF2-40B4-BE49-F238E27FC236}">
                <a16:creationId xmlns:a16="http://schemas.microsoft.com/office/drawing/2014/main" id="{236F804C-1101-4A16-8E8F-62C09AEEABA1}"/>
              </a:ext>
            </a:extLst>
          </p:cNvPr>
          <p:cNvSpPr>
            <a:spLocks noGrp="1"/>
          </p:cNvSpPr>
          <p:nvPr/>
        </p:nvSpPr>
        <p:spPr>
          <a:xfrm>
            <a:off x="8782050" y="4133850"/>
            <a:ext cx="44767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C9669162-4B60-4997-931A-6009BB8D6A7A}"/>
              </a:ext>
            </a:extLst>
          </p:cNvPr>
          <p:cNvSpPr>
            <a:spLocks noGrp="1"/>
          </p:cNvSpPr>
          <p:nvPr/>
        </p:nvSpPr>
        <p:spPr>
          <a:xfrm>
            <a:off x="8715375" y="3943350"/>
            <a:ext cx="5810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consulta</a:t>
            </a:r>
          </a:p>
        </p:txBody>
      </p:sp>
      <p:sp>
        <p:nvSpPr>
          <p:cNvPr id="57" name="Retângulo Arredondado 56">
            <a:extLst>
              <a:ext uri="{FF2B5EF4-FFF2-40B4-BE49-F238E27FC236}">
                <a16:creationId xmlns:a16="http://schemas.microsoft.com/office/drawing/2014/main" id="{C98D7A99-AB96-409A-9CD0-9E19F83F4992}"/>
              </a:ext>
            </a:extLst>
          </p:cNvPr>
          <p:cNvSpPr>
            <a:spLocks noGrp="1"/>
          </p:cNvSpPr>
          <p:nvPr/>
        </p:nvSpPr>
        <p:spPr>
          <a:xfrm>
            <a:off x="9315450" y="1809750"/>
            <a:ext cx="2324100" cy="3095625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4FD59977-6D8B-45F1-B547-F3443FBEA009}"/>
              </a:ext>
            </a:extLst>
          </p:cNvPr>
          <p:cNvSpPr>
            <a:spLocks noGrp="1"/>
          </p:cNvSpPr>
          <p:nvPr/>
        </p:nvSpPr>
        <p:spPr>
          <a:xfrm>
            <a:off x="9448800" y="1905000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Integrações por evento</a:t>
            </a:r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B2A7FEDE-0D21-47BE-BC44-DD414B3B713F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20574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Fan-out não bloqueante</a:t>
            </a:r>
          </a:p>
        </p:txBody>
      </p:sp>
      <p:sp>
        <p:nvSpPr>
          <p:cNvPr id="60" name="Retângulo Arredondado 59">
            <a:extLst>
              <a:ext uri="{FF2B5EF4-FFF2-40B4-BE49-F238E27FC236}">
                <a16:creationId xmlns:a16="http://schemas.microsoft.com/office/drawing/2014/main" id="{EF4D8564-E8AD-4CA5-B583-E020EC579D29}"/>
              </a:ext>
            </a:extLst>
          </p:cNvPr>
          <p:cNvSpPr>
            <a:spLocks noGrp="1"/>
          </p:cNvSpPr>
          <p:nvPr/>
        </p:nvSpPr>
        <p:spPr>
          <a:xfrm>
            <a:off x="9477375" y="2447925"/>
            <a:ext cx="2000250" cy="70485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1" name="Retângulo 60">
            <a:extLst>
              <a:ext uri="{FF2B5EF4-FFF2-40B4-BE49-F238E27FC236}">
                <a16:creationId xmlns:a16="http://schemas.microsoft.com/office/drawing/2014/main" id="{EC422548-42D9-41F0-9AF7-451C506F2B23}"/>
              </a:ext>
            </a:extLst>
          </p:cNvPr>
          <p:cNvSpPr>
            <a:spLocks noGrp="1"/>
          </p:cNvSpPr>
          <p:nvPr/>
        </p:nvSpPr>
        <p:spPr>
          <a:xfrm>
            <a:off x="9477375" y="2447925"/>
            <a:ext cx="200025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E3FDA078-3316-495C-BC61-C1847DFBEA18}"/>
              </a:ext>
            </a:extLst>
          </p:cNvPr>
          <p:cNvSpPr>
            <a:spLocks noGrp="1"/>
          </p:cNvSpPr>
          <p:nvPr/>
        </p:nvSpPr>
        <p:spPr>
          <a:xfrm>
            <a:off x="9591675" y="2590800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Events + Functions</a:t>
            </a:r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FD29C4A6-0559-4B46-A248-53AE124DECA7}"/>
              </a:ext>
            </a:extLst>
          </p:cNvPr>
          <p:cNvSpPr>
            <a:spLocks noGrp="1"/>
          </p:cNvSpPr>
          <p:nvPr/>
        </p:nvSpPr>
        <p:spPr>
          <a:xfrm>
            <a:off x="9591675" y="2943225"/>
            <a:ext cx="17716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automação e regras</a:t>
            </a:r>
          </a:p>
        </p:txBody>
      </p:sp>
      <p:sp>
        <p:nvSpPr>
          <p:cNvPr id="64" name="Retângulo Arredondado 63">
            <a:extLst>
              <a:ext uri="{FF2B5EF4-FFF2-40B4-BE49-F238E27FC236}">
                <a16:creationId xmlns:a16="http://schemas.microsoft.com/office/drawing/2014/main" id="{A076D075-21BA-470B-85C2-4AE17C149D0F}"/>
              </a:ext>
            </a:extLst>
          </p:cNvPr>
          <p:cNvSpPr>
            <a:spLocks noGrp="1"/>
          </p:cNvSpPr>
          <p:nvPr/>
        </p:nvSpPr>
        <p:spPr>
          <a:xfrm>
            <a:off x="9477375" y="3409950"/>
            <a:ext cx="2000250" cy="70485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5" name="Retângulo 64">
            <a:extLst>
              <a:ext uri="{FF2B5EF4-FFF2-40B4-BE49-F238E27FC236}">
                <a16:creationId xmlns:a16="http://schemas.microsoft.com/office/drawing/2014/main" id="{24C917AE-91BA-493A-8FE8-CD7D74176562}"/>
              </a:ext>
            </a:extLst>
          </p:cNvPr>
          <p:cNvSpPr>
            <a:spLocks noGrp="1"/>
          </p:cNvSpPr>
          <p:nvPr/>
        </p:nvSpPr>
        <p:spPr>
          <a:xfrm>
            <a:off x="9477375" y="3409950"/>
            <a:ext cx="200025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6422053A-5BF7-49C2-A4B0-27B247EDFEF3}"/>
              </a:ext>
            </a:extLst>
          </p:cNvPr>
          <p:cNvSpPr>
            <a:spLocks noGrp="1"/>
          </p:cNvSpPr>
          <p:nvPr/>
        </p:nvSpPr>
        <p:spPr>
          <a:xfrm>
            <a:off x="9591675" y="3552825"/>
            <a:ext cx="17716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Sistemas externos</a:t>
            </a:r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686D301B-B98E-4C58-8DB8-3501A2FBECD3}"/>
              </a:ext>
            </a:extLst>
          </p:cNvPr>
          <p:cNvSpPr>
            <a:spLocks noGrp="1"/>
          </p:cNvSpPr>
          <p:nvPr/>
        </p:nvSpPr>
        <p:spPr>
          <a:xfrm>
            <a:off x="9591675" y="3905250"/>
            <a:ext cx="1771650" cy="142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CRM • ERP • notificações</a:t>
            </a:r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F893C08D-4FD4-4DC8-BFE8-53D032AE5BF7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9438165D-52F3-4789-AD90-A997DECFD003}"/>
              </a:ext>
            </a:extLst>
          </p:cNvPr>
          <p:cNvSpPr>
            <a:spLocks noGrp="1"/>
          </p:cNvSpPr>
          <p:nvPr/>
        </p:nvSpPr>
        <p:spPr>
          <a:xfrm>
            <a:off x="6787444" y="3806472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CAE8BC70-5414-4981-9DA7-714E5CFE91A2}"/>
              </a:ext>
            </a:extLst>
          </p:cNvPr>
          <p:cNvSpPr>
            <a:spLocks noGrp="1"/>
          </p:cNvSpPr>
          <p:nvPr/>
        </p:nvSpPr>
        <p:spPr>
          <a:xfrm>
            <a:off x="7002639" y="3726744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B08F51C4-4B38-4F21-B02A-31FECB022FC2}"/>
              </a:ext>
            </a:extLst>
          </p:cNvPr>
          <p:cNvSpPr>
            <a:spLocks noGrp="1"/>
          </p:cNvSpPr>
          <p:nvPr/>
        </p:nvSpPr>
        <p:spPr>
          <a:xfrm>
            <a:off x="7217833" y="3647017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63B13FB3-DB19-48FF-AA0F-EEA153335E7C}"/>
              </a:ext>
            </a:extLst>
          </p:cNvPr>
          <p:cNvSpPr>
            <a:spLocks noGrp="1"/>
          </p:cNvSpPr>
          <p:nvPr/>
        </p:nvSpPr>
        <p:spPr>
          <a:xfrm>
            <a:off x="7433028" y="3567289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5E2535EB-406D-4ACB-B503-69678BA04AA9}"/>
              </a:ext>
            </a:extLst>
          </p:cNvPr>
          <p:cNvSpPr>
            <a:spLocks noGrp="1"/>
          </p:cNvSpPr>
          <p:nvPr/>
        </p:nvSpPr>
        <p:spPr>
          <a:xfrm>
            <a:off x="7648222" y="3487561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D4D2DC0C-5E64-4C13-AC08-A750BB65A0F3}"/>
              </a:ext>
            </a:extLst>
          </p:cNvPr>
          <p:cNvSpPr>
            <a:spLocks noGrp="1"/>
          </p:cNvSpPr>
          <p:nvPr/>
        </p:nvSpPr>
        <p:spPr>
          <a:xfrm>
            <a:off x="7863417" y="3407833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8E8D3A46-8CD5-473F-9D80-B4D0290CDD0C}"/>
              </a:ext>
            </a:extLst>
          </p:cNvPr>
          <p:cNvSpPr>
            <a:spLocks noGrp="1"/>
          </p:cNvSpPr>
          <p:nvPr/>
        </p:nvSpPr>
        <p:spPr>
          <a:xfrm>
            <a:off x="8078611" y="3328106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321B2C1F-1AF4-420F-A137-6E2CBA71CE71}"/>
              </a:ext>
            </a:extLst>
          </p:cNvPr>
          <p:cNvSpPr>
            <a:spLocks noGrp="1"/>
          </p:cNvSpPr>
          <p:nvPr/>
        </p:nvSpPr>
        <p:spPr>
          <a:xfrm>
            <a:off x="8293806" y="3248378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1E271DF2-D086-4F7B-9A39-5FED55D35260}"/>
              </a:ext>
            </a:extLst>
          </p:cNvPr>
          <p:cNvSpPr>
            <a:spLocks noGrp="1"/>
          </p:cNvSpPr>
          <p:nvPr/>
        </p:nvSpPr>
        <p:spPr>
          <a:xfrm>
            <a:off x="8509000" y="3168650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6523147D-FBD0-4BA9-B272-8DA5EB93A8CD}"/>
              </a:ext>
            </a:extLst>
          </p:cNvPr>
          <p:cNvSpPr>
            <a:spLocks noGrp="1"/>
          </p:cNvSpPr>
          <p:nvPr/>
        </p:nvSpPr>
        <p:spPr>
          <a:xfrm>
            <a:off x="8724194" y="3088922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EECB6156-5702-47EC-B28B-D7CAAE06692D}"/>
              </a:ext>
            </a:extLst>
          </p:cNvPr>
          <p:cNvSpPr>
            <a:spLocks noGrp="1"/>
          </p:cNvSpPr>
          <p:nvPr/>
        </p:nvSpPr>
        <p:spPr>
          <a:xfrm>
            <a:off x="8939389" y="3009194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87DE17AE-3C3C-4712-8FFC-56E4B0C219F2}"/>
              </a:ext>
            </a:extLst>
          </p:cNvPr>
          <p:cNvSpPr>
            <a:spLocks noGrp="1"/>
          </p:cNvSpPr>
          <p:nvPr/>
        </p:nvSpPr>
        <p:spPr>
          <a:xfrm>
            <a:off x="9154583" y="2929467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5B4D14B7-79FB-4DDC-A5B8-761D32E7B8AB}"/>
              </a:ext>
            </a:extLst>
          </p:cNvPr>
          <p:cNvSpPr>
            <a:spLocks noGrp="1"/>
          </p:cNvSpPr>
          <p:nvPr/>
        </p:nvSpPr>
        <p:spPr>
          <a:xfrm>
            <a:off x="9369778" y="2849739"/>
            <a:ext cx="126647" cy="5891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93A4E3B2-170B-4666-A267-ABB0548F28BF}"/>
              </a:ext>
            </a:extLst>
          </p:cNvPr>
          <p:cNvSpPr>
            <a:spLocks noGrp="1"/>
          </p:cNvSpPr>
          <p:nvPr/>
        </p:nvSpPr>
        <p:spPr>
          <a:xfrm>
            <a:off x="6572250" y="3886200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0392662A-470A-4980-93EE-44FA51F0FC87}"/>
              </a:ext>
            </a:extLst>
          </p:cNvPr>
          <p:cNvSpPr>
            <a:spLocks noGrp="1"/>
          </p:cNvSpPr>
          <p:nvPr/>
        </p:nvSpPr>
        <p:spPr>
          <a:xfrm>
            <a:off x="6804660" y="3876294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492F6978-1199-4C44-A32D-873E2BC37720}"/>
              </a:ext>
            </a:extLst>
          </p:cNvPr>
          <p:cNvSpPr>
            <a:spLocks noGrp="1"/>
          </p:cNvSpPr>
          <p:nvPr/>
        </p:nvSpPr>
        <p:spPr>
          <a:xfrm>
            <a:off x="7037070" y="3883803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Retângulo 84">
            <a:extLst>
              <a:ext uri="{FF2B5EF4-FFF2-40B4-BE49-F238E27FC236}">
                <a16:creationId xmlns:a16="http://schemas.microsoft.com/office/drawing/2014/main" id="{8207D4DA-D38B-4AA4-A461-9E174E687E96}"/>
              </a:ext>
            </a:extLst>
          </p:cNvPr>
          <p:cNvSpPr>
            <a:spLocks noGrp="1"/>
          </p:cNvSpPr>
          <p:nvPr/>
        </p:nvSpPr>
        <p:spPr>
          <a:xfrm>
            <a:off x="7269480" y="3873897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0BB9008F-1000-40B4-A339-597539B99ED2}"/>
              </a:ext>
            </a:extLst>
          </p:cNvPr>
          <p:cNvSpPr>
            <a:spLocks noGrp="1"/>
          </p:cNvSpPr>
          <p:nvPr/>
        </p:nvSpPr>
        <p:spPr>
          <a:xfrm>
            <a:off x="8431530" y="3806952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7449D7BC-33C2-46DF-B205-DB1701220CE0}"/>
              </a:ext>
            </a:extLst>
          </p:cNvPr>
          <p:cNvSpPr>
            <a:spLocks noGrp="1"/>
          </p:cNvSpPr>
          <p:nvPr/>
        </p:nvSpPr>
        <p:spPr>
          <a:xfrm>
            <a:off x="8663940" y="3797046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6CAE7331-A95C-4C18-9E84-AE1E1E990C02}"/>
              </a:ext>
            </a:extLst>
          </p:cNvPr>
          <p:cNvSpPr>
            <a:spLocks noGrp="1"/>
          </p:cNvSpPr>
          <p:nvPr/>
        </p:nvSpPr>
        <p:spPr>
          <a:xfrm>
            <a:off x="8896350" y="3787140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1482B764-10E0-4D0E-8F12-3DB79B579728}"/>
              </a:ext>
            </a:extLst>
          </p:cNvPr>
          <p:cNvSpPr>
            <a:spLocks noGrp="1"/>
          </p:cNvSpPr>
          <p:nvPr/>
        </p:nvSpPr>
        <p:spPr>
          <a:xfrm>
            <a:off x="9128760" y="3777234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4" name="Retângulo 93">
            <a:extLst>
              <a:ext uri="{FF2B5EF4-FFF2-40B4-BE49-F238E27FC236}">
                <a16:creationId xmlns:a16="http://schemas.microsoft.com/office/drawing/2014/main" id="{C48CC92B-F71F-4793-80F6-038BB8CB05D2}"/>
              </a:ext>
            </a:extLst>
          </p:cNvPr>
          <p:cNvSpPr>
            <a:spLocks noGrp="1"/>
          </p:cNvSpPr>
          <p:nvPr/>
        </p:nvSpPr>
        <p:spPr>
          <a:xfrm>
            <a:off x="9361170" y="3767328"/>
            <a:ext cx="135255" cy="24003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5" name="Retângulo Arredondado 94">
            <a:extLst>
              <a:ext uri="{FF2B5EF4-FFF2-40B4-BE49-F238E27FC236}">
                <a16:creationId xmlns:a16="http://schemas.microsoft.com/office/drawing/2014/main" id="{C7D4C4C6-B57F-4398-AB91-D542B86835CA}"/>
              </a:ext>
            </a:extLst>
          </p:cNvPr>
          <p:cNvSpPr>
            <a:spLocks noGrp="1"/>
          </p:cNvSpPr>
          <p:nvPr/>
        </p:nvSpPr>
        <p:spPr>
          <a:xfrm>
            <a:off x="2095500" y="5095875"/>
            <a:ext cx="9734550" cy="866775"/>
          </a:xfrm>
          <a:prstGeom prst="roundRect">
            <a:avLst>
              <a:gd name="adj" fmla="val 4396"/>
            </a:avLst>
          </a:prstGeom>
          <a:solidFill>
            <a:srgbClr val="F4F8FC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6" name="Retângulo 95">
            <a:extLst>
              <a:ext uri="{FF2B5EF4-FFF2-40B4-BE49-F238E27FC236}">
                <a16:creationId xmlns:a16="http://schemas.microsoft.com/office/drawing/2014/main" id="{D3A87576-F59F-43E4-87E7-AA8C8303951A}"/>
              </a:ext>
            </a:extLst>
          </p:cNvPr>
          <p:cNvSpPr>
            <a:spLocks noGrp="1"/>
          </p:cNvSpPr>
          <p:nvPr/>
        </p:nvSpPr>
        <p:spPr>
          <a:xfrm>
            <a:off x="2305050" y="5219700"/>
            <a:ext cx="1714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2F65B0"/>
                </a:solidFill>
              </a:defRPr>
            </a:pPr>
            <a:r>
              <a:rPr sz="1050" b="1">
                <a:solidFill>
                  <a:srgbClr val="2F65B0"/>
                </a:solidFill>
              </a:rPr>
              <a:t>Serviços transversais</a:t>
            </a:r>
          </a:p>
        </p:txBody>
      </p:sp>
      <p:sp>
        <p:nvSpPr>
          <p:cNvPr id="97" name="Retângulo 96">
            <a:extLst>
              <a:ext uri="{FF2B5EF4-FFF2-40B4-BE49-F238E27FC236}">
                <a16:creationId xmlns:a16="http://schemas.microsoft.com/office/drawing/2014/main" id="{3E41F661-626E-4ED7-BC07-427548F707EA}"/>
              </a:ext>
            </a:extLst>
          </p:cNvPr>
          <p:cNvSpPr>
            <a:spLocks noGrp="1"/>
          </p:cNvSpPr>
          <p:nvPr/>
        </p:nvSpPr>
        <p:spPr>
          <a:xfrm>
            <a:off x="2305050" y="5514975"/>
            <a:ext cx="885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29272A"/>
                </a:solidFill>
              </a:defRPr>
            </a:pPr>
            <a:r>
              <a:rPr sz="1050" b="0">
                <a:solidFill>
                  <a:srgbClr val="29272A"/>
                </a:solidFill>
              </a:rPr>
              <a:t>OCI IAM Identity Domains  •  Vault  •  VCN/NSGs  •  Logging &amp; Monitoring  •  Audit  •  Object Storage  •  Notifications</a:t>
            </a:r>
          </a:p>
        </p:txBody>
      </p:sp>
      <p:sp>
        <p:nvSpPr>
          <p:cNvPr id="98" name="Seta para a Direita 97">
            <a:extLst>
              <a:ext uri="{FF2B5EF4-FFF2-40B4-BE49-F238E27FC236}">
                <a16:creationId xmlns:a16="http://schemas.microsoft.com/office/drawing/2014/main" id="{C722AEA4-D0B0-4A45-9335-97B02360F3A9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9" name="Retângulo 98">
            <a:extLst>
              <a:ext uri="{FF2B5EF4-FFF2-40B4-BE49-F238E27FC236}">
                <a16:creationId xmlns:a16="http://schemas.microsoft.com/office/drawing/2014/main" id="{B50DA9ED-063B-414F-AC90-DCA38D300CA1}"/>
              </a:ext>
            </a:extLst>
          </p:cNvPr>
          <p:cNvSpPr>
            <a:spLocks noGrp="1"/>
          </p:cNvSpPr>
          <p:nvPr/>
        </p:nvSpPr>
        <p:spPr>
          <a:xfrm>
            <a:off x="952500" y="610552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100" name="Retângulo 99">
            <a:extLst>
              <a:ext uri="{FF2B5EF4-FFF2-40B4-BE49-F238E27FC236}">
                <a16:creationId xmlns:a16="http://schemas.microsoft.com/office/drawing/2014/main" id="{34E5CDCB-B15C-4734-9B51-4E06BAB10212}"/>
              </a:ext>
            </a:extLst>
          </p:cNvPr>
          <p:cNvSpPr>
            <a:spLocks noGrp="1"/>
          </p:cNvSpPr>
          <p:nvPr/>
        </p:nvSpPr>
        <p:spPr>
          <a:xfrm>
            <a:off x="457200" y="63722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1" name="Retângulo 100">
            <a:extLst>
              <a:ext uri="{FF2B5EF4-FFF2-40B4-BE49-F238E27FC236}">
                <a16:creationId xmlns:a16="http://schemas.microsoft.com/office/drawing/2014/main" id="{1BB534DF-1A85-400E-8678-9119DCB80384}"/>
              </a:ext>
            </a:extLst>
          </p:cNvPr>
          <p:cNvSpPr>
            <a:spLocks noGrp="1"/>
          </p:cNvSpPr>
          <p:nvPr/>
        </p:nvSpPr>
        <p:spPr>
          <a:xfrm>
            <a:off x="711200" y="63722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2" name="Retângulo 101">
            <a:extLst>
              <a:ext uri="{FF2B5EF4-FFF2-40B4-BE49-F238E27FC236}">
                <a16:creationId xmlns:a16="http://schemas.microsoft.com/office/drawing/2014/main" id="{42512B6A-8C25-4F34-BCB1-1304959C6300}"/>
              </a:ext>
            </a:extLst>
          </p:cNvPr>
          <p:cNvSpPr>
            <a:spLocks noGrp="1"/>
          </p:cNvSpPr>
          <p:nvPr/>
        </p:nvSpPr>
        <p:spPr>
          <a:xfrm>
            <a:off x="952500" y="629602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  <p:sp>
        <p:nvSpPr>
          <p:cNvPr id="103" name="Retângulo 102">
            <a:extLst>
              <a:ext uri="{FF2B5EF4-FFF2-40B4-BE49-F238E27FC236}">
                <a16:creationId xmlns:a16="http://schemas.microsoft.com/office/drawing/2014/main" id="{18FAE5EE-D11E-4634-83F2-E1C613E85BA5}"/>
              </a:ext>
            </a:extLst>
          </p:cNvPr>
          <p:cNvSpPr>
            <a:spLocks noGrp="1"/>
          </p:cNvSpPr>
          <p:nvPr/>
        </p:nvSpPr>
        <p:spPr>
          <a:xfrm>
            <a:off x="3143250" y="6153150"/>
            <a:ext cx="819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EDA: eventos isolam domínios | CQRS: escrita e leitura escalam independentemente</a:t>
            </a:r>
          </a:p>
        </p:txBody>
      </p:sp>
    </p:spTree>
    <p:extLst>
      <p:ext uri="{BB962C8B-B14F-4D97-AF65-F5344CB8AC3E}">
        <p14:creationId xmlns:p14="http://schemas.microsoft.com/office/powerpoint/2010/main" val="1927484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tângulo 84">
            <a:extLst>
              <a:ext uri="{FF2B5EF4-FFF2-40B4-BE49-F238E27FC236}">
                <a16:creationId xmlns:a16="http://schemas.microsoft.com/office/drawing/2014/main" id="{F570C2C2-B286-4EF0-A72E-6300EE130592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>
                <a:solidFill>
                  <a:srgbClr val="29272A"/>
                </a:solidFill>
              </a:rPr>
              <a:t>Arquitetura técnica — fluxo confiável de EDA + CQRS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0F574C26-2D66-4CD2-873C-EC251AACFDD8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Comandos síncronos, publicação transacional e projeções assíncronas com segurança de rede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8BE305E-F08A-4065-8B77-1588894128D1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0190A8C5-D675-4F8F-87AE-245E0DD9F926}"/>
              </a:ext>
            </a:extLst>
          </p:cNvPr>
          <p:cNvSpPr>
            <a:spLocks noGrp="1"/>
          </p:cNvSpPr>
          <p:nvPr/>
        </p:nvSpPr>
        <p:spPr>
          <a:xfrm>
            <a:off x="361950" y="1409700"/>
            <a:ext cx="1447800" cy="447675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4B28DE4-3A53-4AAE-92CB-0FFDE698F71E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181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Sistemas</a:t>
            </a:r>
          </a:p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clientes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9CAE2CB-CFC7-4175-AB39-CA43120ABA87}"/>
              </a:ext>
            </a:extLst>
          </p:cNvPr>
          <p:cNvSpPr>
            <a:spLocks noGrp="1"/>
          </p:cNvSpPr>
          <p:nvPr/>
        </p:nvSpPr>
        <p:spPr>
          <a:xfrm>
            <a:off x="495300" y="1924050"/>
            <a:ext cx="11811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Web • mobile • integrações</a:t>
            </a:r>
          </a:p>
        </p:txBody>
      </p:sp>
      <p:pic>
        <p:nvPicPr>
          <p:cNvPr id="91" name="Imagem 9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775" y="2459971"/>
            <a:ext cx="428625" cy="42358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E0261627-7445-4790-BC81-CC5AF825415F}"/>
              </a:ext>
            </a:extLst>
          </p:cNvPr>
          <p:cNvSpPr>
            <a:spLocks noGrp="1"/>
          </p:cNvSpPr>
          <p:nvPr/>
        </p:nvSpPr>
        <p:spPr>
          <a:xfrm>
            <a:off x="619125" y="3114675"/>
            <a:ext cx="9334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• batch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parceiros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1F596B8C-7ABA-4C04-A2D0-27A4D1F819FC}"/>
              </a:ext>
            </a:extLst>
          </p:cNvPr>
          <p:cNvSpPr>
            <a:spLocks noGrp="1"/>
          </p:cNvSpPr>
          <p:nvPr/>
        </p:nvSpPr>
        <p:spPr>
          <a:xfrm>
            <a:off x="2009775" y="1409700"/>
            <a:ext cx="7905750" cy="4476750"/>
          </a:xfrm>
          <a:prstGeom prst="roundRect">
            <a:avLst>
              <a:gd name="adj" fmla="val 851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312F5744-1308-446D-B70C-A8471F38BFAD}"/>
              </a:ext>
            </a:extLst>
          </p:cNvPr>
          <p:cNvSpPr>
            <a:spLocks noGrp="1"/>
          </p:cNvSpPr>
          <p:nvPr/>
        </p:nvSpPr>
        <p:spPr>
          <a:xfrm>
            <a:off x="2143125" y="1504950"/>
            <a:ext cx="7639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OCI — região ativa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D541E9DA-46A9-4027-A41F-106B1D30015B}"/>
              </a:ext>
            </a:extLst>
          </p:cNvPr>
          <p:cNvSpPr>
            <a:spLocks noGrp="1"/>
          </p:cNvSpPr>
          <p:nvPr/>
        </p:nvSpPr>
        <p:spPr>
          <a:xfrm>
            <a:off x="2143125" y="1733550"/>
            <a:ext cx="7639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Compartment edacqrs-prod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7D96F5C3-14FF-404C-A980-D2926088F9B2}"/>
              </a:ext>
            </a:extLst>
          </p:cNvPr>
          <p:cNvSpPr>
            <a:spLocks noGrp="1"/>
          </p:cNvSpPr>
          <p:nvPr/>
        </p:nvSpPr>
        <p:spPr>
          <a:xfrm>
            <a:off x="2238375" y="1752600"/>
            <a:ext cx="7429500" cy="262890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4E53AFC-3619-48E2-A5CD-562B1EF96A3D}"/>
              </a:ext>
            </a:extLst>
          </p:cNvPr>
          <p:cNvSpPr>
            <a:spLocks noGrp="1"/>
          </p:cNvSpPr>
          <p:nvPr/>
        </p:nvSpPr>
        <p:spPr>
          <a:xfrm>
            <a:off x="2371725" y="1847850"/>
            <a:ext cx="7162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VCN da aplicação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ED02F0CF-091F-43D0-89D5-C67B0529D6F3}"/>
              </a:ext>
            </a:extLst>
          </p:cNvPr>
          <p:cNvSpPr>
            <a:spLocks noGrp="1"/>
          </p:cNvSpPr>
          <p:nvPr/>
        </p:nvSpPr>
        <p:spPr>
          <a:xfrm>
            <a:off x="2371725" y="2076450"/>
            <a:ext cx="7162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Sub-redes privadas • NSGs restritivos • egress controlado</a:t>
            </a:r>
          </a:p>
        </p:txBody>
      </p:sp>
      <p:sp>
        <p:nvSpPr>
          <p:cNvPr id="15" name="Retângulo Arredondado 14">
            <a:extLst>
              <a:ext uri="{FF2B5EF4-FFF2-40B4-BE49-F238E27FC236}">
                <a16:creationId xmlns:a16="http://schemas.microsoft.com/office/drawing/2014/main" id="{084B2E9A-0330-47FE-9108-A70FAD7CE1F0}"/>
              </a:ext>
            </a:extLst>
          </p:cNvPr>
          <p:cNvSpPr>
            <a:spLocks noGrp="1"/>
          </p:cNvSpPr>
          <p:nvPr/>
        </p:nvSpPr>
        <p:spPr>
          <a:xfrm>
            <a:off x="2466975" y="2076450"/>
            <a:ext cx="6972300" cy="1952625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A1A474F-96EE-4D9F-BF54-4F884848D5BA}"/>
              </a:ext>
            </a:extLst>
          </p:cNvPr>
          <p:cNvSpPr>
            <a:spLocks noGrp="1"/>
          </p:cNvSpPr>
          <p:nvPr/>
        </p:nvSpPr>
        <p:spPr>
          <a:xfrm>
            <a:off x="2600325" y="2171700"/>
            <a:ext cx="6705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Sub-rede de aplicação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E9A4BCEA-05DE-4366-96C5-DEF75D38BD29}"/>
              </a:ext>
            </a:extLst>
          </p:cNvPr>
          <p:cNvSpPr>
            <a:spLocks noGrp="1"/>
          </p:cNvSpPr>
          <p:nvPr/>
        </p:nvSpPr>
        <p:spPr>
          <a:xfrm>
            <a:off x="2600325" y="2400300"/>
            <a:ext cx="67056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Serviços internos; nenhuma exposição pública direta</a:t>
            </a:r>
          </a:p>
        </p:txBody>
      </p:sp>
      <p:sp>
        <p:nvSpPr>
          <p:cNvPr id="18" name="Retângulo Arredondado 17">
            <a:extLst>
              <a:ext uri="{FF2B5EF4-FFF2-40B4-BE49-F238E27FC236}">
                <a16:creationId xmlns:a16="http://schemas.microsoft.com/office/drawing/2014/main" id="{D7F64A58-A454-4AD9-ABED-C12BF0CBC581}"/>
              </a:ext>
            </a:extLst>
          </p:cNvPr>
          <p:cNvSpPr>
            <a:spLocks noGrp="1"/>
          </p:cNvSpPr>
          <p:nvPr/>
        </p:nvSpPr>
        <p:spPr>
          <a:xfrm>
            <a:off x="2705100" y="2571750"/>
            <a:ext cx="13906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36C14B3-9E7E-4881-B152-90D0A050C912}"/>
              </a:ext>
            </a:extLst>
          </p:cNvPr>
          <p:cNvSpPr>
            <a:spLocks noGrp="1"/>
          </p:cNvSpPr>
          <p:nvPr/>
        </p:nvSpPr>
        <p:spPr>
          <a:xfrm>
            <a:off x="2705100" y="2571750"/>
            <a:ext cx="13906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1DD80C22-F56B-4CF2-A7EA-B3F3EA3F206C}"/>
              </a:ext>
            </a:extLst>
          </p:cNvPr>
          <p:cNvSpPr>
            <a:spLocks noGrp="1"/>
          </p:cNvSpPr>
          <p:nvPr/>
        </p:nvSpPr>
        <p:spPr>
          <a:xfrm>
            <a:off x="2819400" y="271462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API Gateway</a:t>
            </a: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FD284E38-6431-4B6A-A7C6-56D7B9D67D9C}"/>
              </a:ext>
            </a:extLst>
          </p:cNvPr>
          <p:cNvSpPr>
            <a:spLocks noGrp="1"/>
          </p:cNvSpPr>
          <p:nvPr/>
        </p:nvSpPr>
        <p:spPr>
          <a:xfrm>
            <a:off x="2819400" y="3067050"/>
            <a:ext cx="11620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Private endpoint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JWT / throttling</a:t>
            </a:r>
          </a:p>
        </p:txBody>
      </p:sp>
      <p:sp>
        <p:nvSpPr>
          <p:cNvPr id="22" name="Seta para a Direita 21">
            <a:extLst>
              <a:ext uri="{FF2B5EF4-FFF2-40B4-BE49-F238E27FC236}">
                <a16:creationId xmlns:a16="http://schemas.microsoft.com/office/drawing/2014/main" id="{5781AAB9-F2FB-4B4B-A1B6-BAB038BDED72}"/>
              </a:ext>
            </a:extLst>
          </p:cNvPr>
          <p:cNvSpPr>
            <a:spLocks noGrp="1"/>
          </p:cNvSpPr>
          <p:nvPr/>
        </p:nvSpPr>
        <p:spPr>
          <a:xfrm>
            <a:off x="4105275" y="2990850"/>
            <a:ext cx="352425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E2EDB578-3DE0-46DB-96A2-4887FD507D4F}"/>
              </a:ext>
            </a:extLst>
          </p:cNvPr>
          <p:cNvSpPr>
            <a:spLocks noGrp="1"/>
          </p:cNvSpPr>
          <p:nvPr/>
        </p:nvSpPr>
        <p:spPr>
          <a:xfrm>
            <a:off x="4038600" y="2800350"/>
            <a:ext cx="4857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command</a:t>
            </a:r>
          </a:p>
        </p:txBody>
      </p:sp>
      <p:sp>
        <p:nvSpPr>
          <p:cNvPr id="24" name="Retângulo Arredondado 23">
            <a:extLst>
              <a:ext uri="{FF2B5EF4-FFF2-40B4-BE49-F238E27FC236}">
                <a16:creationId xmlns:a16="http://schemas.microsoft.com/office/drawing/2014/main" id="{F2F7DA20-2A18-4F37-86D8-CA0E333B790E}"/>
              </a:ext>
            </a:extLst>
          </p:cNvPr>
          <p:cNvSpPr>
            <a:spLocks noGrp="1"/>
          </p:cNvSpPr>
          <p:nvPr/>
        </p:nvSpPr>
        <p:spPr>
          <a:xfrm>
            <a:off x="4552950" y="2571750"/>
            <a:ext cx="14287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D857EDD-227D-43D7-BD7A-1EB3F9B0A9BF}"/>
              </a:ext>
            </a:extLst>
          </p:cNvPr>
          <p:cNvSpPr>
            <a:spLocks noGrp="1"/>
          </p:cNvSpPr>
          <p:nvPr/>
        </p:nvSpPr>
        <p:spPr>
          <a:xfrm>
            <a:off x="4552950" y="2571750"/>
            <a:ext cx="14287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AE78C0FD-D45F-4768-B253-96B58ABF54D9}"/>
              </a:ext>
            </a:extLst>
          </p:cNvPr>
          <p:cNvSpPr>
            <a:spLocks noGrp="1"/>
          </p:cNvSpPr>
          <p:nvPr/>
        </p:nvSpPr>
        <p:spPr>
          <a:xfrm>
            <a:off x="4667250" y="2714625"/>
            <a:ext cx="1200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Command API</a:t>
            </a:r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CFD80AFA-D507-4D86-B33E-663295013326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2001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Functions / OKE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validação + outbox</a:t>
            </a:r>
          </a:p>
        </p:txBody>
      </p:sp>
      <p:sp>
        <p:nvSpPr>
          <p:cNvPr id="28" name="Seta para a Direita 27">
            <a:extLst>
              <a:ext uri="{FF2B5EF4-FFF2-40B4-BE49-F238E27FC236}">
                <a16:creationId xmlns:a16="http://schemas.microsoft.com/office/drawing/2014/main" id="{961D30EA-5068-4A6F-A03A-2C69931476A2}"/>
              </a:ext>
            </a:extLst>
          </p:cNvPr>
          <p:cNvSpPr>
            <a:spLocks noGrp="1"/>
          </p:cNvSpPr>
          <p:nvPr/>
        </p:nvSpPr>
        <p:spPr>
          <a:xfrm>
            <a:off x="5991225" y="2990850"/>
            <a:ext cx="3619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F53D0129-A4A4-48F4-8FC7-727E375DE1BC}"/>
              </a:ext>
            </a:extLst>
          </p:cNvPr>
          <p:cNvSpPr>
            <a:spLocks noGrp="1"/>
          </p:cNvSpPr>
          <p:nvPr/>
        </p:nvSpPr>
        <p:spPr>
          <a:xfrm>
            <a:off x="5924550" y="2800350"/>
            <a:ext cx="495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publish</a:t>
            </a:r>
          </a:p>
        </p:txBody>
      </p:sp>
      <p:sp>
        <p:nvSpPr>
          <p:cNvPr id="30" name="Retângulo Arredondado 29">
            <a:extLst>
              <a:ext uri="{FF2B5EF4-FFF2-40B4-BE49-F238E27FC236}">
                <a16:creationId xmlns:a16="http://schemas.microsoft.com/office/drawing/2014/main" id="{8E3D7FAD-B0C4-4A13-9241-8BD271643024}"/>
              </a:ext>
            </a:extLst>
          </p:cNvPr>
          <p:cNvSpPr>
            <a:spLocks noGrp="1"/>
          </p:cNvSpPr>
          <p:nvPr/>
        </p:nvSpPr>
        <p:spPr>
          <a:xfrm>
            <a:off x="6438900" y="2571750"/>
            <a:ext cx="1352550" cy="97155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639003EF-15BF-45FE-B9C3-9B2AA768795D}"/>
              </a:ext>
            </a:extLst>
          </p:cNvPr>
          <p:cNvSpPr>
            <a:spLocks noGrp="1"/>
          </p:cNvSpPr>
          <p:nvPr/>
        </p:nvSpPr>
        <p:spPr>
          <a:xfrm>
            <a:off x="6438900" y="2571750"/>
            <a:ext cx="135255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E9C6B240-FF8C-471F-9BDA-F5865EA39FD6}"/>
              </a:ext>
            </a:extLst>
          </p:cNvPr>
          <p:cNvSpPr>
            <a:spLocks noGrp="1"/>
          </p:cNvSpPr>
          <p:nvPr/>
        </p:nvSpPr>
        <p:spPr>
          <a:xfrm>
            <a:off x="6553200" y="2714625"/>
            <a:ext cx="1123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OCI Streaming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with Apache Kafka</a:t>
            </a:r>
          </a:p>
        </p:txBody>
      </p:sp>
      <p:sp>
        <p:nvSpPr>
          <p:cNvPr id="33" name="Retângulo 32">
            <a:extLst>
              <a:ext uri="{FF2B5EF4-FFF2-40B4-BE49-F238E27FC236}">
                <a16:creationId xmlns:a16="http://schemas.microsoft.com/office/drawing/2014/main" id="{3BCB6C88-A390-4154-B393-24F9E68DBD27}"/>
              </a:ext>
            </a:extLst>
          </p:cNvPr>
          <p:cNvSpPr>
            <a:spLocks noGrp="1"/>
          </p:cNvSpPr>
          <p:nvPr/>
        </p:nvSpPr>
        <p:spPr>
          <a:xfrm>
            <a:off x="6553200" y="3067050"/>
            <a:ext cx="1123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Kafka privado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3+ partitions</a:t>
            </a:r>
          </a:p>
        </p:txBody>
      </p:sp>
      <p:sp>
        <p:nvSpPr>
          <p:cNvPr id="34" name="Seta para a Direita 33">
            <a:extLst>
              <a:ext uri="{FF2B5EF4-FFF2-40B4-BE49-F238E27FC236}">
                <a16:creationId xmlns:a16="http://schemas.microsoft.com/office/drawing/2014/main" id="{1B723636-7414-4BAC-80DB-7047802B9E21}"/>
              </a:ext>
            </a:extLst>
          </p:cNvPr>
          <p:cNvSpPr>
            <a:spLocks noGrp="1"/>
          </p:cNvSpPr>
          <p:nvPr/>
        </p:nvSpPr>
        <p:spPr>
          <a:xfrm>
            <a:off x="7800975" y="2990850"/>
            <a:ext cx="3619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5" name="Retângulo 34">
            <a:extLst>
              <a:ext uri="{FF2B5EF4-FFF2-40B4-BE49-F238E27FC236}">
                <a16:creationId xmlns:a16="http://schemas.microsoft.com/office/drawing/2014/main" id="{B5D7C480-DEEF-4367-804E-666CB0206740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495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consume</a:t>
            </a:r>
          </a:p>
        </p:txBody>
      </p:sp>
      <p:sp>
        <p:nvSpPr>
          <p:cNvPr id="36" name="Retângulo Arredondado 35">
            <a:extLst>
              <a:ext uri="{FF2B5EF4-FFF2-40B4-BE49-F238E27FC236}">
                <a16:creationId xmlns:a16="http://schemas.microsoft.com/office/drawing/2014/main" id="{21CB27D9-42CB-4E3B-B12A-B18807F876E5}"/>
              </a:ext>
            </a:extLst>
          </p:cNvPr>
          <p:cNvSpPr>
            <a:spLocks noGrp="1"/>
          </p:cNvSpPr>
          <p:nvPr/>
        </p:nvSpPr>
        <p:spPr>
          <a:xfrm>
            <a:off x="8248650" y="2571750"/>
            <a:ext cx="952500" cy="971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C59B13A2-CCE6-4BC1-A0D1-F29CEB3E1F7D}"/>
              </a:ext>
            </a:extLst>
          </p:cNvPr>
          <p:cNvSpPr>
            <a:spLocks noGrp="1"/>
          </p:cNvSpPr>
          <p:nvPr/>
        </p:nvSpPr>
        <p:spPr>
          <a:xfrm>
            <a:off x="8248650" y="2571750"/>
            <a:ext cx="9525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5B8530E1-9515-43D0-98E7-287CC816A163}"/>
              </a:ext>
            </a:extLst>
          </p:cNvPr>
          <p:cNvSpPr>
            <a:spLocks noGrp="1"/>
          </p:cNvSpPr>
          <p:nvPr/>
        </p:nvSpPr>
        <p:spPr>
          <a:xfrm>
            <a:off x="8362950" y="2714625"/>
            <a:ext cx="723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Workers</a:t>
            </a:r>
          </a:p>
        </p:txBody>
      </p:sp>
      <p:sp>
        <p:nvSpPr>
          <p:cNvPr id="39" name="Retângulo 38">
            <a:extLst>
              <a:ext uri="{FF2B5EF4-FFF2-40B4-BE49-F238E27FC236}">
                <a16:creationId xmlns:a16="http://schemas.microsoft.com/office/drawing/2014/main" id="{35E4C11A-BF96-4927-93C9-648661412599}"/>
              </a:ext>
            </a:extLst>
          </p:cNvPr>
          <p:cNvSpPr>
            <a:spLocks noGrp="1"/>
          </p:cNvSpPr>
          <p:nvPr/>
        </p:nvSpPr>
        <p:spPr>
          <a:xfrm>
            <a:off x="8362950" y="3067050"/>
            <a:ext cx="7239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projeção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read model</a:t>
            </a:r>
          </a:p>
        </p:txBody>
      </p:sp>
      <p:sp>
        <p:nvSpPr>
          <p:cNvPr id="40" name="Seta para Baixo 39">
            <a:extLst>
              <a:ext uri="{FF2B5EF4-FFF2-40B4-BE49-F238E27FC236}">
                <a16:creationId xmlns:a16="http://schemas.microsoft.com/office/drawing/2014/main" id="{8E61D0F9-337A-4451-8865-54886A039656}"/>
              </a:ext>
            </a:extLst>
          </p:cNvPr>
          <p:cNvSpPr>
            <a:spLocks noGrp="1"/>
          </p:cNvSpPr>
          <p:nvPr/>
        </p:nvSpPr>
        <p:spPr>
          <a:xfrm>
            <a:off x="5191125" y="3543300"/>
            <a:ext cx="123825" cy="504825"/>
          </a:xfrm>
          <a:prstGeom prst="downArrow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D334D9B0-19FA-4F95-8A10-58F9BEFCB2EF}"/>
              </a:ext>
            </a:extLst>
          </p:cNvPr>
          <p:cNvSpPr>
            <a:spLocks noGrp="1"/>
          </p:cNvSpPr>
          <p:nvPr/>
        </p:nvSpPr>
        <p:spPr>
          <a:xfrm>
            <a:off x="5324475" y="3729038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TX</a:t>
            </a:r>
          </a:p>
        </p:txBody>
      </p:sp>
      <p:sp>
        <p:nvSpPr>
          <p:cNvPr id="42" name="Retângulo Arredondado 41">
            <a:extLst>
              <a:ext uri="{FF2B5EF4-FFF2-40B4-BE49-F238E27FC236}">
                <a16:creationId xmlns:a16="http://schemas.microsoft.com/office/drawing/2014/main" id="{A9D44F88-948A-4B0B-B1C6-505078F440E1}"/>
              </a:ext>
            </a:extLst>
          </p:cNvPr>
          <p:cNvSpPr>
            <a:spLocks noGrp="1"/>
          </p:cNvSpPr>
          <p:nvPr/>
        </p:nvSpPr>
        <p:spPr>
          <a:xfrm>
            <a:off x="4552950" y="4305300"/>
            <a:ext cx="1428750" cy="69532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23E65AC6-DE7E-4449-A3C7-6E7C06754EA2}"/>
              </a:ext>
            </a:extLst>
          </p:cNvPr>
          <p:cNvSpPr>
            <a:spLocks noGrp="1"/>
          </p:cNvSpPr>
          <p:nvPr/>
        </p:nvSpPr>
        <p:spPr>
          <a:xfrm>
            <a:off x="4552950" y="4305300"/>
            <a:ext cx="142875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77D38563-3236-4EB5-A64E-79FD4A9E41B6}"/>
              </a:ext>
            </a:extLst>
          </p:cNvPr>
          <p:cNvSpPr>
            <a:spLocks noGrp="1"/>
          </p:cNvSpPr>
          <p:nvPr/>
        </p:nvSpPr>
        <p:spPr>
          <a:xfrm>
            <a:off x="4667250" y="4448175"/>
            <a:ext cx="1200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ADB write model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A48AC1A9-215C-497B-B23D-564B0ECF3AC9}"/>
              </a:ext>
            </a:extLst>
          </p:cNvPr>
          <p:cNvSpPr>
            <a:spLocks noGrp="1"/>
          </p:cNvSpPr>
          <p:nvPr/>
        </p:nvSpPr>
        <p:spPr>
          <a:xfrm>
            <a:off x="4667250" y="4800600"/>
            <a:ext cx="12001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ACID + outbox</a:t>
            </a:r>
          </a:p>
        </p:txBody>
      </p:sp>
      <p:sp>
        <p:nvSpPr>
          <p:cNvPr id="46" name="Seta para Baixo 45">
            <a:extLst>
              <a:ext uri="{FF2B5EF4-FFF2-40B4-BE49-F238E27FC236}">
                <a16:creationId xmlns:a16="http://schemas.microsoft.com/office/drawing/2014/main" id="{37CA8C81-84F4-475F-8E1D-A3DBA98AE28C}"/>
              </a:ext>
            </a:extLst>
          </p:cNvPr>
          <p:cNvSpPr>
            <a:spLocks noGrp="1"/>
          </p:cNvSpPr>
          <p:nvPr/>
        </p:nvSpPr>
        <p:spPr>
          <a:xfrm>
            <a:off x="8667750" y="3543300"/>
            <a:ext cx="123825" cy="504825"/>
          </a:xfrm>
          <a:prstGeom prst="downArrow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995A570A-7A83-44CC-BC05-E59FA18FB03A}"/>
              </a:ext>
            </a:extLst>
          </p:cNvPr>
          <p:cNvSpPr>
            <a:spLocks noGrp="1"/>
          </p:cNvSpPr>
          <p:nvPr/>
        </p:nvSpPr>
        <p:spPr>
          <a:xfrm>
            <a:off x="8801100" y="3729038"/>
            <a:ext cx="685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upsert</a:t>
            </a:r>
          </a:p>
        </p:txBody>
      </p:sp>
      <p:sp>
        <p:nvSpPr>
          <p:cNvPr id="48" name="Retângulo Arredondado 47">
            <a:extLst>
              <a:ext uri="{FF2B5EF4-FFF2-40B4-BE49-F238E27FC236}">
                <a16:creationId xmlns:a16="http://schemas.microsoft.com/office/drawing/2014/main" id="{91269879-89EE-49D1-BAF9-F3CE2015244C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1381125" cy="695325"/>
          </a:xfrm>
          <a:prstGeom prst="roundRect">
            <a:avLst>
              <a:gd name="adj" fmla="val 5479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3AAC73CA-504F-4006-8AAA-61E1CA4AABAD}"/>
              </a:ext>
            </a:extLst>
          </p:cNvPr>
          <p:cNvSpPr>
            <a:spLocks noGrp="1"/>
          </p:cNvSpPr>
          <p:nvPr/>
        </p:nvSpPr>
        <p:spPr>
          <a:xfrm>
            <a:off x="8020050" y="4305300"/>
            <a:ext cx="1381125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85957D84-5230-4677-8E53-B949041C9944}"/>
              </a:ext>
            </a:extLst>
          </p:cNvPr>
          <p:cNvSpPr>
            <a:spLocks noGrp="1"/>
          </p:cNvSpPr>
          <p:nvPr/>
        </p:nvSpPr>
        <p:spPr>
          <a:xfrm>
            <a:off x="8134350" y="4448175"/>
            <a:ext cx="1152525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NoSQL read model</a:t>
            </a:r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1D279D24-AC96-49C0-804F-0342685DBB93}"/>
              </a:ext>
            </a:extLst>
          </p:cNvPr>
          <p:cNvSpPr>
            <a:spLocks noGrp="1"/>
          </p:cNvSpPr>
          <p:nvPr/>
        </p:nvSpPr>
        <p:spPr>
          <a:xfrm>
            <a:off x="8134350" y="4800600"/>
            <a:ext cx="1152525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consulta rápida</a:t>
            </a:r>
          </a:p>
        </p:txBody>
      </p:sp>
      <p:sp>
        <p:nvSpPr>
          <p:cNvPr id="52" name="Retângulo Arredondado 51">
            <a:extLst>
              <a:ext uri="{FF2B5EF4-FFF2-40B4-BE49-F238E27FC236}">
                <a16:creationId xmlns:a16="http://schemas.microsoft.com/office/drawing/2014/main" id="{488343AD-986D-4867-BE44-B68FF2A8F34F}"/>
              </a:ext>
            </a:extLst>
          </p:cNvPr>
          <p:cNvSpPr>
            <a:spLocks noGrp="1"/>
          </p:cNvSpPr>
          <p:nvPr/>
        </p:nvSpPr>
        <p:spPr>
          <a:xfrm>
            <a:off x="2400300" y="5219700"/>
            <a:ext cx="7143750" cy="495300"/>
          </a:xfrm>
          <a:prstGeom prst="roundRect">
            <a:avLst>
              <a:gd name="adj" fmla="val 7692"/>
            </a:avLst>
          </a:prstGeom>
          <a:solidFill>
            <a:srgbClr val="FAF5FC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2E2B36EE-8AB0-4590-A5E7-DBD01C14B6B4}"/>
              </a:ext>
            </a:extLst>
          </p:cNvPr>
          <p:cNvSpPr>
            <a:spLocks noGrp="1"/>
          </p:cNvSpPr>
          <p:nvPr/>
        </p:nvSpPr>
        <p:spPr>
          <a:xfrm>
            <a:off x="2571750" y="5372100"/>
            <a:ext cx="68199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29272A"/>
                </a:solidFill>
              </a:defRPr>
            </a:pPr>
            <a:r>
              <a:rPr sz="975" b="1">
                <a:solidFill>
                  <a:srgbClr val="29272A"/>
                </a:solidFill>
              </a:rPr>
              <a:t>Garantias: at-least-once • idempotency key • consumer offset após sucesso • retry exponencial • DLQ • schema versionado</a:t>
            </a:r>
          </a:p>
        </p:txBody>
      </p:sp>
      <p:sp>
        <p:nvSpPr>
          <p:cNvPr id="54" name="Retângulo Arredondado 53">
            <a:extLst>
              <a:ext uri="{FF2B5EF4-FFF2-40B4-BE49-F238E27FC236}">
                <a16:creationId xmlns:a16="http://schemas.microsoft.com/office/drawing/2014/main" id="{010B6949-DA66-42EF-9B3F-9122830143F4}"/>
              </a:ext>
            </a:extLst>
          </p:cNvPr>
          <p:cNvSpPr>
            <a:spLocks noGrp="1"/>
          </p:cNvSpPr>
          <p:nvPr/>
        </p:nvSpPr>
        <p:spPr>
          <a:xfrm>
            <a:off x="10096500" y="1409700"/>
            <a:ext cx="1714500" cy="20764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653B0324-B045-4BCE-BE21-3B235BB4FC32}"/>
              </a:ext>
            </a:extLst>
          </p:cNvPr>
          <p:cNvSpPr>
            <a:spLocks noGrp="1"/>
          </p:cNvSpPr>
          <p:nvPr/>
        </p:nvSpPr>
        <p:spPr>
          <a:xfrm>
            <a:off x="10229850" y="15049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5B0"/>
                </a:solidFill>
              </a:defRPr>
            </a:pPr>
            <a:r>
              <a:rPr sz="1200" b="1">
                <a:solidFill>
                  <a:srgbClr val="2F65B0"/>
                </a:solidFill>
              </a:rPr>
              <a:t>OCI Control Plane</a:t>
            </a:r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4B45DC6D-B84B-4FD8-9983-BACD97857462}"/>
              </a:ext>
            </a:extLst>
          </p:cNvPr>
          <p:cNvSpPr>
            <a:spLocks noGrp="1"/>
          </p:cNvSpPr>
          <p:nvPr/>
        </p:nvSpPr>
        <p:spPr>
          <a:xfrm>
            <a:off x="10229850" y="17335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Provisionamento e identidade</a:t>
            </a:r>
          </a:p>
        </p:txBody>
      </p:sp>
      <p:sp>
        <p:nvSpPr>
          <p:cNvPr id="57" name="Retângulo Arredondado 56">
            <a:extLst>
              <a:ext uri="{FF2B5EF4-FFF2-40B4-BE49-F238E27FC236}">
                <a16:creationId xmlns:a16="http://schemas.microsoft.com/office/drawing/2014/main" id="{2BE7E7E9-FFF2-4E36-AD3F-E18A8264C065}"/>
              </a:ext>
            </a:extLst>
          </p:cNvPr>
          <p:cNvSpPr>
            <a:spLocks noGrp="1"/>
          </p:cNvSpPr>
          <p:nvPr/>
        </p:nvSpPr>
        <p:spPr>
          <a:xfrm>
            <a:off x="10258425" y="2047875"/>
            <a:ext cx="1390650" cy="80962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8" name="Retângulo 57">
            <a:extLst>
              <a:ext uri="{FF2B5EF4-FFF2-40B4-BE49-F238E27FC236}">
                <a16:creationId xmlns:a16="http://schemas.microsoft.com/office/drawing/2014/main" id="{4D599F39-12FC-4FEF-A307-5F66C2335561}"/>
              </a:ext>
            </a:extLst>
          </p:cNvPr>
          <p:cNvSpPr>
            <a:spLocks noGrp="1"/>
          </p:cNvSpPr>
          <p:nvPr/>
        </p:nvSpPr>
        <p:spPr>
          <a:xfrm>
            <a:off x="10258425" y="2047875"/>
            <a:ext cx="139065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63692397-7382-49C7-949D-3298644349A9}"/>
              </a:ext>
            </a:extLst>
          </p:cNvPr>
          <p:cNvSpPr>
            <a:spLocks noGrp="1"/>
          </p:cNvSpPr>
          <p:nvPr/>
        </p:nvSpPr>
        <p:spPr>
          <a:xfrm>
            <a:off x="10372725" y="2190750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IAM + Vault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1BF7ED00-05EE-4113-BAC3-00A31A1DC79A}"/>
              </a:ext>
            </a:extLst>
          </p:cNvPr>
          <p:cNvSpPr>
            <a:spLocks noGrp="1"/>
          </p:cNvSpPr>
          <p:nvPr/>
        </p:nvSpPr>
        <p:spPr>
          <a:xfrm>
            <a:off x="10372725" y="2543175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principals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secrets + chaves</a:t>
            </a:r>
          </a:p>
        </p:txBody>
      </p:sp>
      <p:sp>
        <p:nvSpPr>
          <p:cNvPr id="61" name="Retângulo Arredondado 60">
            <a:extLst>
              <a:ext uri="{FF2B5EF4-FFF2-40B4-BE49-F238E27FC236}">
                <a16:creationId xmlns:a16="http://schemas.microsoft.com/office/drawing/2014/main" id="{64E1E6DD-55C3-40A7-B2AE-0B321DB45D52}"/>
              </a:ext>
            </a:extLst>
          </p:cNvPr>
          <p:cNvSpPr>
            <a:spLocks noGrp="1"/>
          </p:cNvSpPr>
          <p:nvPr/>
        </p:nvSpPr>
        <p:spPr>
          <a:xfrm>
            <a:off x="10258425" y="3067050"/>
            <a:ext cx="1390650" cy="8001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199C18CD-EE0B-41DD-B3A4-821C9DB5E88A}"/>
              </a:ext>
            </a:extLst>
          </p:cNvPr>
          <p:cNvSpPr>
            <a:spLocks noGrp="1"/>
          </p:cNvSpPr>
          <p:nvPr/>
        </p:nvSpPr>
        <p:spPr>
          <a:xfrm>
            <a:off x="10258425" y="3067050"/>
            <a:ext cx="139065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21092E63-CDE0-4406-B867-981E144D6ED3}"/>
              </a:ext>
            </a:extLst>
          </p:cNvPr>
          <p:cNvSpPr>
            <a:spLocks noGrp="1"/>
          </p:cNvSpPr>
          <p:nvPr/>
        </p:nvSpPr>
        <p:spPr>
          <a:xfrm>
            <a:off x="10372725" y="320992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Terraform / CI-CD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EFE4C44E-49C9-45C3-9AB6-630EC8F87E01}"/>
              </a:ext>
            </a:extLst>
          </p:cNvPr>
          <p:cNvSpPr>
            <a:spLocks noGrp="1"/>
          </p:cNvSpPr>
          <p:nvPr/>
        </p:nvSpPr>
        <p:spPr>
          <a:xfrm>
            <a:off x="10372725" y="3562350"/>
            <a:ext cx="11620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plan • apply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rollback</a:t>
            </a:r>
          </a:p>
        </p:txBody>
      </p:sp>
      <p:sp>
        <p:nvSpPr>
          <p:cNvPr id="65" name="Retângulo Arredondado 64">
            <a:extLst>
              <a:ext uri="{FF2B5EF4-FFF2-40B4-BE49-F238E27FC236}">
                <a16:creationId xmlns:a16="http://schemas.microsoft.com/office/drawing/2014/main" id="{4102C63B-6A40-4076-B951-579C5828AC2A}"/>
              </a:ext>
            </a:extLst>
          </p:cNvPr>
          <p:cNvSpPr>
            <a:spLocks noGrp="1"/>
          </p:cNvSpPr>
          <p:nvPr/>
        </p:nvSpPr>
        <p:spPr>
          <a:xfrm>
            <a:off x="10096500" y="4114800"/>
            <a:ext cx="1714500" cy="177165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AB2C6E18-447A-4484-AA9B-3BA9C7BA8724}"/>
              </a:ext>
            </a:extLst>
          </p:cNvPr>
          <p:cNvSpPr>
            <a:spLocks noGrp="1"/>
          </p:cNvSpPr>
          <p:nvPr/>
        </p:nvSpPr>
        <p:spPr>
          <a:xfrm>
            <a:off x="10229850" y="4210050"/>
            <a:ext cx="1447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4D8155"/>
                </a:solidFill>
              </a:defRPr>
            </a:pPr>
            <a:r>
              <a:rPr sz="1200" b="1">
                <a:solidFill>
                  <a:srgbClr val="4D8155"/>
                </a:solidFill>
              </a:rPr>
              <a:t>Observabilidade</a:t>
            </a:r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3688EFA0-CBB1-4739-A135-1595BAAF9A71}"/>
              </a:ext>
            </a:extLst>
          </p:cNvPr>
          <p:cNvSpPr>
            <a:spLocks noGrp="1"/>
          </p:cNvSpPr>
          <p:nvPr/>
        </p:nvSpPr>
        <p:spPr>
          <a:xfrm>
            <a:off x="10229850" y="4438650"/>
            <a:ext cx="14478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Operação SRE</a:t>
            </a:r>
          </a:p>
        </p:txBody>
      </p:sp>
      <p:sp>
        <p:nvSpPr>
          <p:cNvPr id="68" name="Retângulo Arredondado 67">
            <a:extLst>
              <a:ext uri="{FF2B5EF4-FFF2-40B4-BE49-F238E27FC236}">
                <a16:creationId xmlns:a16="http://schemas.microsoft.com/office/drawing/2014/main" id="{096898B9-FCA1-4E28-812C-9661EA88A15B}"/>
              </a:ext>
            </a:extLst>
          </p:cNvPr>
          <p:cNvSpPr>
            <a:spLocks noGrp="1"/>
          </p:cNvSpPr>
          <p:nvPr/>
        </p:nvSpPr>
        <p:spPr>
          <a:xfrm>
            <a:off x="10258425" y="4648200"/>
            <a:ext cx="1390650" cy="8763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28527AC9-95BD-4A68-B040-DBE7B5ABA528}"/>
              </a:ext>
            </a:extLst>
          </p:cNvPr>
          <p:cNvSpPr>
            <a:spLocks noGrp="1"/>
          </p:cNvSpPr>
          <p:nvPr/>
        </p:nvSpPr>
        <p:spPr>
          <a:xfrm>
            <a:off x="10258425" y="4648200"/>
            <a:ext cx="139065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B4156992-1D13-4B55-8B99-6EFE9CC4B47B}"/>
              </a:ext>
            </a:extLst>
          </p:cNvPr>
          <p:cNvSpPr>
            <a:spLocks noGrp="1"/>
          </p:cNvSpPr>
          <p:nvPr/>
        </p:nvSpPr>
        <p:spPr>
          <a:xfrm>
            <a:off x="10372725" y="4791075"/>
            <a:ext cx="1162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Logging &amp; Monitoring</a:t>
            </a:r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74D149DF-20F2-437B-998C-1AC78C02A7D8}"/>
              </a:ext>
            </a:extLst>
          </p:cNvPr>
          <p:cNvSpPr>
            <a:spLocks noGrp="1"/>
          </p:cNvSpPr>
          <p:nvPr/>
        </p:nvSpPr>
        <p:spPr>
          <a:xfrm>
            <a:off x="10372725" y="5143500"/>
            <a:ext cx="1162050" cy="314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lag • P95 • DLQ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alarmes + tracing</a:t>
            </a:r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225E4709-C045-4D7E-B146-1695EBB6F6A5}"/>
              </a:ext>
            </a:extLst>
          </p:cNvPr>
          <p:cNvSpPr>
            <a:spLocks noGrp="1"/>
          </p:cNvSpPr>
          <p:nvPr/>
        </p:nvSpPr>
        <p:spPr>
          <a:xfrm>
            <a:off x="9525000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8A36F671-8039-4FC8-B75E-2CC1D7A548E3}"/>
              </a:ext>
            </a:extLst>
          </p:cNvPr>
          <p:cNvSpPr>
            <a:spLocks noGrp="1"/>
          </p:cNvSpPr>
          <p:nvPr/>
        </p:nvSpPr>
        <p:spPr>
          <a:xfrm>
            <a:off x="9763125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D14BB685-6D46-40DB-8FA5-0318E381E4D8}"/>
              </a:ext>
            </a:extLst>
          </p:cNvPr>
          <p:cNvSpPr>
            <a:spLocks noGrp="1"/>
          </p:cNvSpPr>
          <p:nvPr/>
        </p:nvSpPr>
        <p:spPr>
          <a:xfrm>
            <a:off x="10001250" y="2514600"/>
            <a:ext cx="138113" cy="19050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B13E7E28-A3CC-4E9E-91E8-E3FCA137E7A1}"/>
              </a:ext>
            </a:extLst>
          </p:cNvPr>
          <p:cNvSpPr>
            <a:spLocks noGrp="1"/>
          </p:cNvSpPr>
          <p:nvPr/>
        </p:nvSpPr>
        <p:spPr>
          <a:xfrm>
            <a:off x="9525000" y="481012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250277D2-32FC-4CE8-AD5C-CD03AD1C6289}"/>
              </a:ext>
            </a:extLst>
          </p:cNvPr>
          <p:cNvSpPr>
            <a:spLocks noGrp="1"/>
          </p:cNvSpPr>
          <p:nvPr/>
        </p:nvSpPr>
        <p:spPr>
          <a:xfrm>
            <a:off x="9763125" y="490537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5B55C95A-D8B5-44C7-AC9B-747F3101678D}"/>
              </a:ext>
            </a:extLst>
          </p:cNvPr>
          <p:cNvSpPr>
            <a:spLocks noGrp="1"/>
          </p:cNvSpPr>
          <p:nvPr/>
        </p:nvSpPr>
        <p:spPr>
          <a:xfrm>
            <a:off x="10001250" y="5000625"/>
            <a:ext cx="138113" cy="6667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061D48CE-3AB1-4A62-8F7E-560C4B11996E}"/>
              </a:ext>
            </a:extLst>
          </p:cNvPr>
          <p:cNvSpPr>
            <a:spLocks noGrp="1"/>
          </p:cNvSpPr>
          <p:nvPr/>
        </p:nvSpPr>
        <p:spPr>
          <a:xfrm>
            <a:off x="5715000" y="5734050"/>
            <a:ext cx="19050" cy="176213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B6CA95BA-5CE3-485A-856A-C0D5B09B678B}"/>
              </a:ext>
            </a:extLst>
          </p:cNvPr>
          <p:cNvSpPr>
            <a:spLocks noGrp="1"/>
          </p:cNvSpPr>
          <p:nvPr/>
        </p:nvSpPr>
        <p:spPr>
          <a:xfrm>
            <a:off x="2381250" y="6191250"/>
            <a:ext cx="7143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1">
                <a:solidFill>
                  <a:srgbClr val="655F5A"/>
                </a:solidFill>
              </a:defRPr>
            </a:pPr>
            <a:r>
              <a:rPr sz="900" b="1">
                <a:solidFill>
                  <a:srgbClr val="655F5A"/>
                </a:solidFill>
              </a:rPr>
              <a:t>Fluxo sólido: dados | Pontilhado: operação, segurança e automação</a:t>
            </a:r>
          </a:p>
        </p:txBody>
      </p:sp>
      <p:sp>
        <p:nvSpPr>
          <p:cNvPr id="80" name="Seta para a Direita 79">
            <a:extLst>
              <a:ext uri="{FF2B5EF4-FFF2-40B4-BE49-F238E27FC236}">
                <a16:creationId xmlns:a16="http://schemas.microsoft.com/office/drawing/2014/main" id="{7AA44684-F9FF-49D0-BB60-B0962897AA00}"/>
              </a:ext>
            </a:extLst>
          </p:cNvPr>
          <p:cNvSpPr>
            <a:spLocks noGrp="1"/>
          </p:cNvSpPr>
          <p:nvPr/>
        </p:nvSpPr>
        <p:spPr>
          <a:xfrm>
            <a:off x="10001250" y="621030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2BF9CE46-53C8-4EAE-9624-9EC39DAEA37C}"/>
              </a:ext>
            </a:extLst>
          </p:cNvPr>
          <p:cNvSpPr>
            <a:spLocks noGrp="1"/>
          </p:cNvSpPr>
          <p:nvPr/>
        </p:nvSpPr>
        <p:spPr>
          <a:xfrm>
            <a:off x="10496550" y="618172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BA089478-FBE5-410C-8451-D1272941D38A}"/>
              </a:ext>
            </a:extLst>
          </p:cNvPr>
          <p:cNvSpPr>
            <a:spLocks noGrp="1"/>
          </p:cNvSpPr>
          <p:nvPr/>
        </p:nvSpPr>
        <p:spPr>
          <a:xfrm>
            <a:off x="10001250" y="64484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136F000C-BDA0-407C-9569-F3ED62C8FD1B}"/>
              </a:ext>
            </a:extLst>
          </p:cNvPr>
          <p:cNvSpPr>
            <a:spLocks noGrp="1"/>
          </p:cNvSpPr>
          <p:nvPr/>
        </p:nvSpPr>
        <p:spPr>
          <a:xfrm>
            <a:off x="10255250" y="644842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678945F0-7747-4759-9079-23D6511FB899}"/>
              </a:ext>
            </a:extLst>
          </p:cNvPr>
          <p:cNvSpPr>
            <a:spLocks noGrp="1"/>
          </p:cNvSpPr>
          <p:nvPr/>
        </p:nvSpPr>
        <p:spPr>
          <a:xfrm>
            <a:off x="10496550" y="637222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</p:spTree>
    <p:extLst>
      <p:ext uri="{BB962C8B-B14F-4D97-AF65-F5344CB8AC3E}">
        <p14:creationId xmlns:p14="http://schemas.microsoft.com/office/powerpoint/2010/main" val="420990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tângulo 93">
            <a:extLst>
              <a:ext uri="{FF2B5EF4-FFF2-40B4-BE49-F238E27FC236}">
                <a16:creationId xmlns:a16="http://schemas.microsoft.com/office/drawing/2014/main" id="{F4723D0A-1D14-410C-980E-A4506ECBACC4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111442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9272A"/>
                </a:solidFill>
              </a:defRPr>
            </a:pPr>
            <a:r>
              <a:rPr sz="2100" b="1">
                <a:solidFill>
                  <a:srgbClr val="29272A"/>
                </a:solidFill>
              </a:rPr>
              <a:t>Fluxo de negócio — pedido omnicanal orientado a eventos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33D117B-4272-4400-A210-C9B289C6DF33}"/>
              </a:ext>
            </a:extLst>
          </p:cNvPr>
          <p:cNvSpPr>
            <a:spLocks noGrp="1"/>
          </p:cNvSpPr>
          <p:nvPr/>
        </p:nvSpPr>
        <p:spPr>
          <a:xfrm>
            <a:off x="476250" y="723900"/>
            <a:ext cx="10858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655F5A"/>
                </a:solidFill>
              </a:defRPr>
            </a:pPr>
            <a:r>
              <a:rPr sz="1125" b="0">
                <a:solidFill>
                  <a:srgbClr val="655F5A"/>
                </a:solidFill>
              </a:rPr>
              <a:t>Cenário fictício: varejista Aurora integra loja, aplicativo, estoque, pagamento e logística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DFA3BB00-21EE-4AD1-8050-792FAC4EFAD7}"/>
              </a:ext>
            </a:extLst>
          </p:cNvPr>
          <p:cNvSpPr>
            <a:spLocks noGrp="1"/>
          </p:cNvSpPr>
          <p:nvPr/>
        </p:nvSpPr>
        <p:spPr>
          <a:xfrm>
            <a:off x="457200" y="1076325"/>
            <a:ext cx="11277600" cy="2857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Retângulo Arredondado 3">
            <a:extLst>
              <a:ext uri="{FF2B5EF4-FFF2-40B4-BE49-F238E27FC236}">
                <a16:creationId xmlns:a16="http://schemas.microsoft.com/office/drawing/2014/main" id="{5EBDA1DA-7730-4D08-992C-FB1FA25E881C}"/>
              </a:ext>
            </a:extLst>
          </p:cNvPr>
          <p:cNvSpPr>
            <a:spLocks noGrp="1"/>
          </p:cNvSpPr>
          <p:nvPr/>
        </p:nvSpPr>
        <p:spPr>
          <a:xfrm>
            <a:off x="361950" y="1409700"/>
            <a:ext cx="1428750" cy="42386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8742D25-A2DA-44FC-82B0-16933123D22B}"/>
              </a:ext>
            </a:extLst>
          </p:cNvPr>
          <p:cNvSpPr>
            <a:spLocks noGrp="1"/>
          </p:cNvSpPr>
          <p:nvPr/>
        </p:nvSpPr>
        <p:spPr>
          <a:xfrm>
            <a:off x="495300" y="15049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Canais de pedido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8B3D23F-D94F-455F-9455-7FE47245C18B}"/>
              </a:ext>
            </a:extLst>
          </p:cNvPr>
          <p:cNvSpPr>
            <a:spLocks noGrp="1"/>
          </p:cNvSpPr>
          <p:nvPr/>
        </p:nvSpPr>
        <p:spPr>
          <a:xfrm>
            <a:off x="495300" y="1733550"/>
            <a:ext cx="11620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Origem do comando</a:t>
            </a:r>
          </a:p>
        </p:txBody>
      </p:sp>
      <p:pic>
        <p:nvPicPr>
          <p:cNvPr id="100" name="Imagem 9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66775" y="1974140"/>
            <a:ext cx="419100" cy="414169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A95A809A-369D-4E8F-AD21-38AFE902F914}"/>
              </a:ext>
            </a:extLst>
          </p:cNvPr>
          <p:cNvSpPr>
            <a:spLocks noGrp="1"/>
          </p:cNvSpPr>
          <p:nvPr/>
        </p:nvSpPr>
        <p:spPr>
          <a:xfrm>
            <a:off x="571500" y="2562225"/>
            <a:ext cx="1009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Loja • App</a:t>
            </a:r>
          </a:p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Marketplace</a:t>
            </a:r>
          </a:p>
        </p:txBody>
      </p:sp>
      <p:sp>
        <p:nvSpPr>
          <p:cNvPr id="9" name="Retângulo Arredondado 8">
            <a:extLst>
              <a:ext uri="{FF2B5EF4-FFF2-40B4-BE49-F238E27FC236}">
                <a16:creationId xmlns:a16="http://schemas.microsoft.com/office/drawing/2014/main" id="{9C052515-460B-4F72-B023-E6BA4B7B2E17}"/>
              </a:ext>
            </a:extLst>
          </p:cNvPr>
          <p:cNvSpPr>
            <a:spLocks noGrp="1"/>
          </p:cNvSpPr>
          <p:nvPr/>
        </p:nvSpPr>
        <p:spPr>
          <a:xfrm>
            <a:off x="2000250" y="1409700"/>
            <a:ext cx="8001000" cy="4238625"/>
          </a:xfrm>
          <a:prstGeom prst="roundRect">
            <a:avLst>
              <a:gd name="adj" fmla="val 899"/>
            </a:avLst>
          </a:prstGeom>
          <a:solidFill>
            <a:srgbClr val="FFFFFF"/>
          </a:solidFill>
          <a:ln w="9525">
            <a:solidFill>
              <a:srgbClr val="17687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4392704-129D-4DCD-8D3B-4D3C73F89800}"/>
              </a:ext>
            </a:extLst>
          </p:cNvPr>
          <p:cNvSpPr>
            <a:spLocks noGrp="1"/>
          </p:cNvSpPr>
          <p:nvPr/>
        </p:nvSpPr>
        <p:spPr>
          <a:xfrm>
            <a:off x="2133600" y="1504950"/>
            <a:ext cx="77343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875"/>
                </a:solidFill>
              </a:defRPr>
            </a:pPr>
            <a:r>
              <a:rPr sz="1200" b="1">
                <a:solidFill>
                  <a:srgbClr val="176875"/>
                </a:solidFill>
              </a:rPr>
              <a:t>Plataforma de pedidos EDA + CQRS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B4036AC-CBBA-4120-92C1-BEFFFC3594AF}"/>
              </a:ext>
            </a:extLst>
          </p:cNvPr>
          <p:cNvSpPr>
            <a:spLocks noGrp="1"/>
          </p:cNvSpPr>
          <p:nvPr/>
        </p:nvSpPr>
        <p:spPr>
          <a:xfrm>
            <a:off x="2133600" y="1733550"/>
            <a:ext cx="77343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Um comando aceita a intenção; eventos coordenam as áreas de negócio</a:t>
            </a:r>
          </a:p>
        </p:txBody>
      </p:sp>
      <p:sp>
        <p:nvSpPr>
          <p:cNvPr id="12" name="Retângulo Arredondado 11">
            <a:extLst>
              <a:ext uri="{FF2B5EF4-FFF2-40B4-BE49-F238E27FC236}">
                <a16:creationId xmlns:a16="http://schemas.microsoft.com/office/drawing/2014/main" id="{2E53C27E-CC7F-4F81-8229-28C1E2DC457B}"/>
              </a:ext>
            </a:extLst>
          </p:cNvPr>
          <p:cNvSpPr>
            <a:spLocks noGrp="1"/>
          </p:cNvSpPr>
          <p:nvPr/>
        </p:nvSpPr>
        <p:spPr>
          <a:xfrm>
            <a:off x="28289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C74634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8B90B378-9411-4C93-8D5B-D99CF50BA925}"/>
              </a:ext>
            </a:extLst>
          </p:cNvPr>
          <p:cNvSpPr>
            <a:spLocks noGrp="1"/>
          </p:cNvSpPr>
          <p:nvPr/>
        </p:nvSpPr>
        <p:spPr>
          <a:xfrm>
            <a:off x="28289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Retângulo Arredondado 13">
            <a:extLst>
              <a:ext uri="{FF2B5EF4-FFF2-40B4-BE49-F238E27FC236}">
                <a16:creationId xmlns:a16="http://schemas.microsoft.com/office/drawing/2014/main" id="{351E8E89-87D7-4D14-B7D1-CC094749E161}"/>
              </a:ext>
            </a:extLst>
          </p:cNvPr>
          <p:cNvSpPr>
            <a:spLocks noGrp="1"/>
          </p:cNvSpPr>
          <p:nvPr/>
        </p:nvSpPr>
        <p:spPr>
          <a:xfrm>
            <a:off x="23241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8F99D00-AB5C-4D74-A17F-75AA1741ED7F}"/>
              </a:ext>
            </a:extLst>
          </p:cNvPr>
          <p:cNvSpPr>
            <a:spLocks noGrp="1"/>
          </p:cNvSpPr>
          <p:nvPr/>
        </p:nvSpPr>
        <p:spPr>
          <a:xfrm>
            <a:off x="2324100" y="2571750"/>
            <a:ext cx="14478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55FC639-15F2-4DEA-9B35-5ED620CF4B4E}"/>
              </a:ext>
            </a:extLst>
          </p:cNvPr>
          <p:cNvSpPr>
            <a:spLocks noGrp="1"/>
          </p:cNvSpPr>
          <p:nvPr/>
        </p:nvSpPr>
        <p:spPr>
          <a:xfrm>
            <a:off x="24384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Criar pedido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C1A637E-2E34-485E-8D4E-D9B34D096F02}"/>
              </a:ext>
            </a:extLst>
          </p:cNvPr>
          <p:cNvSpPr>
            <a:spLocks noGrp="1"/>
          </p:cNvSpPr>
          <p:nvPr/>
        </p:nvSpPr>
        <p:spPr>
          <a:xfrm>
            <a:off x="24384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API Gateway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+ Command API</a:t>
            </a:r>
          </a:p>
        </p:txBody>
      </p:sp>
      <p:sp>
        <p:nvSpPr>
          <p:cNvPr id="18" name="Seta para a Direita 17">
            <a:extLst>
              <a:ext uri="{FF2B5EF4-FFF2-40B4-BE49-F238E27FC236}">
                <a16:creationId xmlns:a16="http://schemas.microsoft.com/office/drawing/2014/main" id="{38D675DE-5F19-473B-AC18-01C26EC335F4}"/>
              </a:ext>
            </a:extLst>
          </p:cNvPr>
          <p:cNvSpPr>
            <a:spLocks noGrp="1"/>
          </p:cNvSpPr>
          <p:nvPr/>
        </p:nvSpPr>
        <p:spPr>
          <a:xfrm>
            <a:off x="377190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Arredondado 18">
            <a:extLst>
              <a:ext uri="{FF2B5EF4-FFF2-40B4-BE49-F238E27FC236}">
                <a16:creationId xmlns:a16="http://schemas.microsoft.com/office/drawing/2014/main" id="{6DE0C344-10B4-4926-A75E-872EFC41827A}"/>
              </a:ext>
            </a:extLst>
          </p:cNvPr>
          <p:cNvSpPr>
            <a:spLocks noGrp="1"/>
          </p:cNvSpPr>
          <p:nvPr/>
        </p:nvSpPr>
        <p:spPr>
          <a:xfrm>
            <a:off x="441007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C74634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557AAEF8-E9C7-4EC1-A850-8A2CF2A4D10F}"/>
              </a:ext>
            </a:extLst>
          </p:cNvPr>
          <p:cNvSpPr>
            <a:spLocks noGrp="1"/>
          </p:cNvSpPr>
          <p:nvPr/>
        </p:nvSpPr>
        <p:spPr>
          <a:xfrm>
            <a:off x="441007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Retângulo Arredondado 20">
            <a:extLst>
              <a:ext uri="{FF2B5EF4-FFF2-40B4-BE49-F238E27FC236}">
                <a16:creationId xmlns:a16="http://schemas.microsoft.com/office/drawing/2014/main" id="{F9FBB340-4D0E-4AEC-8F6B-D6724D68B8D7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7CE5BADE-7385-4FA5-BAB6-72326D6F9129}"/>
              </a:ext>
            </a:extLst>
          </p:cNvPr>
          <p:cNvSpPr>
            <a:spLocks noGrp="1"/>
          </p:cNvSpPr>
          <p:nvPr/>
        </p:nvSpPr>
        <p:spPr>
          <a:xfrm>
            <a:off x="3905250" y="2571750"/>
            <a:ext cx="1447800" cy="47625"/>
          </a:xfrm>
          <a:prstGeom prst="rect">
            <a:avLst/>
          </a:prstGeom>
          <a:solidFill>
            <a:srgbClr val="C74634"/>
          </a:solidFill>
          <a:ln w="0">
            <a:solidFill>
              <a:srgbClr val="C74634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03152896-EDFD-49A4-8DBB-5A64672ABD40}"/>
              </a:ext>
            </a:extLst>
          </p:cNvPr>
          <p:cNvSpPr>
            <a:spLocks noGrp="1"/>
          </p:cNvSpPr>
          <p:nvPr/>
        </p:nvSpPr>
        <p:spPr>
          <a:xfrm>
            <a:off x="401955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Confirmar pedido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96BDF0D6-E18A-444D-8C28-64A4AAE577F1}"/>
              </a:ext>
            </a:extLst>
          </p:cNvPr>
          <p:cNvSpPr>
            <a:spLocks noGrp="1"/>
          </p:cNvSpPr>
          <p:nvPr/>
        </p:nvSpPr>
        <p:spPr>
          <a:xfrm>
            <a:off x="401955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ADB write model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+ outbox</a:t>
            </a:r>
          </a:p>
        </p:txBody>
      </p:sp>
      <p:sp>
        <p:nvSpPr>
          <p:cNvPr id="25" name="Seta para a Direita 24">
            <a:extLst>
              <a:ext uri="{FF2B5EF4-FFF2-40B4-BE49-F238E27FC236}">
                <a16:creationId xmlns:a16="http://schemas.microsoft.com/office/drawing/2014/main" id="{CF7F8F33-3EAA-4CE4-A5FC-E297F707B371}"/>
              </a:ext>
            </a:extLst>
          </p:cNvPr>
          <p:cNvSpPr>
            <a:spLocks noGrp="1"/>
          </p:cNvSpPr>
          <p:nvPr/>
        </p:nvSpPr>
        <p:spPr>
          <a:xfrm>
            <a:off x="535305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Arredondado 25">
            <a:extLst>
              <a:ext uri="{FF2B5EF4-FFF2-40B4-BE49-F238E27FC236}">
                <a16:creationId xmlns:a16="http://schemas.microsoft.com/office/drawing/2014/main" id="{AA490116-4E5E-4EB5-B067-984D20DF7864}"/>
              </a:ext>
            </a:extLst>
          </p:cNvPr>
          <p:cNvSpPr>
            <a:spLocks noGrp="1"/>
          </p:cNvSpPr>
          <p:nvPr/>
        </p:nvSpPr>
        <p:spPr>
          <a:xfrm>
            <a:off x="59912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6E3A8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Retângulo 26">
            <a:extLst>
              <a:ext uri="{FF2B5EF4-FFF2-40B4-BE49-F238E27FC236}">
                <a16:creationId xmlns:a16="http://schemas.microsoft.com/office/drawing/2014/main" id="{4B55E849-744A-4A97-9312-981C3C215B6D}"/>
              </a:ext>
            </a:extLst>
          </p:cNvPr>
          <p:cNvSpPr>
            <a:spLocks noGrp="1"/>
          </p:cNvSpPr>
          <p:nvPr/>
        </p:nvSpPr>
        <p:spPr>
          <a:xfrm>
            <a:off x="59912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tângulo Arredondado 27">
            <a:extLst>
              <a:ext uri="{FF2B5EF4-FFF2-40B4-BE49-F238E27FC236}">
                <a16:creationId xmlns:a16="http://schemas.microsoft.com/office/drawing/2014/main" id="{F9DAB9CA-20C4-4F86-8911-093313AC6EF2}"/>
              </a:ext>
            </a:extLst>
          </p:cNvPr>
          <p:cNvSpPr>
            <a:spLocks noGrp="1"/>
          </p:cNvSpPr>
          <p:nvPr/>
        </p:nvSpPr>
        <p:spPr>
          <a:xfrm>
            <a:off x="54864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9" name="Retângulo 28">
            <a:extLst>
              <a:ext uri="{FF2B5EF4-FFF2-40B4-BE49-F238E27FC236}">
                <a16:creationId xmlns:a16="http://schemas.microsoft.com/office/drawing/2014/main" id="{A3301883-62FC-4133-AA5A-0E19D2CFC5D1}"/>
              </a:ext>
            </a:extLst>
          </p:cNvPr>
          <p:cNvSpPr>
            <a:spLocks noGrp="1"/>
          </p:cNvSpPr>
          <p:nvPr/>
        </p:nvSpPr>
        <p:spPr>
          <a:xfrm>
            <a:off x="5486400" y="2571750"/>
            <a:ext cx="1447800" cy="47625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Retângulo 29">
            <a:extLst>
              <a:ext uri="{FF2B5EF4-FFF2-40B4-BE49-F238E27FC236}">
                <a16:creationId xmlns:a16="http://schemas.microsoft.com/office/drawing/2014/main" id="{2E2D717B-3C66-45D0-A620-D3E7190B2A69}"/>
              </a:ext>
            </a:extLst>
          </p:cNvPr>
          <p:cNvSpPr>
            <a:spLocks noGrp="1"/>
          </p:cNvSpPr>
          <p:nvPr/>
        </p:nvSpPr>
        <p:spPr>
          <a:xfrm>
            <a:off x="56007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Publicar evento</a:t>
            </a:r>
          </a:p>
        </p:txBody>
      </p:sp>
      <p:sp>
        <p:nvSpPr>
          <p:cNvPr id="31" name="Retângulo 30">
            <a:extLst>
              <a:ext uri="{FF2B5EF4-FFF2-40B4-BE49-F238E27FC236}">
                <a16:creationId xmlns:a16="http://schemas.microsoft.com/office/drawing/2014/main" id="{E799CD9F-E7DB-46AB-9E51-84EDC934FC15}"/>
              </a:ext>
            </a:extLst>
          </p:cNvPr>
          <p:cNvSpPr>
            <a:spLocks noGrp="1"/>
          </p:cNvSpPr>
          <p:nvPr/>
        </p:nvSpPr>
        <p:spPr>
          <a:xfrm>
            <a:off x="56007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Kafka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OrderCreated.v1</a:t>
            </a:r>
          </a:p>
        </p:txBody>
      </p:sp>
      <p:sp>
        <p:nvSpPr>
          <p:cNvPr id="32" name="Seta para a Direita 31">
            <a:extLst>
              <a:ext uri="{FF2B5EF4-FFF2-40B4-BE49-F238E27FC236}">
                <a16:creationId xmlns:a16="http://schemas.microsoft.com/office/drawing/2014/main" id="{2DB6E7CF-ABFB-45D9-8D16-F8804CF953D7}"/>
              </a:ext>
            </a:extLst>
          </p:cNvPr>
          <p:cNvSpPr>
            <a:spLocks noGrp="1"/>
          </p:cNvSpPr>
          <p:nvPr/>
        </p:nvSpPr>
        <p:spPr>
          <a:xfrm>
            <a:off x="6934200" y="2990850"/>
            <a:ext cx="133350" cy="123825"/>
          </a:xfrm>
          <a:prstGeom prst="rightArrow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Retângulo Arredondado 32">
            <a:extLst>
              <a:ext uri="{FF2B5EF4-FFF2-40B4-BE49-F238E27FC236}">
                <a16:creationId xmlns:a16="http://schemas.microsoft.com/office/drawing/2014/main" id="{83EFBE71-6CD6-4F36-BA91-C5F7B5A31D8A}"/>
              </a:ext>
            </a:extLst>
          </p:cNvPr>
          <p:cNvSpPr>
            <a:spLocks noGrp="1"/>
          </p:cNvSpPr>
          <p:nvPr/>
        </p:nvSpPr>
        <p:spPr>
          <a:xfrm>
            <a:off x="757237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4D8155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Retângulo 33">
            <a:extLst>
              <a:ext uri="{FF2B5EF4-FFF2-40B4-BE49-F238E27FC236}">
                <a16:creationId xmlns:a16="http://schemas.microsoft.com/office/drawing/2014/main" id="{FDB690A7-5E57-4F5B-8E68-DE0D9DD2BD53}"/>
              </a:ext>
            </a:extLst>
          </p:cNvPr>
          <p:cNvSpPr>
            <a:spLocks noGrp="1"/>
          </p:cNvSpPr>
          <p:nvPr/>
        </p:nvSpPr>
        <p:spPr>
          <a:xfrm>
            <a:off x="757237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5" name="Retângulo Arredondado 34">
            <a:extLst>
              <a:ext uri="{FF2B5EF4-FFF2-40B4-BE49-F238E27FC236}">
                <a16:creationId xmlns:a16="http://schemas.microsoft.com/office/drawing/2014/main" id="{C5AA650C-75F9-40A6-9F89-7595E51E2ED3}"/>
              </a:ext>
            </a:extLst>
          </p:cNvPr>
          <p:cNvSpPr>
            <a:spLocks noGrp="1"/>
          </p:cNvSpPr>
          <p:nvPr/>
        </p:nvSpPr>
        <p:spPr>
          <a:xfrm>
            <a:off x="706755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6" name="Retângulo 35">
            <a:extLst>
              <a:ext uri="{FF2B5EF4-FFF2-40B4-BE49-F238E27FC236}">
                <a16:creationId xmlns:a16="http://schemas.microsoft.com/office/drawing/2014/main" id="{38897398-3B5D-452A-94E1-F2B39BA0C1EC}"/>
              </a:ext>
            </a:extLst>
          </p:cNvPr>
          <p:cNvSpPr>
            <a:spLocks noGrp="1"/>
          </p:cNvSpPr>
          <p:nvPr/>
        </p:nvSpPr>
        <p:spPr>
          <a:xfrm>
            <a:off x="7067550" y="2571750"/>
            <a:ext cx="1447800" cy="47625"/>
          </a:xfrm>
          <a:prstGeom prst="rect">
            <a:avLst/>
          </a:prstGeom>
          <a:solidFill>
            <a:srgbClr val="4D8155"/>
          </a:solidFill>
          <a:ln w="0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Retângulo 36">
            <a:extLst>
              <a:ext uri="{FF2B5EF4-FFF2-40B4-BE49-F238E27FC236}">
                <a16:creationId xmlns:a16="http://schemas.microsoft.com/office/drawing/2014/main" id="{88073695-4AA9-48F3-93F8-33B616B80DE8}"/>
              </a:ext>
            </a:extLst>
          </p:cNvPr>
          <p:cNvSpPr>
            <a:spLocks noGrp="1"/>
          </p:cNvSpPr>
          <p:nvPr/>
        </p:nvSpPr>
        <p:spPr>
          <a:xfrm>
            <a:off x="718185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Processar domínios</a:t>
            </a:r>
          </a:p>
        </p:txBody>
      </p:sp>
      <p:sp>
        <p:nvSpPr>
          <p:cNvPr id="38" name="Retângulo 37">
            <a:extLst>
              <a:ext uri="{FF2B5EF4-FFF2-40B4-BE49-F238E27FC236}">
                <a16:creationId xmlns:a16="http://schemas.microsoft.com/office/drawing/2014/main" id="{10AD9D96-D91E-484E-B7DF-FA1BFE79A3E8}"/>
              </a:ext>
            </a:extLst>
          </p:cNvPr>
          <p:cNvSpPr>
            <a:spLocks noGrp="1"/>
          </p:cNvSpPr>
          <p:nvPr/>
        </p:nvSpPr>
        <p:spPr>
          <a:xfrm>
            <a:off x="718185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Estoque • pagamento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logística</a:t>
            </a:r>
          </a:p>
        </p:txBody>
      </p:sp>
      <p:sp>
        <p:nvSpPr>
          <p:cNvPr id="39" name="Seta para a Direita 38">
            <a:extLst>
              <a:ext uri="{FF2B5EF4-FFF2-40B4-BE49-F238E27FC236}">
                <a16:creationId xmlns:a16="http://schemas.microsoft.com/office/drawing/2014/main" id="{295C7FBA-47D1-4936-AE37-C67A89CA3E7E}"/>
              </a:ext>
            </a:extLst>
          </p:cNvPr>
          <p:cNvSpPr>
            <a:spLocks noGrp="1"/>
          </p:cNvSpPr>
          <p:nvPr/>
        </p:nvSpPr>
        <p:spPr>
          <a:xfrm>
            <a:off x="8515350" y="2990850"/>
            <a:ext cx="1333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0" name="Retângulo Arredondado 39">
            <a:extLst>
              <a:ext uri="{FF2B5EF4-FFF2-40B4-BE49-F238E27FC236}">
                <a16:creationId xmlns:a16="http://schemas.microsoft.com/office/drawing/2014/main" id="{67C99027-E0BA-47E7-AE6D-9B318B8FF08E}"/>
              </a:ext>
            </a:extLst>
          </p:cNvPr>
          <p:cNvSpPr>
            <a:spLocks noGrp="1"/>
          </p:cNvSpPr>
          <p:nvPr/>
        </p:nvSpPr>
        <p:spPr>
          <a:xfrm>
            <a:off x="9153525" y="1866900"/>
            <a:ext cx="438150" cy="438150"/>
          </a:xfrm>
          <a:prstGeom prst="roundRect">
            <a:avLst>
              <a:gd name="adj" fmla="val 8696"/>
            </a:avLst>
          </a:prstGeom>
          <a:solidFill>
            <a:srgbClr val="2F65B0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1" name="Retângulo 40">
            <a:extLst>
              <a:ext uri="{FF2B5EF4-FFF2-40B4-BE49-F238E27FC236}">
                <a16:creationId xmlns:a16="http://schemas.microsoft.com/office/drawing/2014/main" id="{EF759FE0-0CD7-472B-92CA-928F4FF4C4CA}"/>
              </a:ext>
            </a:extLst>
          </p:cNvPr>
          <p:cNvSpPr>
            <a:spLocks noGrp="1"/>
          </p:cNvSpPr>
          <p:nvPr/>
        </p:nvSpPr>
        <p:spPr>
          <a:xfrm>
            <a:off x="9153525" y="1943100"/>
            <a:ext cx="438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2" name="Retângulo Arredondado 41">
            <a:extLst>
              <a:ext uri="{FF2B5EF4-FFF2-40B4-BE49-F238E27FC236}">
                <a16:creationId xmlns:a16="http://schemas.microsoft.com/office/drawing/2014/main" id="{2DD29C2F-4C1F-4939-BD5C-624A47831550}"/>
              </a:ext>
            </a:extLst>
          </p:cNvPr>
          <p:cNvSpPr>
            <a:spLocks noGrp="1"/>
          </p:cNvSpPr>
          <p:nvPr/>
        </p:nvSpPr>
        <p:spPr>
          <a:xfrm>
            <a:off x="8648700" y="2571750"/>
            <a:ext cx="1447800" cy="981075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9525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3" name="Retângulo 42">
            <a:extLst>
              <a:ext uri="{FF2B5EF4-FFF2-40B4-BE49-F238E27FC236}">
                <a16:creationId xmlns:a16="http://schemas.microsoft.com/office/drawing/2014/main" id="{4DA4D4DC-EDEC-4313-8A71-2BDE92FCBC73}"/>
              </a:ext>
            </a:extLst>
          </p:cNvPr>
          <p:cNvSpPr>
            <a:spLocks noGrp="1"/>
          </p:cNvSpPr>
          <p:nvPr/>
        </p:nvSpPr>
        <p:spPr>
          <a:xfrm>
            <a:off x="8648700" y="2571750"/>
            <a:ext cx="1447800" cy="47625"/>
          </a:xfrm>
          <a:prstGeom prst="rect">
            <a:avLst/>
          </a:prstGeom>
          <a:solidFill>
            <a:srgbClr val="2F65B0"/>
          </a:solidFill>
          <a:ln w="0">
            <a:solidFill>
              <a:srgbClr val="2F65B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4" name="Retângulo 43">
            <a:extLst>
              <a:ext uri="{FF2B5EF4-FFF2-40B4-BE49-F238E27FC236}">
                <a16:creationId xmlns:a16="http://schemas.microsoft.com/office/drawing/2014/main" id="{4DE99C69-1BC0-4985-B06D-646D90BDC6D5}"/>
              </a:ext>
            </a:extLst>
          </p:cNvPr>
          <p:cNvSpPr>
            <a:spLocks noGrp="1"/>
          </p:cNvSpPr>
          <p:nvPr/>
        </p:nvSpPr>
        <p:spPr>
          <a:xfrm>
            <a:off x="8763000" y="2714625"/>
            <a:ext cx="1219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Consultar status</a:t>
            </a:r>
          </a:p>
        </p:txBody>
      </p:sp>
      <p:sp>
        <p:nvSpPr>
          <p:cNvPr id="45" name="Retângulo 44">
            <a:extLst>
              <a:ext uri="{FF2B5EF4-FFF2-40B4-BE49-F238E27FC236}">
                <a16:creationId xmlns:a16="http://schemas.microsoft.com/office/drawing/2014/main" id="{DE122B6E-6A1C-4263-9F9F-56AF90CDDC4B}"/>
              </a:ext>
            </a:extLst>
          </p:cNvPr>
          <p:cNvSpPr>
            <a:spLocks noGrp="1"/>
          </p:cNvSpPr>
          <p:nvPr/>
        </p:nvSpPr>
        <p:spPr>
          <a:xfrm>
            <a:off x="8763000" y="3067050"/>
            <a:ext cx="1219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NoSQL read model</a:t>
            </a:r>
          </a:p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GET /orders</a:t>
            </a:r>
          </a:p>
        </p:txBody>
      </p:sp>
      <p:sp>
        <p:nvSpPr>
          <p:cNvPr id="46" name="Seta para a Direita 45">
            <a:extLst>
              <a:ext uri="{FF2B5EF4-FFF2-40B4-BE49-F238E27FC236}">
                <a16:creationId xmlns:a16="http://schemas.microsoft.com/office/drawing/2014/main" id="{BFDC0B06-7A2D-4E0C-9EBB-7F5780BCFE38}"/>
              </a:ext>
            </a:extLst>
          </p:cNvPr>
          <p:cNvSpPr>
            <a:spLocks noGrp="1"/>
          </p:cNvSpPr>
          <p:nvPr/>
        </p:nvSpPr>
        <p:spPr>
          <a:xfrm>
            <a:off x="1790700" y="2990850"/>
            <a:ext cx="49530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7" name="Retângulo 46">
            <a:extLst>
              <a:ext uri="{FF2B5EF4-FFF2-40B4-BE49-F238E27FC236}">
                <a16:creationId xmlns:a16="http://schemas.microsoft.com/office/drawing/2014/main" id="{F2DBC38C-6BBF-4DFB-BE1F-E79121DB22A0}"/>
              </a:ext>
            </a:extLst>
          </p:cNvPr>
          <p:cNvSpPr>
            <a:spLocks noGrp="1"/>
          </p:cNvSpPr>
          <p:nvPr/>
        </p:nvSpPr>
        <p:spPr>
          <a:xfrm>
            <a:off x="1724025" y="2800350"/>
            <a:ext cx="6286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POST /orders</a:t>
            </a:r>
          </a:p>
        </p:txBody>
      </p:sp>
      <p:sp>
        <p:nvSpPr>
          <p:cNvPr id="48" name="Retângulo 47">
            <a:extLst>
              <a:ext uri="{FF2B5EF4-FFF2-40B4-BE49-F238E27FC236}">
                <a16:creationId xmlns:a16="http://schemas.microsoft.com/office/drawing/2014/main" id="{302BECE9-44D0-40CE-A49F-B2E3780B97CD}"/>
              </a:ext>
            </a:extLst>
          </p:cNvPr>
          <p:cNvSpPr>
            <a:spLocks noGrp="1"/>
          </p:cNvSpPr>
          <p:nvPr/>
        </p:nvSpPr>
        <p:spPr>
          <a:xfrm>
            <a:off x="6191250" y="2324100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9" name="Retângulo 48">
            <a:extLst>
              <a:ext uri="{FF2B5EF4-FFF2-40B4-BE49-F238E27FC236}">
                <a16:creationId xmlns:a16="http://schemas.microsoft.com/office/drawing/2014/main" id="{EEF06DA1-501E-4F04-9DE2-D591CE4B973F}"/>
              </a:ext>
            </a:extLst>
          </p:cNvPr>
          <p:cNvSpPr>
            <a:spLocks noGrp="1"/>
          </p:cNvSpPr>
          <p:nvPr/>
        </p:nvSpPr>
        <p:spPr>
          <a:xfrm>
            <a:off x="6191250" y="2560544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0" name="Retângulo 49">
            <a:extLst>
              <a:ext uri="{FF2B5EF4-FFF2-40B4-BE49-F238E27FC236}">
                <a16:creationId xmlns:a16="http://schemas.microsoft.com/office/drawing/2014/main" id="{F836157B-1620-40F5-A34F-AA11C3DD72EB}"/>
              </a:ext>
            </a:extLst>
          </p:cNvPr>
          <p:cNvSpPr>
            <a:spLocks noGrp="1"/>
          </p:cNvSpPr>
          <p:nvPr/>
        </p:nvSpPr>
        <p:spPr>
          <a:xfrm>
            <a:off x="6191250" y="2796988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1" name="Retângulo 50">
            <a:extLst>
              <a:ext uri="{FF2B5EF4-FFF2-40B4-BE49-F238E27FC236}">
                <a16:creationId xmlns:a16="http://schemas.microsoft.com/office/drawing/2014/main" id="{0A07FB92-DFBD-4046-9476-45220F591FE9}"/>
              </a:ext>
            </a:extLst>
          </p:cNvPr>
          <p:cNvSpPr>
            <a:spLocks noGrp="1"/>
          </p:cNvSpPr>
          <p:nvPr/>
        </p:nvSpPr>
        <p:spPr>
          <a:xfrm>
            <a:off x="6191250" y="3033432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2" name="Retângulo 51">
            <a:extLst>
              <a:ext uri="{FF2B5EF4-FFF2-40B4-BE49-F238E27FC236}">
                <a16:creationId xmlns:a16="http://schemas.microsoft.com/office/drawing/2014/main" id="{76EECE7D-93AD-4993-93C7-33087C632D02}"/>
              </a:ext>
            </a:extLst>
          </p:cNvPr>
          <p:cNvSpPr>
            <a:spLocks noGrp="1"/>
          </p:cNvSpPr>
          <p:nvPr/>
        </p:nvSpPr>
        <p:spPr>
          <a:xfrm>
            <a:off x="6191250" y="3269876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3" name="Retângulo 52">
            <a:extLst>
              <a:ext uri="{FF2B5EF4-FFF2-40B4-BE49-F238E27FC236}">
                <a16:creationId xmlns:a16="http://schemas.microsoft.com/office/drawing/2014/main" id="{A50B603A-7C84-4A55-950E-8B86D75F30B6}"/>
              </a:ext>
            </a:extLst>
          </p:cNvPr>
          <p:cNvSpPr>
            <a:spLocks noGrp="1"/>
          </p:cNvSpPr>
          <p:nvPr/>
        </p:nvSpPr>
        <p:spPr>
          <a:xfrm>
            <a:off x="6191250" y="3506321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4" name="Retângulo 53">
            <a:extLst>
              <a:ext uri="{FF2B5EF4-FFF2-40B4-BE49-F238E27FC236}">
                <a16:creationId xmlns:a16="http://schemas.microsoft.com/office/drawing/2014/main" id="{89A5B9C3-5649-4E30-9BCB-A7657905B84E}"/>
              </a:ext>
            </a:extLst>
          </p:cNvPr>
          <p:cNvSpPr>
            <a:spLocks noGrp="1"/>
          </p:cNvSpPr>
          <p:nvPr/>
        </p:nvSpPr>
        <p:spPr>
          <a:xfrm>
            <a:off x="6191250" y="3742765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5" name="Retângulo 54">
            <a:extLst>
              <a:ext uri="{FF2B5EF4-FFF2-40B4-BE49-F238E27FC236}">
                <a16:creationId xmlns:a16="http://schemas.microsoft.com/office/drawing/2014/main" id="{0F169C95-3F53-453A-8E89-50ED2D974FC6}"/>
              </a:ext>
            </a:extLst>
          </p:cNvPr>
          <p:cNvSpPr>
            <a:spLocks noGrp="1"/>
          </p:cNvSpPr>
          <p:nvPr/>
        </p:nvSpPr>
        <p:spPr>
          <a:xfrm>
            <a:off x="6191250" y="3979209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6" name="Retângulo 55">
            <a:extLst>
              <a:ext uri="{FF2B5EF4-FFF2-40B4-BE49-F238E27FC236}">
                <a16:creationId xmlns:a16="http://schemas.microsoft.com/office/drawing/2014/main" id="{BAF77924-16F9-4B8F-9571-C0F4023826ED}"/>
              </a:ext>
            </a:extLst>
          </p:cNvPr>
          <p:cNvSpPr>
            <a:spLocks noGrp="1"/>
          </p:cNvSpPr>
          <p:nvPr/>
        </p:nvSpPr>
        <p:spPr>
          <a:xfrm>
            <a:off x="6191250" y="4215653"/>
            <a:ext cx="19050" cy="137272"/>
          </a:xfrm>
          <a:prstGeom prst="rect">
            <a:avLst/>
          </a:prstGeom>
          <a:solidFill>
            <a:srgbClr val="6E3A8F"/>
          </a:solidFill>
          <a:ln w="0">
            <a:solidFill>
              <a:srgbClr val="6E3A8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7" name="Retângulo 56">
            <a:extLst>
              <a:ext uri="{FF2B5EF4-FFF2-40B4-BE49-F238E27FC236}">
                <a16:creationId xmlns:a16="http://schemas.microsoft.com/office/drawing/2014/main" id="{53C61B8B-E763-4281-A752-50EF11958EFE}"/>
              </a:ext>
            </a:extLst>
          </p:cNvPr>
          <p:cNvSpPr>
            <a:spLocks noGrp="1"/>
          </p:cNvSpPr>
          <p:nvPr/>
        </p:nvSpPr>
        <p:spPr>
          <a:xfrm>
            <a:off x="6305550" y="3743325"/>
            <a:ext cx="138112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1">
                <a:solidFill>
                  <a:srgbClr val="6E3A8F"/>
                </a:solidFill>
              </a:defRPr>
            </a:pPr>
            <a:r>
              <a:rPr sz="750" b="1">
                <a:solidFill>
                  <a:srgbClr val="6E3A8F"/>
                </a:solidFill>
              </a:rPr>
              <a:t>fan-out assíncrono</a:t>
            </a:r>
          </a:p>
        </p:txBody>
      </p:sp>
      <p:sp>
        <p:nvSpPr>
          <p:cNvPr id="58" name="Retângulo Arredondado 57">
            <a:extLst>
              <a:ext uri="{FF2B5EF4-FFF2-40B4-BE49-F238E27FC236}">
                <a16:creationId xmlns:a16="http://schemas.microsoft.com/office/drawing/2014/main" id="{DBF07FB9-999D-4687-BED8-ADD1A275B88B}"/>
              </a:ext>
            </a:extLst>
          </p:cNvPr>
          <p:cNvSpPr>
            <a:spLocks noGrp="1"/>
          </p:cNvSpPr>
          <p:nvPr/>
        </p:nvSpPr>
        <p:spPr>
          <a:xfrm>
            <a:off x="10191750" y="1409700"/>
            <a:ext cx="1619250" cy="2190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9" name="Retângulo 58">
            <a:extLst>
              <a:ext uri="{FF2B5EF4-FFF2-40B4-BE49-F238E27FC236}">
                <a16:creationId xmlns:a16="http://schemas.microsoft.com/office/drawing/2014/main" id="{6F0B69D7-CC8A-4723-8CF1-5A40CD0FCD2A}"/>
              </a:ext>
            </a:extLst>
          </p:cNvPr>
          <p:cNvSpPr>
            <a:spLocks noGrp="1"/>
          </p:cNvSpPr>
          <p:nvPr/>
        </p:nvSpPr>
        <p:spPr>
          <a:xfrm>
            <a:off x="10325100" y="1504950"/>
            <a:ext cx="1352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BC5A25"/>
                </a:solidFill>
              </a:defRPr>
            </a:pPr>
            <a:r>
              <a:rPr sz="1200" b="1">
                <a:solidFill>
                  <a:srgbClr val="BC5A25"/>
                </a:solidFill>
              </a:rPr>
              <a:t>Ecossistema</a:t>
            </a:r>
          </a:p>
        </p:txBody>
      </p:sp>
      <p:sp>
        <p:nvSpPr>
          <p:cNvPr id="60" name="Retângulo 59">
            <a:extLst>
              <a:ext uri="{FF2B5EF4-FFF2-40B4-BE49-F238E27FC236}">
                <a16:creationId xmlns:a16="http://schemas.microsoft.com/office/drawing/2014/main" id="{29ABC207-56CD-462A-82CA-20109AAD2F42}"/>
              </a:ext>
            </a:extLst>
          </p:cNvPr>
          <p:cNvSpPr>
            <a:spLocks noGrp="1"/>
          </p:cNvSpPr>
          <p:nvPr/>
        </p:nvSpPr>
        <p:spPr>
          <a:xfrm>
            <a:off x="10325100" y="1733550"/>
            <a:ext cx="1352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Reage aos eventos</a:t>
            </a:r>
          </a:p>
        </p:txBody>
      </p:sp>
      <p:sp>
        <p:nvSpPr>
          <p:cNvPr id="61" name="Retângulo Arredondado 60">
            <a:extLst>
              <a:ext uri="{FF2B5EF4-FFF2-40B4-BE49-F238E27FC236}">
                <a16:creationId xmlns:a16="http://schemas.microsoft.com/office/drawing/2014/main" id="{81EF9734-70C2-4116-A2EC-177A9A2A8ADA}"/>
              </a:ext>
            </a:extLst>
          </p:cNvPr>
          <p:cNvSpPr>
            <a:spLocks noGrp="1"/>
          </p:cNvSpPr>
          <p:nvPr/>
        </p:nvSpPr>
        <p:spPr>
          <a:xfrm>
            <a:off x="10353675" y="2047875"/>
            <a:ext cx="1295400" cy="7810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2" name="Retângulo 61">
            <a:extLst>
              <a:ext uri="{FF2B5EF4-FFF2-40B4-BE49-F238E27FC236}">
                <a16:creationId xmlns:a16="http://schemas.microsoft.com/office/drawing/2014/main" id="{523E428B-361B-42A5-A54E-419B493C46DE}"/>
              </a:ext>
            </a:extLst>
          </p:cNvPr>
          <p:cNvSpPr>
            <a:spLocks noGrp="1"/>
          </p:cNvSpPr>
          <p:nvPr/>
        </p:nvSpPr>
        <p:spPr>
          <a:xfrm>
            <a:off x="10353675" y="2047875"/>
            <a:ext cx="129540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3" name="Retângulo 62">
            <a:extLst>
              <a:ext uri="{FF2B5EF4-FFF2-40B4-BE49-F238E27FC236}">
                <a16:creationId xmlns:a16="http://schemas.microsoft.com/office/drawing/2014/main" id="{FFAD55C3-C4E6-4EB2-9B04-885D947546B5}"/>
              </a:ext>
            </a:extLst>
          </p:cNvPr>
          <p:cNvSpPr>
            <a:spLocks noGrp="1"/>
          </p:cNvSpPr>
          <p:nvPr/>
        </p:nvSpPr>
        <p:spPr>
          <a:xfrm>
            <a:off x="10467975" y="2190750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Notificações</a:t>
            </a:r>
          </a:p>
        </p:txBody>
      </p:sp>
      <p:sp>
        <p:nvSpPr>
          <p:cNvPr id="64" name="Retângulo 63">
            <a:extLst>
              <a:ext uri="{FF2B5EF4-FFF2-40B4-BE49-F238E27FC236}">
                <a16:creationId xmlns:a16="http://schemas.microsoft.com/office/drawing/2014/main" id="{3E4561D5-972C-4A47-84CA-36D0F10994C8}"/>
              </a:ext>
            </a:extLst>
          </p:cNvPr>
          <p:cNvSpPr>
            <a:spLocks noGrp="1"/>
          </p:cNvSpPr>
          <p:nvPr/>
        </p:nvSpPr>
        <p:spPr>
          <a:xfrm>
            <a:off x="10467975" y="2543175"/>
            <a:ext cx="1066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e-mail / push</a:t>
            </a:r>
          </a:p>
        </p:txBody>
      </p:sp>
      <p:sp>
        <p:nvSpPr>
          <p:cNvPr id="65" name="Retângulo Arredondado 64">
            <a:extLst>
              <a:ext uri="{FF2B5EF4-FFF2-40B4-BE49-F238E27FC236}">
                <a16:creationId xmlns:a16="http://schemas.microsoft.com/office/drawing/2014/main" id="{AA57CFAD-3ACE-4FE6-8EF8-E6840F9B41A0}"/>
              </a:ext>
            </a:extLst>
          </p:cNvPr>
          <p:cNvSpPr>
            <a:spLocks noGrp="1"/>
          </p:cNvSpPr>
          <p:nvPr/>
        </p:nvSpPr>
        <p:spPr>
          <a:xfrm>
            <a:off x="10353675" y="3048000"/>
            <a:ext cx="1295400" cy="7810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6" name="Retângulo 65">
            <a:extLst>
              <a:ext uri="{FF2B5EF4-FFF2-40B4-BE49-F238E27FC236}">
                <a16:creationId xmlns:a16="http://schemas.microsoft.com/office/drawing/2014/main" id="{F322EAD4-3034-4176-9A99-EC22F24C9BCB}"/>
              </a:ext>
            </a:extLst>
          </p:cNvPr>
          <p:cNvSpPr>
            <a:spLocks noGrp="1"/>
          </p:cNvSpPr>
          <p:nvPr/>
        </p:nvSpPr>
        <p:spPr>
          <a:xfrm>
            <a:off x="10353675" y="3048000"/>
            <a:ext cx="1295400" cy="47625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7" name="Retângulo 66">
            <a:extLst>
              <a:ext uri="{FF2B5EF4-FFF2-40B4-BE49-F238E27FC236}">
                <a16:creationId xmlns:a16="http://schemas.microsoft.com/office/drawing/2014/main" id="{F220B250-922F-4907-96E3-99BB05554F37}"/>
              </a:ext>
            </a:extLst>
          </p:cNvPr>
          <p:cNvSpPr>
            <a:spLocks noGrp="1"/>
          </p:cNvSpPr>
          <p:nvPr/>
        </p:nvSpPr>
        <p:spPr>
          <a:xfrm>
            <a:off x="10467975" y="3190875"/>
            <a:ext cx="1066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29272A"/>
                </a:solidFill>
              </a:defRPr>
            </a:pPr>
            <a:r>
              <a:rPr sz="1050" b="1">
                <a:solidFill>
                  <a:srgbClr val="29272A"/>
                </a:solidFill>
              </a:rPr>
              <a:t>SaaS / parceiros</a:t>
            </a:r>
          </a:p>
        </p:txBody>
      </p:sp>
      <p:sp>
        <p:nvSpPr>
          <p:cNvPr id="68" name="Retângulo 67">
            <a:extLst>
              <a:ext uri="{FF2B5EF4-FFF2-40B4-BE49-F238E27FC236}">
                <a16:creationId xmlns:a16="http://schemas.microsoft.com/office/drawing/2014/main" id="{F2F8BF07-665C-496F-9478-383C59C552F4}"/>
              </a:ext>
            </a:extLst>
          </p:cNvPr>
          <p:cNvSpPr>
            <a:spLocks noGrp="1"/>
          </p:cNvSpPr>
          <p:nvPr/>
        </p:nvSpPr>
        <p:spPr>
          <a:xfrm>
            <a:off x="10467975" y="3543300"/>
            <a:ext cx="1066800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655F5A"/>
                </a:solidFill>
              </a:defRPr>
            </a:pPr>
            <a:r>
              <a:rPr sz="825" b="0">
                <a:solidFill>
                  <a:srgbClr val="655F5A"/>
                </a:solidFill>
              </a:rPr>
              <a:t>ERP • TMS • CRM</a:t>
            </a:r>
          </a:p>
        </p:txBody>
      </p:sp>
      <p:sp>
        <p:nvSpPr>
          <p:cNvPr id="69" name="Retângulo 68">
            <a:extLst>
              <a:ext uri="{FF2B5EF4-FFF2-40B4-BE49-F238E27FC236}">
                <a16:creationId xmlns:a16="http://schemas.microsoft.com/office/drawing/2014/main" id="{49917D33-B63E-4308-9437-9514CAD1C2E0}"/>
              </a:ext>
            </a:extLst>
          </p:cNvPr>
          <p:cNvSpPr>
            <a:spLocks noGrp="1"/>
          </p:cNvSpPr>
          <p:nvPr/>
        </p:nvSpPr>
        <p:spPr>
          <a:xfrm>
            <a:off x="8515350" y="3057525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Retângulo 69">
            <a:extLst>
              <a:ext uri="{FF2B5EF4-FFF2-40B4-BE49-F238E27FC236}">
                <a16:creationId xmlns:a16="http://schemas.microsoft.com/office/drawing/2014/main" id="{90675A97-1258-4302-861B-2C6110FFC1A6}"/>
              </a:ext>
            </a:extLst>
          </p:cNvPr>
          <p:cNvSpPr>
            <a:spLocks noGrp="1"/>
          </p:cNvSpPr>
          <p:nvPr/>
        </p:nvSpPr>
        <p:spPr>
          <a:xfrm>
            <a:off x="8745141" y="2984897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1" name="Retângulo 70">
            <a:extLst>
              <a:ext uri="{FF2B5EF4-FFF2-40B4-BE49-F238E27FC236}">
                <a16:creationId xmlns:a16="http://schemas.microsoft.com/office/drawing/2014/main" id="{DA90C415-82BA-4944-BCED-68CE9E8982D9}"/>
              </a:ext>
            </a:extLst>
          </p:cNvPr>
          <p:cNvSpPr>
            <a:spLocks noGrp="1"/>
          </p:cNvSpPr>
          <p:nvPr/>
        </p:nvSpPr>
        <p:spPr>
          <a:xfrm>
            <a:off x="8974931" y="2912269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2" name="Retângulo 71">
            <a:extLst>
              <a:ext uri="{FF2B5EF4-FFF2-40B4-BE49-F238E27FC236}">
                <a16:creationId xmlns:a16="http://schemas.microsoft.com/office/drawing/2014/main" id="{B0D6A52C-29AA-4AFC-8CC6-DF81FB10504E}"/>
              </a:ext>
            </a:extLst>
          </p:cNvPr>
          <p:cNvSpPr>
            <a:spLocks noGrp="1"/>
          </p:cNvSpPr>
          <p:nvPr/>
        </p:nvSpPr>
        <p:spPr>
          <a:xfrm>
            <a:off x="9204722" y="2839641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3" name="Retângulo 72">
            <a:extLst>
              <a:ext uri="{FF2B5EF4-FFF2-40B4-BE49-F238E27FC236}">
                <a16:creationId xmlns:a16="http://schemas.microsoft.com/office/drawing/2014/main" id="{545ADACA-2880-4FF2-BF4E-27828F2A1062}"/>
              </a:ext>
            </a:extLst>
          </p:cNvPr>
          <p:cNvSpPr>
            <a:spLocks noGrp="1"/>
          </p:cNvSpPr>
          <p:nvPr/>
        </p:nvSpPr>
        <p:spPr>
          <a:xfrm>
            <a:off x="9434513" y="2767013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4" name="Retângulo 73">
            <a:extLst>
              <a:ext uri="{FF2B5EF4-FFF2-40B4-BE49-F238E27FC236}">
                <a16:creationId xmlns:a16="http://schemas.microsoft.com/office/drawing/2014/main" id="{AB3615C5-BCA0-4A9F-A2C9-20D6DD38E428}"/>
              </a:ext>
            </a:extLst>
          </p:cNvPr>
          <p:cNvSpPr>
            <a:spLocks noGrp="1"/>
          </p:cNvSpPr>
          <p:nvPr/>
        </p:nvSpPr>
        <p:spPr>
          <a:xfrm>
            <a:off x="9664303" y="2694384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5" name="Retângulo 74">
            <a:extLst>
              <a:ext uri="{FF2B5EF4-FFF2-40B4-BE49-F238E27FC236}">
                <a16:creationId xmlns:a16="http://schemas.microsoft.com/office/drawing/2014/main" id="{7F94B141-5635-4748-8F0F-FB7C7235B024}"/>
              </a:ext>
            </a:extLst>
          </p:cNvPr>
          <p:cNvSpPr>
            <a:spLocks noGrp="1"/>
          </p:cNvSpPr>
          <p:nvPr/>
        </p:nvSpPr>
        <p:spPr>
          <a:xfrm>
            <a:off x="9894094" y="2621756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6" name="Retângulo 75">
            <a:extLst>
              <a:ext uri="{FF2B5EF4-FFF2-40B4-BE49-F238E27FC236}">
                <a16:creationId xmlns:a16="http://schemas.microsoft.com/office/drawing/2014/main" id="{3A7FBE7F-22B5-4427-9ED4-CAFF6573552F}"/>
              </a:ext>
            </a:extLst>
          </p:cNvPr>
          <p:cNvSpPr>
            <a:spLocks noGrp="1"/>
          </p:cNvSpPr>
          <p:nvPr/>
        </p:nvSpPr>
        <p:spPr>
          <a:xfrm>
            <a:off x="10123884" y="2549128"/>
            <a:ext cx="133945" cy="55364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7" name="Retângulo 76">
            <a:extLst>
              <a:ext uri="{FF2B5EF4-FFF2-40B4-BE49-F238E27FC236}">
                <a16:creationId xmlns:a16="http://schemas.microsoft.com/office/drawing/2014/main" id="{94F6A2F0-53FD-4A58-9CBF-10D1CAFC3DE9}"/>
              </a:ext>
            </a:extLst>
          </p:cNvPr>
          <p:cNvSpPr>
            <a:spLocks noGrp="1"/>
          </p:cNvSpPr>
          <p:nvPr/>
        </p:nvSpPr>
        <p:spPr>
          <a:xfrm>
            <a:off x="8515350" y="3267075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8" name="Retângulo 77">
            <a:extLst>
              <a:ext uri="{FF2B5EF4-FFF2-40B4-BE49-F238E27FC236}">
                <a16:creationId xmlns:a16="http://schemas.microsoft.com/office/drawing/2014/main" id="{E7BCBE8D-896E-4342-BE57-FF322F942941}"/>
              </a:ext>
            </a:extLst>
          </p:cNvPr>
          <p:cNvSpPr>
            <a:spLocks noGrp="1"/>
          </p:cNvSpPr>
          <p:nvPr/>
        </p:nvSpPr>
        <p:spPr>
          <a:xfrm>
            <a:off x="8745141" y="3293269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9" name="Retângulo 78">
            <a:extLst>
              <a:ext uri="{FF2B5EF4-FFF2-40B4-BE49-F238E27FC236}">
                <a16:creationId xmlns:a16="http://schemas.microsoft.com/office/drawing/2014/main" id="{B778378D-F35C-4E3D-A948-16F0DF17BF57}"/>
              </a:ext>
            </a:extLst>
          </p:cNvPr>
          <p:cNvSpPr>
            <a:spLocks noGrp="1"/>
          </p:cNvSpPr>
          <p:nvPr/>
        </p:nvSpPr>
        <p:spPr>
          <a:xfrm>
            <a:off x="8974931" y="3319463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0" name="Retângulo 79">
            <a:extLst>
              <a:ext uri="{FF2B5EF4-FFF2-40B4-BE49-F238E27FC236}">
                <a16:creationId xmlns:a16="http://schemas.microsoft.com/office/drawing/2014/main" id="{94AF1E33-3FFF-4F7E-8F20-E77865588E41}"/>
              </a:ext>
            </a:extLst>
          </p:cNvPr>
          <p:cNvSpPr>
            <a:spLocks noGrp="1"/>
          </p:cNvSpPr>
          <p:nvPr/>
        </p:nvSpPr>
        <p:spPr>
          <a:xfrm>
            <a:off x="9204722" y="3345656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1" name="Retângulo 80">
            <a:extLst>
              <a:ext uri="{FF2B5EF4-FFF2-40B4-BE49-F238E27FC236}">
                <a16:creationId xmlns:a16="http://schemas.microsoft.com/office/drawing/2014/main" id="{2AC342D3-EC67-4842-A2FB-182D0F213D22}"/>
              </a:ext>
            </a:extLst>
          </p:cNvPr>
          <p:cNvSpPr>
            <a:spLocks noGrp="1"/>
          </p:cNvSpPr>
          <p:nvPr/>
        </p:nvSpPr>
        <p:spPr>
          <a:xfrm>
            <a:off x="9434513" y="3371850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2" name="Retângulo 81">
            <a:extLst>
              <a:ext uri="{FF2B5EF4-FFF2-40B4-BE49-F238E27FC236}">
                <a16:creationId xmlns:a16="http://schemas.microsoft.com/office/drawing/2014/main" id="{120AD20A-F9D7-42B3-8BDF-2D0E75691523}"/>
              </a:ext>
            </a:extLst>
          </p:cNvPr>
          <p:cNvSpPr>
            <a:spLocks noGrp="1"/>
          </p:cNvSpPr>
          <p:nvPr/>
        </p:nvSpPr>
        <p:spPr>
          <a:xfrm>
            <a:off x="9664303" y="3398044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3" name="Retângulo 82">
            <a:extLst>
              <a:ext uri="{FF2B5EF4-FFF2-40B4-BE49-F238E27FC236}">
                <a16:creationId xmlns:a16="http://schemas.microsoft.com/office/drawing/2014/main" id="{1AAB86F5-1972-4CC3-8F72-95B2CE3174A1}"/>
              </a:ext>
            </a:extLst>
          </p:cNvPr>
          <p:cNvSpPr>
            <a:spLocks noGrp="1"/>
          </p:cNvSpPr>
          <p:nvPr/>
        </p:nvSpPr>
        <p:spPr>
          <a:xfrm>
            <a:off x="9894094" y="3424238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4" name="Retângulo 83">
            <a:extLst>
              <a:ext uri="{FF2B5EF4-FFF2-40B4-BE49-F238E27FC236}">
                <a16:creationId xmlns:a16="http://schemas.microsoft.com/office/drawing/2014/main" id="{045FA3DC-0817-4D0C-ADA8-599A549AE9CC}"/>
              </a:ext>
            </a:extLst>
          </p:cNvPr>
          <p:cNvSpPr>
            <a:spLocks noGrp="1"/>
          </p:cNvSpPr>
          <p:nvPr/>
        </p:nvSpPr>
        <p:spPr>
          <a:xfrm>
            <a:off x="10123884" y="3450431"/>
            <a:ext cx="133945" cy="32147"/>
          </a:xfrm>
          <a:prstGeom prst="rect">
            <a:avLst/>
          </a:prstGeom>
          <a:solidFill>
            <a:srgbClr val="BC5A25"/>
          </a:solidFill>
          <a:ln w="0">
            <a:solidFill>
              <a:srgbClr val="BC5A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5" name="Retângulo Arredondado 84">
            <a:extLst>
              <a:ext uri="{FF2B5EF4-FFF2-40B4-BE49-F238E27FC236}">
                <a16:creationId xmlns:a16="http://schemas.microsoft.com/office/drawing/2014/main" id="{969D8BED-E039-430E-8512-6F5D8C013FBC}"/>
              </a:ext>
            </a:extLst>
          </p:cNvPr>
          <p:cNvSpPr>
            <a:spLocks noGrp="1"/>
          </p:cNvSpPr>
          <p:nvPr/>
        </p:nvSpPr>
        <p:spPr>
          <a:xfrm>
            <a:off x="2324100" y="4667250"/>
            <a:ext cx="7229475" cy="666750"/>
          </a:xfrm>
          <a:prstGeom prst="roundRect">
            <a:avLst>
              <a:gd name="adj" fmla="val 5714"/>
            </a:avLst>
          </a:prstGeom>
          <a:solidFill>
            <a:srgbClr val="F4FAF4"/>
          </a:solidFill>
          <a:ln w="9525">
            <a:solidFill>
              <a:srgbClr val="4D815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6" name="Retângulo 85">
            <a:extLst>
              <a:ext uri="{FF2B5EF4-FFF2-40B4-BE49-F238E27FC236}">
                <a16:creationId xmlns:a16="http://schemas.microsoft.com/office/drawing/2014/main" id="{F7802E40-82CB-484A-9193-AAB18ADBE211}"/>
              </a:ext>
            </a:extLst>
          </p:cNvPr>
          <p:cNvSpPr>
            <a:spLocks noGrp="1"/>
          </p:cNvSpPr>
          <p:nvPr/>
        </p:nvSpPr>
        <p:spPr>
          <a:xfrm>
            <a:off x="2543175" y="4886325"/>
            <a:ext cx="6781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9272A"/>
                </a:solidFill>
              </a:defRPr>
            </a:pPr>
            <a:r>
              <a:rPr sz="1125" b="1">
                <a:solidFill>
                  <a:srgbClr val="29272A"/>
                </a:solidFill>
              </a:rPr>
              <a:t>Resultado para o cliente: pedido aceito imediatamente; o status evolui de forma eventual e auditável até “entregue”.</a:t>
            </a:r>
          </a:p>
        </p:txBody>
      </p:sp>
      <p:sp>
        <p:nvSpPr>
          <p:cNvPr id="87" name="Retângulo Arredondado 86">
            <a:extLst>
              <a:ext uri="{FF2B5EF4-FFF2-40B4-BE49-F238E27FC236}">
                <a16:creationId xmlns:a16="http://schemas.microsoft.com/office/drawing/2014/main" id="{23F5371B-2994-4955-A9C0-CC17B54FEB20}"/>
              </a:ext>
            </a:extLst>
          </p:cNvPr>
          <p:cNvSpPr>
            <a:spLocks noGrp="1"/>
          </p:cNvSpPr>
          <p:nvPr/>
        </p:nvSpPr>
        <p:spPr>
          <a:xfrm>
            <a:off x="2324100" y="5572125"/>
            <a:ext cx="7229475" cy="3238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5E1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8" name="Retângulo 87">
            <a:extLst>
              <a:ext uri="{FF2B5EF4-FFF2-40B4-BE49-F238E27FC236}">
                <a16:creationId xmlns:a16="http://schemas.microsoft.com/office/drawing/2014/main" id="{57613AB6-87D5-48B9-A308-961221C49CA4}"/>
              </a:ext>
            </a:extLst>
          </p:cNvPr>
          <p:cNvSpPr>
            <a:spLocks noGrp="1"/>
          </p:cNvSpPr>
          <p:nvPr/>
        </p:nvSpPr>
        <p:spPr>
          <a:xfrm>
            <a:off x="2543175" y="5657850"/>
            <a:ext cx="6781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655F5A"/>
                </a:solidFill>
              </a:defRPr>
            </a:pPr>
            <a:r>
              <a:rPr sz="900" b="0">
                <a:solidFill>
                  <a:srgbClr val="655F5A"/>
                </a:solidFill>
              </a:rPr>
              <a:t>Resiliência: cada consumidor pode falhar, reprocessar e escalar sem bloquear o pedido.</a:t>
            </a:r>
          </a:p>
        </p:txBody>
      </p:sp>
      <p:sp>
        <p:nvSpPr>
          <p:cNvPr id="89" name="Seta para a Direita 88">
            <a:extLst>
              <a:ext uri="{FF2B5EF4-FFF2-40B4-BE49-F238E27FC236}">
                <a16:creationId xmlns:a16="http://schemas.microsoft.com/office/drawing/2014/main" id="{707ED83B-1362-4D78-8F0A-88C46876D217}"/>
              </a:ext>
            </a:extLst>
          </p:cNvPr>
          <p:cNvSpPr>
            <a:spLocks noGrp="1"/>
          </p:cNvSpPr>
          <p:nvPr/>
        </p:nvSpPr>
        <p:spPr>
          <a:xfrm>
            <a:off x="438150" y="6191250"/>
            <a:ext cx="400050" cy="123825"/>
          </a:xfrm>
          <a:prstGeom prst="rightArrow">
            <a:avLst/>
          </a:prstGeom>
          <a:solidFill>
            <a:srgbClr val="29272A"/>
          </a:solidFill>
          <a:ln w="0">
            <a:solidFill>
              <a:srgbClr val="2927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0" name="Retângulo 89">
            <a:extLst>
              <a:ext uri="{FF2B5EF4-FFF2-40B4-BE49-F238E27FC236}">
                <a16:creationId xmlns:a16="http://schemas.microsoft.com/office/drawing/2014/main" id="{349E5345-4D76-4A8F-BE33-239932A20300}"/>
              </a:ext>
            </a:extLst>
          </p:cNvPr>
          <p:cNvSpPr>
            <a:spLocks noGrp="1"/>
          </p:cNvSpPr>
          <p:nvPr/>
        </p:nvSpPr>
        <p:spPr>
          <a:xfrm>
            <a:off x="933450" y="6162675"/>
            <a:ext cx="904875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Fluxo síncrono</a:t>
            </a:r>
          </a:p>
        </p:txBody>
      </p:sp>
      <p:sp>
        <p:nvSpPr>
          <p:cNvPr id="91" name="Retângulo 90">
            <a:extLst>
              <a:ext uri="{FF2B5EF4-FFF2-40B4-BE49-F238E27FC236}">
                <a16:creationId xmlns:a16="http://schemas.microsoft.com/office/drawing/2014/main" id="{0000BF96-79D2-416D-B550-48310BA4F4C2}"/>
              </a:ext>
            </a:extLst>
          </p:cNvPr>
          <p:cNvSpPr>
            <a:spLocks noGrp="1"/>
          </p:cNvSpPr>
          <p:nvPr/>
        </p:nvSpPr>
        <p:spPr>
          <a:xfrm>
            <a:off x="43815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2" name="Retângulo 91">
            <a:extLst>
              <a:ext uri="{FF2B5EF4-FFF2-40B4-BE49-F238E27FC236}">
                <a16:creationId xmlns:a16="http://schemas.microsoft.com/office/drawing/2014/main" id="{30B3FF46-BF89-41DD-AFA4-358D69B8B826}"/>
              </a:ext>
            </a:extLst>
          </p:cNvPr>
          <p:cNvSpPr>
            <a:spLocks noGrp="1"/>
          </p:cNvSpPr>
          <p:nvPr/>
        </p:nvSpPr>
        <p:spPr>
          <a:xfrm>
            <a:off x="692150" y="6429375"/>
            <a:ext cx="146050" cy="19050"/>
          </a:xfrm>
          <a:prstGeom prst="rect">
            <a:avLst/>
          </a:prstGeom>
          <a:solidFill>
            <a:srgbClr val="655F5A"/>
          </a:solidFill>
          <a:ln w="0">
            <a:solidFill>
              <a:srgbClr val="655F5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3" name="Retângulo 92">
            <a:extLst>
              <a:ext uri="{FF2B5EF4-FFF2-40B4-BE49-F238E27FC236}">
                <a16:creationId xmlns:a16="http://schemas.microsoft.com/office/drawing/2014/main" id="{C7D26CE1-3D6E-4A29-9256-E1ED3BE9EE79}"/>
              </a:ext>
            </a:extLst>
          </p:cNvPr>
          <p:cNvSpPr>
            <a:spLocks noGrp="1"/>
          </p:cNvSpPr>
          <p:nvPr/>
        </p:nvSpPr>
        <p:spPr>
          <a:xfrm>
            <a:off x="933450" y="6353175"/>
            <a:ext cx="952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655F5A"/>
                </a:solidFill>
              </a:defRPr>
            </a:pPr>
            <a:r>
              <a:rPr sz="750" b="0">
                <a:solidFill>
                  <a:srgbClr val="655F5A"/>
                </a:solidFill>
              </a:rPr>
              <a:t>Evento / controle</a:t>
            </a:r>
          </a:p>
        </p:txBody>
      </p:sp>
    </p:spTree>
    <p:extLst>
      <p:ext uri="{BB962C8B-B14F-4D97-AF65-F5344CB8AC3E}">
        <p14:creationId xmlns:p14="http://schemas.microsoft.com/office/powerpoint/2010/main" val="196036050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25c952f-1947-4719-99e7-7bc5a76060a8}" enabled="1" method="Standard" siteId="{4e2c6054-71cb-48f1-bd6c-3a9705aca71b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517</Words>
  <Application>Microsoft Macintosh PowerPoint</Application>
  <DocSecurity>0</DocSecurity>
  <PresentationFormat>Widescreen</PresentationFormat>
  <Paragraphs>145</Paragraphs>
  <Slides>3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6" baseType="lpstr">
      <vt:lpstr>Aptos</vt:lpstr>
      <vt:lpstr>Calibri</vt:lpstr>
      <vt:lpstr>ChatGPT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Silvio Da Silva</cp:lastModifiedBy>
  <cp:revision>2</cp:revision>
  <dcterms:created xsi:type="dcterms:W3CDTF">2026-07-28T02:10:29Z</dcterms:created>
  <dcterms:modified xsi:type="dcterms:W3CDTF">2026-07-28T02:32:54Z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ChatGPT:5</vt:lpwstr>
  </property>
  <property fmtid="{D5CDD505-2E9C-101B-9397-08002B2CF9AE}" pid="3" name="ClassificationContentMarkingFooterText">
    <vt:lpwstr>Confidential - Oracle Restricted \Employees Only</vt:lpwstr>
  </property>
  <property fmtid="{D5CDD505-2E9C-101B-9397-08002B2CF9AE}" pid="4" name="ClassificationContentMarkingHeaderLocations">
    <vt:lpwstr>ChatGPT:4</vt:lpwstr>
  </property>
  <property fmtid="{D5CDD505-2E9C-101B-9397-08002B2CF9AE}" pid="5" name="ClassificationContentMarkingHeaderText">
    <vt:lpwstr>Confidential - Oracle Restricted \Employees Only</vt:lpwstr>
  </property>
</Properties>
</file>